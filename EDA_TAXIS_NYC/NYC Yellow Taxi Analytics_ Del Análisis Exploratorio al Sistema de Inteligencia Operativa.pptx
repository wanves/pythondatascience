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68768a81903c153b418b3803688971a16164fd9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4180" b="3418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07156" y="0"/>
                </a:moveTo>
                <a:cubicBezTo>
                  <a:pt x="97278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84330" y="35719"/>
                </a:lnTo>
                <a:cubicBezTo>
                  <a:pt x="60889" y="35719"/>
                  <a:pt x="40184" y="50955"/>
                  <a:pt x="33207" y="73335"/>
                </a:cubicBezTo>
                <a:lnTo>
                  <a:pt x="20371" y="114356"/>
                </a:lnTo>
                <a:cubicBezTo>
                  <a:pt x="8093" y="122281"/>
                  <a:pt x="0" y="136122"/>
                  <a:pt x="0" y="151805"/>
                </a:cubicBez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35719" y="267891"/>
                </a:lnTo>
                <a:cubicBezTo>
                  <a:pt x="45597" y="267891"/>
                  <a:pt x="53578" y="259910"/>
                  <a:pt x="53578" y="250031"/>
                </a:cubicBezTo>
                <a:lnTo>
                  <a:pt x="53578" y="232172"/>
                </a:lnTo>
                <a:lnTo>
                  <a:pt x="232172" y="232172"/>
                </a:lnTo>
                <a:lnTo>
                  <a:pt x="232172" y="250031"/>
                </a:lnTo>
                <a:cubicBezTo>
                  <a:pt x="232172" y="259910"/>
                  <a:pt x="240153" y="267891"/>
                  <a:pt x="250031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lnTo>
                  <a:pt x="285750" y="151805"/>
                </a:lnTo>
                <a:cubicBezTo>
                  <a:pt x="285750" y="136122"/>
                  <a:pt x="277657" y="122281"/>
                  <a:pt x="265435" y="114356"/>
                </a:cubicBezTo>
                <a:lnTo>
                  <a:pt x="252599" y="73335"/>
                </a:lnTo>
                <a:cubicBezTo>
                  <a:pt x="245622" y="50955"/>
                  <a:pt x="224861" y="35719"/>
                  <a:pt x="201420" y="35719"/>
                </a:cubicBezTo>
                <a:lnTo>
                  <a:pt x="196453" y="35719"/>
                </a:lnTo>
                <a:lnTo>
                  <a:pt x="196453" y="17859"/>
                </a:lnTo>
                <a:cubicBezTo>
                  <a:pt x="196453" y="7981"/>
                  <a:pt x="188472" y="0"/>
                  <a:pt x="178594" y="0"/>
                </a:cubicBezTo>
                <a:lnTo>
                  <a:pt x="107156" y="0"/>
                </a:lnTo>
                <a:close/>
                <a:moveTo>
                  <a:pt x="84330" y="71438"/>
                </a:moveTo>
                <a:lnTo>
                  <a:pt x="201476" y="71438"/>
                </a:lnTo>
                <a:cubicBezTo>
                  <a:pt x="209290" y="71438"/>
                  <a:pt x="216210" y="76516"/>
                  <a:pt x="218498" y="83995"/>
                </a:cubicBezTo>
                <a:lnTo>
                  <a:pt x="225754" y="107156"/>
                </a:lnTo>
                <a:lnTo>
                  <a:pt x="60052" y="107156"/>
                </a:lnTo>
                <a:lnTo>
                  <a:pt x="67308" y="83995"/>
                </a:lnTo>
                <a:cubicBezTo>
                  <a:pt x="69652" y="76516"/>
                  <a:pt x="76516" y="71438"/>
                  <a:pt x="84330" y="71438"/>
                </a:cubicBezTo>
                <a:close/>
                <a:moveTo>
                  <a:pt x="53578" y="151805"/>
                </a:moveTo>
                <a:cubicBezTo>
                  <a:pt x="63435" y="151805"/>
                  <a:pt x="71438" y="159807"/>
                  <a:pt x="71438" y="169664"/>
                </a:cubicBezTo>
                <a:cubicBezTo>
                  <a:pt x="71438" y="179521"/>
                  <a:pt x="63435" y="187523"/>
                  <a:pt x="53578" y="187523"/>
                </a:cubicBezTo>
                <a:cubicBezTo>
                  <a:pt x="43721" y="187523"/>
                  <a:pt x="35719" y="179521"/>
                  <a:pt x="35719" y="169664"/>
                </a:cubicBezTo>
                <a:cubicBezTo>
                  <a:pt x="35719" y="159807"/>
                  <a:pt x="43721" y="151805"/>
                  <a:pt x="53578" y="151805"/>
                </a:cubicBezTo>
                <a:close/>
                <a:moveTo>
                  <a:pt x="214313" y="169664"/>
                </a:moveTo>
                <a:cubicBezTo>
                  <a:pt x="214313" y="159807"/>
                  <a:pt x="222315" y="151805"/>
                  <a:pt x="232172" y="151805"/>
                </a:cubicBezTo>
                <a:cubicBezTo>
                  <a:pt x="242029" y="151805"/>
                  <a:pt x="250031" y="159807"/>
                  <a:pt x="250031" y="169664"/>
                </a:cubicBezTo>
                <a:cubicBezTo>
                  <a:pt x="250031" y="179521"/>
                  <a:pt x="242029" y="187523"/>
                  <a:pt x="232172" y="187523"/>
                </a:cubicBezTo>
                <a:cubicBezTo>
                  <a:pt x="222315" y="187523"/>
                  <a:pt x="214313" y="179521"/>
                  <a:pt x="214313" y="169664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4762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Proyecto de Ciencia de Datos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4900" y="6667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Diciembre 2024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696700" y="381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6"/>
          <p:cNvSpPr/>
          <p:nvPr/>
        </p:nvSpPr>
        <p:spPr>
          <a:xfrm>
            <a:off x="11112580" y="5715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Versión 1.0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1484471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C8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NYC Yellow Taxi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7C87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306562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2" name="Text 9"/>
          <p:cNvSpPr/>
          <p:nvPr/>
        </p:nvSpPr>
        <p:spPr>
          <a:xfrm>
            <a:off x="381000" y="3256121"/>
            <a:ext cx="11572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 Análisis Exploratorio 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de Inteligencia Operativa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0050" y="4489609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609979" y="0"/>
                </a:lnTo>
                <a:cubicBezTo>
                  <a:pt x="3652061" y="0"/>
                  <a:pt x="3686175" y="34114"/>
                  <a:pt x="3686175" y="76196"/>
                </a:cubicBezTo>
                <a:lnTo>
                  <a:pt x="3686175" y="952504"/>
                </a:lnTo>
                <a:cubicBezTo>
                  <a:pt x="3686175" y="994586"/>
                  <a:pt x="3652061" y="1028700"/>
                  <a:pt x="3609979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00050" y="4489609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642009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Procesados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1500" y="4870609"/>
            <a:ext cx="3476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 Mes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1500" y="517529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Viajes de taxis amarillos NYC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60771" y="4489609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609979" y="0"/>
                </a:lnTo>
                <a:cubicBezTo>
                  <a:pt x="3652061" y="0"/>
                  <a:pt x="3686175" y="34114"/>
                  <a:pt x="3686175" y="76196"/>
                </a:cubicBezTo>
                <a:lnTo>
                  <a:pt x="3686175" y="952504"/>
                </a:lnTo>
                <a:cubicBezTo>
                  <a:pt x="3686175" y="994586"/>
                  <a:pt x="3652061" y="1028700"/>
                  <a:pt x="3609979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60771" y="4489609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0" name="Text 17"/>
          <p:cNvSpPr/>
          <p:nvPr/>
        </p:nvSpPr>
        <p:spPr>
          <a:xfrm>
            <a:off x="4432221" y="4642009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Predictivo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32221" y="4870609"/>
            <a:ext cx="3476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Prophet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2221" y="517529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con bandas de confianza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21611" y="4489609"/>
            <a:ext cx="3686175" cy="1028700"/>
          </a:xfrm>
          <a:custGeom>
            <a:avLst/>
            <a:gdLst/>
            <a:ahLst/>
            <a:cxnLst/>
            <a:rect l="l" t="t" r="r" b="b"/>
            <a:pathLst>
              <a:path w="3686175" h="1028700">
                <a:moveTo>
                  <a:pt x="38100" y="0"/>
                </a:moveTo>
                <a:lnTo>
                  <a:pt x="3609979" y="0"/>
                </a:lnTo>
                <a:cubicBezTo>
                  <a:pt x="3652061" y="0"/>
                  <a:pt x="3686175" y="34114"/>
                  <a:pt x="3686175" y="76196"/>
                </a:cubicBezTo>
                <a:lnTo>
                  <a:pt x="3686175" y="952504"/>
                </a:lnTo>
                <a:cubicBezTo>
                  <a:pt x="3686175" y="994586"/>
                  <a:pt x="3652061" y="1028700"/>
                  <a:pt x="3609979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121611" y="4489609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5" name="Text 22"/>
          <p:cNvSpPr/>
          <p:nvPr/>
        </p:nvSpPr>
        <p:spPr>
          <a:xfrm>
            <a:off x="8293061" y="4642009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 Final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93061" y="4870609"/>
            <a:ext cx="3476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93061" y="5175290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web desplegable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1000" y="6015871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7C873">
              <a:alpha val="3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81000" y="62863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0" name="Text 27"/>
          <p:cNvSpPr/>
          <p:nvPr/>
        </p:nvSpPr>
        <p:spPr>
          <a:xfrm>
            <a:off x="609600" y="6210181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completo: Datos → Análisis → Modelo → Simulación → Aplicación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744200" y="6172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2" name="Shape 29"/>
          <p:cNvSpPr/>
          <p:nvPr/>
        </p:nvSpPr>
        <p:spPr>
          <a:xfrm>
            <a:off x="10832306" y="62578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3" name="Shape 30"/>
          <p:cNvSpPr/>
          <p:nvPr/>
        </p:nvSpPr>
        <p:spPr>
          <a:xfrm>
            <a:off x="11125200" y="6172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13306" y="62578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5" name="Shape 32"/>
          <p:cNvSpPr/>
          <p:nvPr/>
        </p:nvSpPr>
        <p:spPr>
          <a:xfrm>
            <a:off x="11506200" y="61720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6" name="Shape 33"/>
          <p:cNvSpPr/>
          <p:nvPr/>
        </p:nvSpPr>
        <p:spPr>
          <a:xfrm>
            <a:off x="11594306" y="62578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1A1A1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 del Proyecto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581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 del Proyecto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0287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954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2954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44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0" name="Text 8"/>
          <p:cNvSpPr/>
          <p:nvPr/>
        </p:nvSpPr>
        <p:spPr>
          <a:xfrm>
            <a:off x="650200" y="1485900"/>
            <a:ext cx="21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1447800"/>
            <a:ext cx="484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y Objetivos Estratégicos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1752600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oficial de diciembre 2024, comprensión de ingresos y patrones temporales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2479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2479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56" y="243840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2400300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Datos y Preparación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2705100"/>
            <a:ext cx="431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Ingesta desde parquet, limpieza, normalización y métricas derivadas clave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2004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32004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2" name="Text 20"/>
          <p:cNvSpPr/>
          <p:nvPr/>
        </p:nvSpPr>
        <p:spPr>
          <a:xfrm>
            <a:off x="633651" y="339090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" y="3352800"/>
            <a:ext cx="379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Exploratorio y Patrones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3657600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EDA, distribuciones, correlaciones y detección de estacionalidad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41529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" y="41529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" y="4305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8" name="Text 26"/>
          <p:cNvSpPr/>
          <p:nvPr/>
        </p:nvSpPr>
        <p:spPr>
          <a:xfrm>
            <a:off x="635675" y="434340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0600" y="4305300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 Predictivo Prophet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461010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multi-mes con intervalos de confianza al 95% y validación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12954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29350" y="12954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144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4" name="Text 32"/>
          <p:cNvSpPr/>
          <p:nvPr/>
        </p:nvSpPr>
        <p:spPr>
          <a:xfrm>
            <a:off x="6462713" y="148590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9900" y="1447800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Simulador de Escenarios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19900" y="175260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Qué pasa si: ajuste interactivo de supuestos operativos en tiempo real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29350" y="22479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29350" y="22479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0" name="Text 38"/>
          <p:cNvSpPr/>
          <p:nvPr/>
        </p:nvSpPr>
        <p:spPr>
          <a:xfrm>
            <a:off x="6461760" y="243840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9900" y="2400300"/>
            <a:ext cx="3676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y Aplicación Web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19900" y="2705100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integrada con Plotly y despliegue Streamlit Cloud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29350" y="3200400"/>
            <a:ext cx="5581650" cy="800100"/>
          </a:xfrm>
          <a:custGeom>
            <a:avLst/>
            <a:gdLst/>
            <a:ahLst/>
            <a:cxnLst/>
            <a:rect l="l" t="t" r="r" b="b"/>
            <a:pathLst>
              <a:path w="5581650" h="800100">
                <a:moveTo>
                  <a:pt x="38100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723898"/>
                </a:lnTo>
                <a:cubicBezTo>
                  <a:pt x="5581650" y="765983"/>
                  <a:pt x="5547533" y="800100"/>
                  <a:pt x="550544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29350" y="32004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6" name="Text 44"/>
          <p:cNvSpPr/>
          <p:nvPr/>
        </p:nvSpPr>
        <p:spPr>
          <a:xfrm>
            <a:off x="6468904" y="3390900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19900" y="3352800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Resultados y Recomendaciones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19900" y="36576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 generado, métricas clave y próximos pasos estratégicos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4110" y="4156710"/>
            <a:ext cx="5589270" cy="1074420"/>
          </a:xfrm>
          <a:custGeom>
            <a:avLst/>
            <a:gdLst/>
            <a:ahLst/>
            <a:cxnLst/>
            <a:rect l="l" t="t" r="r" b="b"/>
            <a:pathLst>
              <a:path w="5589270" h="1074420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998222"/>
                </a:lnTo>
                <a:cubicBezTo>
                  <a:pt x="5589270" y="1040305"/>
                  <a:pt x="5555155" y="1074420"/>
                  <a:pt x="5513072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7945" y="43510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1" name="Text 49"/>
          <p:cNvSpPr/>
          <p:nvPr/>
        </p:nvSpPr>
        <p:spPr>
          <a:xfrm>
            <a:off x="6722745" y="431292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 del Proyecto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70320" y="465582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Evolución de análisis exploratorio a sistema de inteligencia operativa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70320" y="4884420"/>
            <a:ext cx="534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Diferenciador: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Simulación interactiva vs. predicciones puntuales aisladas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31894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61137" y="530869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41715" y="80980"/>
                </a:moveTo>
                <a:cubicBezTo>
                  <a:pt x="141715" y="47459"/>
                  <a:pt x="114501" y="20245"/>
                  <a:pt x="80980" y="20245"/>
                </a:cubicBezTo>
                <a:cubicBezTo>
                  <a:pt x="47459" y="20245"/>
                  <a:pt x="20245" y="47459"/>
                  <a:pt x="20245" y="80980"/>
                </a:cubicBezTo>
                <a:cubicBezTo>
                  <a:pt x="20245" y="114501"/>
                  <a:pt x="47459" y="141715"/>
                  <a:pt x="80980" y="141715"/>
                </a:cubicBezTo>
                <a:cubicBezTo>
                  <a:pt x="114501" y="141715"/>
                  <a:pt x="141715" y="114501"/>
                  <a:pt x="141715" y="80980"/>
                </a:cubicBezTo>
                <a:close/>
                <a:moveTo>
                  <a:pt x="0" y="80980"/>
                </a:moveTo>
                <a:cubicBezTo>
                  <a:pt x="0" y="36286"/>
                  <a:pt x="36286" y="0"/>
                  <a:pt x="80980" y="0"/>
                </a:cubicBezTo>
                <a:cubicBezTo>
                  <a:pt x="125674" y="0"/>
                  <a:pt x="161960" y="36286"/>
                  <a:pt x="161960" y="80980"/>
                </a:cubicBezTo>
                <a:cubicBezTo>
                  <a:pt x="161960" y="125674"/>
                  <a:pt x="125674" y="161960"/>
                  <a:pt x="80980" y="161960"/>
                </a:cubicBezTo>
                <a:cubicBezTo>
                  <a:pt x="36286" y="161960"/>
                  <a:pt x="0" y="125674"/>
                  <a:pt x="0" y="80980"/>
                </a:cubicBezTo>
                <a:close/>
                <a:moveTo>
                  <a:pt x="80980" y="106286"/>
                </a:moveTo>
                <a:cubicBezTo>
                  <a:pt x="94947" y="106286"/>
                  <a:pt x="106286" y="94947"/>
                  <a:pt x="106286" y="80980"/>
                </a:cubicBezTo>
                <a:cubicBezTo>
                  <a:pt x="106286" y="67013"/>
                  <a:pt x="94947" y="55674"/>
                  <a:pt x="80980" y="55674"/>
                </a:cubicBezTo>
                <a:cubicBezTo>
                  <a:pt x="67013" y="55674"/>
                  <a:pt x="55674" y="67013"/>
                  <a:pt x="55674" y="80980"/>
                </a:cubicBezTo>
                <a:cubicBezTo>
                  <a:pt x="55674" y="94947"/>
                  <a:pt x="67013" y="106286"/>
                  <a:pt x="80980" y="106286"/>
                </a:cubicBezTo>
                <a:close/>
                <a:moveTo>
                  <a:pt x="80980" y="35429"/>
                </a:moveTo>
                <a:cubicBezTo>
                  <a:pt x="106121" y="35429"/>
                  <a:pt x="126531" y="55840"/>
                  <a:pt x="126531" y="80980"/>
                </a:cubicBezTo>
                <a:cubicBezTo>
                  <a:pt x="126531" y="106121"/>
                  <a:pt x="106121" y="126531"/>
                  <a:pt x="80980" y="126531"/>
                </a:cubicBezTo>
                <a:cubicBezTo>
                  <a:pt x="55840" y="126531"/>
                  <a:pt x="35429" y="106121"/>
                  <a:pt x="35429" y="80980"/>
                </a:cubicBezTo>
                <a:cubicBezTo>
                  <a:pt x="35429" y="55840"/>
                  <a:pt x="55840" y="35429"/>
                  <a:pt x="80980" y="35429"/>
                </a:cubicBezTo>
                <a:close/>
                <a:moveTo>
                  <a:pt x="70858" y="80980"/>
                </a:moveTo>
                <a:cubicBezTo>
                  <a:pt x="70858" y="75393"/>
                  <a:pt x="75393" y="70858"/>
                  <a:pt x="80980" y="70858"/>
                </a:cubicBezTo>
                <a:cubicBezTo>
                  <a:pt x="86567" y="70858"/>
                  <a:pt x="91103" y="75393"/>
                  <a:pt x="91103" y="80980"/>
                </a:cubicBezTo>
                <a:cubicBezTo>
                  <a:pt x="91103" y="86567"/>
                  <a:pt x="86567" y="91103"/>
                  <a:pt x="80980" y="91103"/>
                </a:cubicBezTo>
                <a:cubicBezTo>
                  <a:pt x="75393" y="91103"/>
                  <a:pt x="70858" y="86567"/>
                  <a:pt x="70858" y="8098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827796" y="359911"/>
            <a:ext cx="584856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50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7796" y="539867"/>
            <a:ext cx="5920543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del Proyecto: De los Datos a la Decisión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911" y="935770"/>
            <a:ext cx="719823" cy="35991"/>
          </a:xfrm>
          <a:custGeom>
            <a:avLst/>
            <a:gdLst/>
            <a:ahLst/>
            <a:cxnLst/>
            <a:rect l="l" t="t" r="r" b="b"/>
            <a:pathLst>
              <a:path w="719823" h="35991">
                <a:moveTo>
                  <a:pt x="0" y="0"/>
                </a:moveTo>
                <a:lnTo>
                  <a:pt x="719823" y="0"/>
                </a:lnTo>
                <a:lnTo>
                  <a:pt x="719823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77907" y="1115725"/>
            <a:ext cx="6802326" cy="1691584"/>
          </a:xfrm>
          <a:custGeom>
            <a:avLst/>
            <a:gdLst/>
            <a:ahLst/>
            <a:cxnLst/>
            <a:rect l="l" t="t" r="r" b="b"/>
            <a:pathLst>
              <a:path w="6802326" h="1691584">
                <a:moveTo>
                  <a:pt x="35991" y="0"/>
                </a:moveTo>
                <a:lnTo>
                  <a:pt x="6730349" y="0"/>
                </a:lnTo>
                <a:cubicBezTo>
                  <a:pt x="6770101" y="0"/>
                  <a:pt x="6802326" y="32225"/>
                  <a:pt x="6802326" y="71977"/>
                </a:cubicBezTo>
                <a:lnTo>
                  <a:pt x="6802326" y="1619607"/>
                </a:lnTo>
                <a:cubicBezTo>
                  <a:pt x="6802326" y="1659359"/>
                  <a:pt x="6770101" y="1691584"/>
                  <a:pt x="6730349" y="1691584"/>
                </a:cubicBezTo>
                <a:lnTo>
                  <a:pt x="35991" y="1691584"/>
                </a:lnTo>
                <a:cubicBezTo>
                  <a:pt x="16114" y="1691584"/>
                  <a:pt x="0" y="1675470"/>
                  <a:pt x="0" y="1655593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7907" y="1115725"/>
            <a:ext cx="35991" cy="1691584"/>
          </a:xfrm>
          <a:custGeom>
            <a:avLst/>
            <a:gdLst/>
            <a:ahLst/>
            <a:cxnLst/>
            <a:rect l="l" t="t" r="r" b="b"/>
            <a:pathLst>
              <a:path w="35991" h="1691584">
                <a:moveTo>
                  <a:pt x="35991" y="0"/>
                </a:moveTo>
                <a:lnTo>
                  <a:pt x="35991" y="0"/>
                </a:lnTo>
                <a:lnTo>
                  <a:pt x="35991" y="1691584"/>
                </a:lnTo>
                <a:lnTo>
                  <a:pt x="35991" y="1691584"/>
                </a:lnTo>
                <a:cubicBezTo>
                  <a:pt x="16114" y="1691584"/>
                  <a:pt x="0" y="1675470"/>
                  <a:pt x="0" y="1655593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Shape 7"/>
          <p:cNvSpPr/>
          <p:nvPr/>
        </p:nvSpPr>
        <p:spPr>
          <a:xfrm>
            <a:off x="573609" y="1295681"/>
            <a:ext cx="157461" cy="179956"/>
          </a:xfrm>
          <a:custGeom>
            <a:avLst/>
            <a:gdLst/>
            <a:ahLst/>
            <a:cxnLst/>
            <a:rect l="l" t="t" r="r" b="b"/>
            <a:pathLst>
              <a:path w="157461" h="179956">
                <a:moveTo>
                  <a:pt x="157461" y="72334"/>
                </a:moveTo>
                <a:cubicBezTo>
                  <a:pt x="152259" y="75778"/>
                  <a:pt x="146284" y="78555"/>
                  <a:pt x="140063" y="80769"/>
                </a:cubicBezTo>
                <a:cubicBezTo>
                  <a:pt x="123544" y="86674"/>
                  <a:pt x="101858" y="89978"/>
                  <a:pt x="78731" y="89978"/>
                </a:cubicBezTo>
                <a:cubicBezTo>
                  <a:pt x="55604" y="89978"/>
                  <a:pt x="33882" y="86639"/>
                  <a:pt x="17398" y="80769"/>
                </a:cubicBezTo>
                <a:cubicBezTo>
                  <a:pt x="11212" y="78555"/>
                  <a:pt x="5202" y="75778"/>
                  <a:pt x="0" y="72334"/>
                </a:cubicBezTo>
                <a:lnTo>
                  <a:pt x="0" y="101225"/>
                </a:lnTo>
                <a:cubicBezTo>
                  <a:pt x="0" y="116760"/>
                  <a:pt x="35253" y="129343"/>
                  <a:pt x="78731" y="129343"/>
                </a:cubicBezTo>
                <a:cubicBezTo>
                  <a:pt x="122208" y="129343"/>
                  <a:pt x="157461" y="116760"/>
                  <a:pt x="157461" y="101225"/>
                </a:cubicBezTo>
                <a:lnTo>
                  <a:pt x="157461" y="72334"/>
                </a:lnTo>
                <a:close/>
                <a:moveTo>
                  <a:pt x="157461" y="44989"/>
                </a:moveTo>
                <a:lnTo>
                  <a:pt x="157461" y="28118"/>
                </a:lnTo>
                <a:cubicBezTo>
                  <a:pt x="157461" y="12583"/>
                  <a:pt x="122208" y="0"/>
                  <a:pt x="78731" y="0"/>
                </a:cubicBezTo>
                <a:cubicBezTo>
                  <a:pt x="35253" y="0"/>
                  <a:pt x="0" y="12583"/>
                  <a:pt x="0" y="28118"/>
                </a:cubicBezTo>
                <a:lnTo>
                  <a:pt x="0" y="44989"/>
                </a:lnTo>
                <a:cubicBezTo>
                  <a:pt x="0" y="60524"/>
                  <a:pt x="35253" y="73107"/>
                  <a:pt x="78731" y="73107"/>
                </a:cubicBezTo>
                <a:cubicBezTo>
                  <a:pt x="122208" y="73107"/>
                  <a:pt x="157461" y="60524"/>
                  <a:pt x="157461" y="44989"/>
                </a:cubicBezTo>
                <a:close/>
                <a:moveTo>
                  <a:pt x="140063" y="137005"/>
                </a:moveTo>
                <a:cubicBezTo>
                  <a:pt x="123579" y="142875"/>
                  <a:pt x="101893" y="146214"/>
                  <a:pt x="78731" y="146214"/>
                </a:cubicBezTo>
                <a:cubicBezTo>
                  <a:pt x="55568" y="146214"/>
                  <a:pt x="33882" y="142875"/>
                  <a:pt x="17398" y="137005"/>
                </a:cubicBezTo>
                <a:cubicBezTo>
                  <a:pt x="11212" y="134791"/>
                  <a:pt x="5202" y="132014"/>
                  <a:pt x="0" y="128570"/>
                </a:cubicBezTo>
                <a:lnTo>
                  <a:pt x="0" y="151838"/>
                </a:lnTo>
                <a:cubicBezTo>
                  <a:pt x="0" y="167373"/>
                  <a:pt x="35253" y="179956"/>
                  <a:pt x="78731" y="179956"/>
                </a:cubicBezTo>
                <a:cubicBezTo>
                  <a:pt x="122208" y="179956"/>
                  <a:pt x="157461" y="167373"/>
                  <a:pt x="157461" y="151838"/>
                </a:cubicBezTo>
                <a:lnTo>
                  <a:pt x="157461" y="128570"/>
                </a:lnTo>
                <a:cubicBezTo>
                  <a:pt x="152259" y="132014"/>
                  <a:pt x="146284" y="134791"/>
                  <a:pt x="140063" y="13700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0" name="Text 8"/>
          <p:cNvSpPr/>
          <p:nvPr/>
        </p:nvSpPr>
        <p:spPr>
          <a:xfrm>
            <a:off x="872785" y="1259690"/>
            <a:ext cx="450789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Oficial NYC Yellow Taxi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2785" y="1583610"/>
            <a:ext cx="448989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Fuente: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Datos oficiales del NYC Taxi &amp; Limousine Commission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2785" y="1871539"/>
            <a:ext cx="448989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Período: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Diciembre 2024 (mes completo)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2785" y="2159469"/>
            <a:ext cx="448989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Formato: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Parquet (optimizado para análisis a gran escala)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2785" y="2447398"/>
            <a:ext cx="448989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Cobertura: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+100k+ viajes/día con variables de tiempo, ubicación, tarifas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7907" y="2915283"/>
            <a:ext cx="6802326" cy="1583610"/>
          </a:xfrm>
          <a:custGeom>
            <a:avLst/>
            <a:gdLst/>
            <a:ahLst/>
            <a:cxnLst/>
            <a:rect l="l" t="t" r="r" b="b"/>
            <a:pathLst>
              <a:path w="6802326" h="1583610">
                <a:moveTo>
                  <a:pt x="35991" y="0"/>
                </a:moveTo>
                <a:lnTo>
                  <a:pt x="6730351" y="0"/>
                </a:lnTo>
                <a:cubicBezTo>
                  <a:pt x="6770102" y="0"/>
                  <a:pt x="6802326" y="32224"/>
                  <a:pt x="6802326" y="71975"/>
                </a:cubicBezTo>
                <a:lnTo>
                  <a:pt x="6802326" y="1511635"/>
                </a:lnTo>
                <a:cubicBezTo>
                  <a:pt x="6802326" y="1551386"/>
                  <a:pt x="6770102" y="1583610"/>
                  <a:pt x="6730351" y="1583610"/>
                </a:cubicBez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77907" y="2915283"/>
            <a:ext cx="35991" cy="1583610"/>
          </a:xfrm>
          <a:custGeom>
            <a:avLst/>
            <a:gdLst/>
            <a:ahLst/>
            <a:cxnLst/>
            <a:rect l="l" t="t" r="r" b="b"/>
            <a:pathLst>
              <a:path w="35991" h="1583610">
                <a:moveTo>
                  <a:pt x="35991" y="0"/>
                </a:moveTo>
                <a:lnTo>
                  <a:pt x="35991" y="0"/>
                </a:lnTo>
                <a:lnTo>
                  <a:pt x="35991" y="1583610"/>
                </a:lnTo>
                <a:lnTo>
                  <a:pt x="35991" y="1583610"/>
                </a:lnTo>
                <a:cubicBezTo>
                  <a:pt x="16114" y="1583610"/>
                  <a:pt x="0" y="1567497"/>
                  <a:pt x="0" y="1547619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7" name="Shape 15"/>
          <p:cNvSpPr/>
          <p:nvPr/>
        </p:nvSpPr>
        <p:spPr>
          <a:xfrm>
            <a:off x="551114" y="3095238"/>
            <a:ext cx="202450" cy="179956"/>
          </a:xfrm>
          <a:custGeom>
            <a:avLst/>
            <a:gdLst/>
            <a:ahLst/>
            <a:cxnLst/>
            <a:rect l="l" t="t" r="r" b="b"/>
            <a:pathLst>
              <a:path w="202450" h="179956">
                <a:moveTo>
                  <a:pt x="101225" y="-5624"/>
                </a:moveTo>
                <a:cubicBezTo>
                  <a:pt x="107446" y="-5624"/>
                  <a:pt x="112472" y="-598"/>
                  <a:pt x="112472" y="5624"/>
                </a:cubicBezTo>
                <a:lnTo>
                  <a:pt x="112472" y="12056"/>
                </a:lnTo>
                <a:cubicBezTo>
                  <a:pt x="146952" y="16976"/>
                  <a:pt x="174227" y="44251"/>
                  <a:pt x="179147" y="78731"/>
                </a:cubicBezTo>
                <a:lnTo>
                  <a:pt x="185579" y="78731"/>
                </a:lnTo>
                <a:cubicBezTo>
                  <a:pt x="191800" y="78731"/>
                  <a:pt x="196827" y="83757"/>
                  <a:pt x="196827" y="89978"/>
                </a:cubicBezTo>
                <a:cubicBezTo>
                  <a:pt x="196827" y="96199"/>
                  <a:pt x="191800" y="101225"/>
                  <a:pt x="185579" y="101225"/>
                </a:cubicBezTo>
                <a:lnTo>
                  <a:pt x="179147" y="101225"/>
                </a:lnTo>
                <a:cubicBezTo>
                  <a:pt x="174227" y="135705"/>
                  <a:pt x="146952" y="162979"/>
                  <a:pt x="112472" y="167900"/>
                </a:cubicBezTo>
                <a:lnTo>
                  <a:pt x="112472" y="174332"/>
                </a:lnTo>
                <a:cubicBezTo>
                  <a:pt x="112472" y="180553"/>
                  <a:pt x="107446" y="185579"/>
                  <a:pt x="101225" y="185579"/>
                </a:cubicBezTo>
                <a:cubicBezTo>
                  <a:pt x="95004" y="185579"/>
                  <a:pt x="89978" y="180553"/>
                  <a:pt x="89978" y="174332"/>
                </a:cubicBezTo>
                <a:lnTo>
                  <a:pt x="89978" y="167900"/>
                </a:lnTo>
                <a:cubicBezTo>
                  <a:pt x="55498" y="162979"/>
                  <a:pt x="28224" y="135705"/>
                  <a:pt x="23303" y="101225"/>
                </a:cubicBezTo>
                <a:lnTo>
                  <a:pt x="16871" y="101225"/>
                </a:lnTo>
                <a:cubicBezTo>
                  <a:pt x="10650" y="101225"/>
                  <a:pt x="5624" y="96199"/>
                  <a:pt x="5624" y="89978"/>
                </a:cubicBezTo>
                <a:cubicBezTo>
                  <a:pt x="5624" y="83757"/>
                  <a:pt x="10650" y="78731"/>
                  <a:pt x="16871" y="78731"/>
                </a:cubicBezTo>
                <a:lnTo>
                  <a:pt x="23303" y="78731"/>
                </a:lnTo>
                <a:cubicBezTo>
                  <a:pt x="28224" y="44251"/>
                  <a:pt x="55498" y="16976"/>
                  <a:pt x="89978" y="12056"/>
                </a:cubicBezTo>
                <a:lnTo>
                  <a:pt x="89978" y="5624"/>
                </a:lnTo>
                <a:cubicBezTo>
                  <a:pt x="89978" y="-598"/>
                  <a:pt x="95004" y="-5624"/>
                  <a:pt x="101225" y="-5624"/>
                </a:cubicBezTo>
                <a:close/>
                <a:moveTo>
                  <a:pt x="46114" y="101225"/>
                </a:moveTo>
                <a:cubicBezTo>
                  <a:pt x="50577" y="123263"/>
                  <a:pt x="67940" y="140626"/>
                  <a:pt x="89978" y="145089"/>
                </a:cubicBezTo>
                <a:lnTo>
                  <a:pt x="89978" y="140590"/>
                </a:lnTo>
                <a:cubicBezTo>
                  <a:pt x="89978" y="134369"/>
                  <a:pt x="95004" y="129343"/>
                  <a:pt x="101225" y="129343"/>
                </a:cubicBezTo>
                <a:cubicBezTo>
                  <a:pt x="107446" y="129343"/>
                  <a:pt x="112472" y="134369"/>
                  <a:pt x="112472" y="140590"/>
                </a:cubicBezTo>
                <a:lnTo>
                  <a:pt x="112472" y="145089"/>
                </a:lnTo>
                <a:cubicBezTo>
                  <a:pt x="134510" y="140626"/>
                  <a:pt x="151873" y="123263"/>
                  <a:pt x="156337" y="101225"/>
                </a:cubicBezTo>
                <a:lnTo>
                  <a:pt x="151838" y="101225"/>
                </a:lnTo>
                <a:cubicBezTo>
                  <a:pt x="145617" y="101225"/>
                  <a:pt x="140590" y="96199"/>
                  <a:pt x="140590" y="89978"/>
                </a:cubicBezTo>
                <a:cubicBezTo>
                  <a:pt x="140590" y="83757"/>
                  <a:pt x="145617" y="78731"/>
                  <a:pt x="151838" y="78731"/>
                </a:cubicBezTo>
                <a:lnTo>
                  <a:pt x="156337" y="78731"/>
                </a:lnTo>
                <a:cubicBezTo>
                  <a:pt x="151873" y="56693"/>
                  <a:pt x="134510" y="39330"/>
                  <a:pt x="112472" y="34866"/>
                </a:cubicBezTo>
                <a:lnTo>
                  <a:pt x="112472" y="39365"/>
                </a:lnTo>
                <a:cubicBezTo>
                  <a:pt x="112472" y="45586"/>
                  <a:pt x="107446" y="50613"/>
                  <a:pt x="101225" y="50613"/>
                </a:cubicBezTo>
                <a:cubicBezTo>
                  <a:pt x="95004" y="50613"/>
                  <a:pt x="89978" y="45586"/>
                  <a:pt x="89978" y="39365"/>
                </a:cubicBezTo>
                <a:lnTo>
                  <a:pt x="89978" y="34866"/>
                </a:lnTo>
                <a:cubicBezTo>
                  <a:pt x="67940" y="39330"/>
                  <a:pt x="50577" y="56693"/>
                  <a:pt x="46114" y="78731"/>
                </a:cubicBezTo>
                <a:lnTo>
                  <a:pt x="50613" y="78731"/>
                </a:lnTo>
                <a:cubicBezTo>
                  <a:pt x="56834" y="78731"/>
                  <a:pt x="61860" y="83757"/>
                  <a:pt x="61860" y="89978"/>
                </a:cubicBezTo>
                <a:cubicBezTo>
                  <a:pt x="61860" y="96199"/>
                  <a:pt x="56834" y="101225"/>
                  <a:pt x="50613" y="101225"/>
                </a:cubicBezTo>
                <a:lnTo>
                  <a:pt x="46114" y="101225"/>
                </a:lnTo>
                <a:close/>
                <a:moveTo>
                  <a:pt x="101225" y="73107"/>
                </a:moveTo>
                <a:cubicBezTo>
                  <a:pt x="110536" y="73107"/>
                  <a:pt x="118096" y="80667"/>
                  <a:pt x="118096" y="89978"/>
                </a:cubicBezTo>
                <a:cubicBezTo>
                  <a:pt x="118096" y="99289"/>
                  <a:pt x="110536" y="106849"/>
                  <a:pt x="101225" y="106849"/>
                </a:cubicBezTo>
                <a:cubicBezTo>
                  <a:pt x="91914" y="106849"/>
                  <a:pt x="84354" y="99289"/>
                  <a:pt x="84354" y="89978"/>
                </a:cubicBezTo>
                <a:cubicBezTo>
                  <a:pt x="84354" y="80667"/>
                  <a:pt x="91914" y="73107"/>
                  <a:pt x="101225" y="7310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8" name="Text 16"/>
          <p:cNvSpPr/>
          <p:nvPr/>
        </p:nvSpPr>
        <p:spPr>
          <a:xfrm>
            <a:off x="872785" y="3059247"/>
            <a:ext cx="486780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Objetivos Estratégicos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2785" y="3455150"/>
            <a:ext cx="71982" cy="71982"/>
          </a:xfrm>
          <a:custGeom>
            <a:avLst/>
            <a:gdLst/>
            <a:ahLst/>
            <a:cxnLst/>
            <a:rect l="l" t="t" r="r" b="b"/>
            <a:pathLst>
              <a:path w="71982" h="71982">
                <a:moveTo>
                  <a:pt x="35991" y="0"/>
                </a:moveTo>
                <a:lnTo>
                  <a:pt x="35991" y="0"/>
                </a:lnTo>
                <a:cubicBezTo>
                  <a:pt x="55855" y="0"/>
                  <a:pt x="71982" y="16127"/>
                  <a:pt x="71982" y="35991"/>
                </a:cubicBezTo>
                <a:lnTo>
                  <a:pt x="71982" y="35991"/>
                </a:lnTo>
                <a:cubicBezTo>
                  <a:pt x="71982" y="55855"/>
                  <a:pt x="55855" y="71982"/>
                  <a:pt x="35991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750" y="3383168"/>
            <a:ext cx="470584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Comprender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comportamiento de los ingresos y sus factores explicativos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2785" y="3707088"/>
            <a:ext cx="71982" cy="71982"/>
          </a:xfrm>
          <a:custGeom>
            <a:avLst/>
            <a:gdLst/>
            <a:ahLst/>
            <a:cxnLst/>
            <a:rect l="l" t="t" r="r" b="b"/>
            <a:pathLst>
              <a:path w="71982" h="71982">
                <a:moveTo>
                  <a:pt x="35991" y="0"/>
                </a:moveTo>
                <a:lnTo>
                  <a:pt x="35991" y="0"/>
                </a:lnTo>
                <a:cubicBezTo>
                  <a:pt x="55855" y="0"/>
                  <a:pt x="71982" y="16127"/>
                  <a:pt x="71982" y="35991"/>
                </a:cubicBezTo>
                <a:lnTo>
                  <a:pt x="71982" y="35991"/>
                </a:lnTo>
                <a:cubicBezTo>
                  <a:pt x="71982" y="55855"/>
                  <a:pt x="55855" y="71982"/>
                  <a:pt x="35991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750" y="3635106"/>
            <a:ext cx="439092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Identificar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patrones temporales relevantes para la toma de decisiones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2785" y="3959026"/>
            <a:ext cx="71982" cy="71982"/>
          </a:xfrm>
          <a:custGeom>
            <a:avLst/>
            <a:gdLst/>
            <a:ahLst/>
            <a:cxnLst/>
            <a:rect l="l" t="t" r="r" b="b"/>
            <a:pathLst>
              <a:path w="71982" h="71982">
                <a:moveTo>
                  <a:pt x="35991" y="0"/>
                </a:moveTo>
                <a:lnTo>
                  <a:pt x="35991" y="0"/>
                </a:lnTo>
                <a:cubicBezTo>
                  <a:pt x="55855" y="0"/>
                  <a:pt x="71982" y="16127"/>
                  <a:pt x="71982" y="35991"/>
                </a:cubicBezTo>
                <a:lnTo>
                  <a:pt x="71982" y="35991"/>
                </a:lnTo>
                <a:cubicBezTo>
                  <a:pt x="71982" y="55855"/>
                  <a:pt x="55855" y="71982"/>
                  <a:pt x="35991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750" y="3887044"/>
            <a:ext cx="399501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Transformar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insights en sistema práctico de apoyo a decisiones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2785" y="4210964"/>
            <a:ext cx="71982" cy="71982"/>
          </a:xfrm>
          <a:custGeom>
            <a:avLst/>
            <a:gdLst/>
            <a:ahLst/>
            <a:cxnLst/>
            <a:rect l="l" t="t" r="r" b="b"/>
            <a:pathLst>
              <a:path w="71982" h="71982">
                <a:moveTo>
                  <a:pt x="35991" y="0"/>
                </a:moveTo>
                <a:lnTo>
                  <a:pt x="35991" y="0"/>
                </a:lnTo>
                <a:cubicBezTo>
                  <a:pt x="55855" y="0"/>
                  <a:pt x="71982" y="16127"/>
                  <a:pt x="71982" y="35991"/>
                </a:cubicBezTo>
                <a:lnTo>
                  <a:pt x="71982" y="35991"/>
                </a:lnTo>
                <a:cubicBezTo>
                  <a:pt x="71982" y="55855"/>
                  <a:pt x="55855" y="71982"/>
                  <a:pt x="35991" y="71982"/>
                </a:cubicBezTo>
                <a:lnTo>
                  <a:pt x="35991" y="71982"/>
                </a:lnTo>
                <a:cubicBezTo>
                  <a:pt x="16127" y="71982"/>
                  <a:pt x="0" y="55855"/>
                  <a:pt x="0" y="35991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750" y="4138982"/>
            <a:ext cx="347314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Desplegar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producto accesible para perfiles no técnicos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3511" y="4610466"/>
            <a:ext cx="6818522" cy="1050941"/>
          </a:xfrm>
          <a:custGeom>
            <a:avLst/>
            <a:gdLst/>
            <a:ahLst/>
            <a:cxnLst/>
            <a:rect l="l" t="t" r="r" b="b"/>
            <a:pathLst>
              <a:path w="6818522" h="1050941">
                <a:moveTo>
                  <a:pt x="71979" y="0"/>
                </a:moveTo>
                <a:lnTo>
                  <a:pt x="6746543" y="0"/>
                </a:lnTo>
                <a:cubicBezTo>
                  <a:pt x="6786296" y="0"/>
                  <a:pt x="6818522" y="32226"/>
                  <a:pt x="6818522" y="71979"/>
                </a:cubicBezTo>
                <a:lnTo>
                  <a:pt x="6818522" y="978962"/>
                </a:lnTo>
                <a:cubicBezTo>
                  <a:pt x="6818522" y="1018715"/>
                  <a:pt x="6786296" y="1050941"/>
                  <a:pt x="6746543" y="1050941"/>
                </a:cubicBezTo>
                <a:lnTo>
                  <a:pt x="71979" y="1050941"/>
                </a:lnTo>
                <a:cubicBezTo>
                  <a:pt x="32226" y="1050941"/>
                  <a:pt x="0" y="1018715"/>
                  <a:pt x="0" y="978962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573" y="4794021"/>
            <a:ext cx="134967" cy="179956"/>
          </a:xfrm>
          <a:custGeom>
            <a:avLst/>
            <a:gdLst/>
            <a:ahLst/>
            <a:cxnLst/>
            <a:rect l="l" t="t" r="r" b="b"/>
            <a:pathLst>
              <a:path w="134967" h="179956">
                <a:moveTo>
                  <a:pt x="102947" y="134967"/>
                </a:moveTo>
                <a:cubicBezTo>
                  <a:pt x="105513" y="127129"/>
                  <a:pt x="110645" y="120029"/>
                  <a:pt x="116444" y="113913"/>
                </a:cubicBezTo>
                <a:cubicBezTo>
                  <a:pt x="127937" y="101823"/>
                  <a:pt x="134967" y="85479"/>
                  <a:pt x="134967" y="67483"/>
                </a:cubicBezTo>
                <a:cubicBezTo>
                  <a:pt x="134967" y="30227"/>
                  <a:pt x="104740" y="0"/>
                  <a:pt x="67483" y="0"/>
                </a:cubicBezTo>
                <a:cubicBezTo>
                  <a:pt x="30227" y="0"/>
                  <a:pt x="0" y="30227"/>
                  <a:pt x="0" y="67483"/>
                </a:cubicBezTo>
                <a:cubicBezTo>
                  <a:pt x="0" y="85479"/>
                  <a:pt x="7030" y="101823"/>
                  <a:pt x="18523" y="113913"/>
                </a:cubicBezTo>
                <a:cubicBezTo>
                  <a:pt x="24322" y="120029"/>
                  <a:pt x="29489" y="127129"/>
                  <a:pt x="32019" y="134967"/>
                </a:cubicBezTo>
                <a:lnTo>
                  <a:pt x="102912" y="134967"/>
                </a:lnTo>
                <a:close/>
                <a:moveTo>
                  <a:pt x="101225" y="151838"/>
                </a:moveTo>
                <a:lnTo>
                  <a:pt x="33742" y="151838"/>
                </a:lnTo>
                <a:lnTo>
                  <a:pt x="33742" y="157461"/>
                </a:lnTo>
                <a:cubicBezTo>
                  <a:pt x="33742" y="172996"/>
                  <a:pt x="46325" y="185579"/>
                  <a:pt x="61860" y="185579"/>
                </a:cubicBezTo>
                <a:lnTo>
                  <a:pt x="73107" y="185579"/>
                </a:lnTo>
                <a:cubicBezTo>
                  <a:pt x="88642" y="185579"/>
                  <a:pt x="101225" y="172996"/>
                  <a:pt x="101225" y="157461"/>
                </a:cubicBezTo>
                <a:lnTo>
                  <a:pt x="101225" y="151838"/>
                </a:lnTo>
                <a:close/>
                <a:moveTo>
                  <a:pt x="64672" y="39365"/>
                </a:moveTo>
                <a:cubicBezTo>
                  <a:pt x="50683" y="39365"/>
                  <a:pt x="39365" y="50683"/>
                  <a:pt x="39365" y="64672"/>
                </a:cubicBezTo>
                <a:cubicBezTo>
                  <a:pt x="39365" y="69346"/>
                  <a:pt x="35605" y="73107"/>
                  <a:pt x="30930" y="73107"/>
                </a:cubicBezTo>
                <a:cubicBezTo>
                  <a:pt x="26255" y="73107"/>
                  <a:pt x="22494" y="69346"/>
                  <a:pt x="22494" y="64672"/>
                </a:cubicBezTo>
                <a:cubicBezTo>
                  <a:pt x="22494" y="41369"/>
                  <a:pt x="41369" y="22494"/>
                  <a:pt x="64672" y="22494"/>
                </a:cubicBezTo>
                <a:cubicBezTo>
                  <a:pt x="69346" y="22494"/>
                  <a:pt x="73107" y="26255"/>
                  <a:pt x="73107" y="30930"/>
                </a:cubicBezTo>
                <a:cubicBezTo>
                  <a:pt x="73107" y="35605"/>
                  <a:pt x="69346" y="39365"/>
                  <a:pt x="64672" y="3936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9" name="Text 27"/>
          <p:cNvSpPr/>
          <p:nvPr/>
        </p:nvSpPr>
        <p:spPr>
          <a:xfrm>
            <a:off x="759076" y="4758030"/>
            <a:ext cx="635243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Hipótesis de Negocio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9076" y="5081950"/>
            <a:ext cx="6343439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patrones temporales en los viajes de taxis contienen información predictiva que, correctamente modelada y presentada, puede guiar decisiones operativas y estratégicas en tiempo real.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31284" y="1119325"/>
            <a:ext cx="4497093" cy="5144934"/>
          </a:xfrm>
          <a:custGeom>
            <a:avLst/>
            <a:gdLst/>
            <a:ahLst/>
            <a:cxnLst/>
            <a:rect l="l" t="t" r="r" b="b"/>
            <a:pathLst>
              <a:path w="4497093" h="5144934">
                <a:moveTo>
                  <a:pt x="71998" y="0"/>
                </a:moveTo>
                <a:lnTo>
                  <a:pt x="4425095" y="0"/>
                </a:lnTo>
                <a:cubicBezTo>
                  <a:pt x="4464859" y="0"/>
                  <a:pt x="4497093" y="32235"/>
                  <a:pt x="4497093" y="71998"/>
                </a:cubicBezTo>
                <a:lnTo>
                  <a:pt x="4497093" y="5072936"/>
                </a:lnTo>
                <a:cubicBezTo>
                  <a:pt x="4497093" y="5112699"/>
                  <a:pt x="4464859" y="5144934"/>
                  <a:pt x="4425095" y="5144934"/>
                </a:cubicBezTo>
                <a:lnTo>
                  <a:pt x="71998" y="5144934"/>
                </a:lnTo>
                <a:cubicBezTo>
                  <a:pt x="32235" y="5144934"/>
                  <a:pt x="0" y="5112699"/>
                  <a:pt x="0" y="5072936"/>
                </a:cubicBezTo>
                <a:lnTo>
                  <a:pt x="0" y="71998"/>
                </a:lnTo>
                <a:cubicBezTo>
                  <a:pt x="0" y="32235"/>
                  <a:pt x="32235" y="0"/>
                  <a:pt x="71998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01342" y="1311878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60735" y="20245"/>
                </a:moveTo>
                <a:cubicBezTo>
                  <a:pt x="60735" y="14646"/>
                  <a:pt x="65259" y="10123"/>
                  <a:pt x="70858" y="10123"/>
                </a:cubicBezTo>
                <a:lnTo>
                  <a:pt x="91103" y="10123"/>
                </a:lnTo>
                <a:cubicBezTo>
                  <a:pt x="96702" y="10123"/>
                  <a:pt x="101225" y="14646"/>
                  <a:pt x="101225" y="20245"/>
                </a:cubicBezTo>
                <a:lnTo>
                  <a:pt x="101225" y="40490"/>
                </a:lnTo>
                <a:cubicBezTo>
                  <a:pt x="101225" y="46089"/>
                  <a:pt x="96702" y="50613"/>
                  <a:pt x="91103" y="50613"/>
                </a:cubicBezTo>
                <a:lnTo>
                  <a:pt x="88572" y="50613"/>
                </a:lnTo>
                <a:lnTo>
                  <a:pt x="88572" y="70858"/>
                </a:lnTo>
                <a:lnTo>
                  <a:pt x="126531" y="70858"/>
                </a:lnTo>
                <a:cubicBezTo>
                  <a:pt x="139121" y="70858"/>
                  <a:pt x="149307" y="81043"/>
                  <a:pt x="149307" y="93633"/>
                </a:cubicBezTo>
                <a:lnTo>
                  <a:pt x="149307" y="111348"/>
                </a:lnTo>
                <a:lnTo>
                  <a:pt x="151838" y="111348"/>
                </a:lnTo>
                <a:cubicBezTo>
                  <a:pt x="157437" y="111348"/>
                  <a:pt x="161960" y="115871"/>
                  <a:pt x="161960" y="121470"/>
                </a:cubicBezTo>
                <a:lnTo>
                  <a:pt x="161960" y="141715"/>
                </a:lnTo>
                <a:cubicBezTo>
                  <a:pt x="161960" y="147314"/>
                  <a:pt x="157437" y="151838"/>
                  <a:pt x="151838" y="151838"/>
                </a:cubicBezTo>
                <a:lnTo>
                  <a:pt x="131593" y="151838"/>
                </a:lnTo>
                <a:cubicBezTo>
                  <a:pt x="125994" y="151838"/>
                  <a:pt x="121470" y="147314"/>
                  <a:pt x="121470" y="141715"/>
                </a:cubicBezTo>
                <a:lnTo>
                  <a:pt x="121470" y="121470"/>
                </a:lnTo>
                <a:cubicBezTo>
                  <a:pt x="121470" y="115871"/>
                  <a:pt x="125994" y="111348"/>
                  <a:pt x="131593" y="111348"/>
                </a:cubicBezTo>
                <a:lnTo>
                  <a:pt x="134123" y="111348"/>
                </a:lnTo>
                <a:lnTo>
                  <a:pt x="134123" y="93633"/>
                </a:lnTo>
                <a:cubicBezTo>
                  <a:pt x="134123" y="89426"/>
                  <a:pt x="130739" y="86041"/>
                  <a:pt x="126531" y="86041"/>
                </a:cubicBezTo>
                <a:lnTo>
                  <a:pt x="88572" y="86041"/>
                </a:lnTo>
                <a:lnTo>
                  <a:pt x="88572" y="111348"/>
                </a:lnTo>
                <a:lnTo>
                  <a:pt x="91103" y="111348"/>
                </a:lnTo>
                <a:cubicBezTo>
                  <a:pt x="96702" y="111348"/>
                  <a:pt x="101225" y="115871"/>
                  <a:pt x="101225" y="121470"/>
                </a:cubicBezTo>
                <a:lnTo>
                  <a:pt x="101225" y="141715"/>
                </a:lnTo>
                <a:cubicBezTo>
                  <a:pt x="101225" y="147314"/>
                  <a:pt x="96702" y="151838"/>
                  <a:pt x="91103" y="151838"/>
                </a:cubicBezTo>
                <a:lnTo>
                  <a:pt x="70858" y="151838"/>
                </a:lnTo>
                <a:cubicBezTo>
                  <a:pt x="65259" y="151838"/>
                  <a:pt x="60735" y="147314"/>
                  <a:pt x="60735" y="141715"/>
                </a:cubicBezTo>
                <a:lnTo>
                  <a:pt x="60735" y="121470"/>
                </a:lnTo>
                <a:cubicBezTo>
                  <a:pt x="60735" y="115871"/>
                  <a:pt x="65259" y="111348"/>
                  <a:pt x="70858" y="111348"/>
                </a:cubicBezTo>
                <a:lnTo>
                  <a:pt x="73388" y="111348"/>
                </a:lnTo>
                <a:lnTo>
                  <a:pt x="73388" y="86041"/>
                </a:lnTo>
                <a:lnTo>
                  <a:pt x="35429" y="86041"/>
                </a:lnTo>
                <a:cubicBezTo>
                  <a:pt x="31222" y="86041"/>
                  <a:pt x="27837" y="89426"/>
                  <a:pt x="27837" y="93633"/>
                </a:cubicBezTo>
                <a:lnTo>
                  <a:pt x="27837" y="111348"/>
                </a:lnTo>
                <a:lnTo>
                  <a:pt x="30368" y="111348"/>
                </a:lnTo>
                <a:cubicBezTo>
                  <a:pt x="35967" y="111348"/>
                  <a:pt x="40490" y="115871"/>
                  <a:pt x="40490" y="121470"/>
                </a:cubicBezTo>
                <a:lnTo>
                  <a:pt x="40490" y="141715"/>
                </a:lnTo>
                <a:cubicBezTo>
                  <a:pt x="40490" y="147314"/>
                  <a:pt x="35967" y="151838"/>
                  <a:pt x="30368" y="151838"/>
                </a:cubicBezTo>
                <a:lnTo>
                  <a:pt x="10123" y="151838"/>
                </a:lnTo>
                <a:cubicBezTo>
                  <a:pt x="4523" y="151838"/>
                  <a:pt x="0" y="147314"/>
                  <a:pt x="0" y="141715"/>
                </a:cubicBezTo>
                <a:lnTo>
                  <a:pt x="0" y="121470"/>
                </a:lnTo>
                <a:cubicBezTo>
                  <a:pt x="0" y="115871"/>
                  <a:pt x="4523" y="111348"/>
                  <a:pt x="10123" y="111348"/>
                </a:cubicBezTo>
                <a:lnTo>
                  <a:pt x="12653" y="111348"/>
                </a:lnTo>
                <a:lnTo>
                  <a:pt x="12653" y="93633"/>
                </a:lnTo>
                <a:cubicBezTo>
                  <a:pt x="12653" y="81043"/>
                  <a:pt x="22839" y="70858"/>
                  <a:pt x="35429" y="70858"/>
                </a:cubicBezTo>
                <a:lnTo>
                  <a:pt x="73388" y="70858"/>
                </a:lnTo>
                <a:lnTo>
                  <a:pt x="73388" y="50613"/>
                </a:lnTo>
                <a:lnTo>
                  <a:pt x="70858" y="50613"/>
                </a:lnTo>
                <a:cubicBezTo>
                  <a:pt x="65259" y="50613"/>
                  <a:pt x="60735" y="46089"/>
                  <a:pt x="60735" y="40490"/>
                </a:cubicBezTo>
                <a:lnTo>
                  <a:pt x="60735" y="20245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3" name="Text 31"/>
          <p:cNvSpPr/>
          <p:nvPr/>
        </p:nvSpPr>
        <p:spPr>
          <a:xfrm>
            <a:off x="7685796" y="1266889"/>
            <a:ext cx="407599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de Flujo de Valor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78847" y="1626800"/>
            <a:ext cx="4201966" cy="647841"/>
          </a:xfrm>
          <a:custGeom>
            <a:avLst/>
            <a:gdLst/>
            <a:ahLst/>
            <a:cxnLst/>
            <a:rect l="l" t="t" r="r" b="b"/>
            <a:pathLst>
              <a:path w="4201966" h="647841">
                <a:moveTo>
                  <a:pt x="71982" y="0"/>
                </a:moveTo>
                <a:lnTo>
                  <a:pt x="4129984" y="0"/>
                </a:lnTo>
                <a:cubicBezTo>
                  <a:pt x="4169739" y="0"/>
                  <a:pt x="4201966" y="32227"/>
                  <a:pt x="4201966" y="71982"/>
                </a:cubicBezTo>
                <a:lnTo>
                  <a:pt x="4201966" y="575859"/>
                </a:lnTo>
                <a:cubicBezTo>
                  <a:pt x="4201966" y="615613"/>
                  <a:pt x="4169739" y="647841"/>
                  <a:pt x="4129984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86821" y="1734774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35992" y="0"/>
                </a:moveTo>
                <a:lnTo>
                  <a:pt x="179955" y="0"/>
                </a:lnTo>
                <a:cubicBezTo>
                  <a:pt x="199819" y="0"/>
                  <a:pt x="215947" y="16127"/>
                  <a:pt x="215947" y="35992"/>
                </a:cubicBezTo>
                <a:lnTo>
                  <a:pt x="215947" y="179955"/>
                </a:lnTo>
                <a:cubicBezTo>
                  <a:pt x="215947" y="199819"/>
                  <a:pt x="199819" y="215947"/>
                  <a:pt x="179955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6" name="Shape 34"/>
          <p:cNvSpPr/>
          <p:nvPr/>
        </p:nvSpPr>
        <p:spPr>
          <a:xfrm>
            <a:off x="7647556" y="1788760"/>
            <a:ext cx="94477" cy="107973"/>
          </a:xfrm>
          <a:custGeom>
            <a:avLst/>
            <a:gdLst/>
            <a:ahLst/>
            <a:cxnLst/>
            <a:rect l="l" t="t" r="r" b="b"/>
            <a:pathLst>
              <a:path w="94477" h="107973">
                <a:moveTo>
                  <a:pt x="94477" y="43400"/>
                </a:moveTo>
                <a:cubicBezTo>
                  <a:pt x="91356" y="45467"/>
                  <a:pt x="87771" y="47133"/>
                  <a:pt x="84038" y="48462"/>
                </a:cubicBezTo>
                <a:cubicBezTo>
                  <a:pt x="74126" y="52004"/>
                  <a:pt x="61115" y="53987"/>
                  <a:pt x="47238" y="53987"/>
                </a:cubicBezTo>
                <a:cubicBezTo>
                  <a:pt x="33362" y="53987"/>
                  <a:pt x="20329" y="51983"/>
                  <a:pt x="10439" y="48462"/>
                </a:cubicBezTo>
                <a:cubicBezTo>
                  <a:pt x="6727" y="47133"/>
                  <a:pt x="3121" y="45467"/>
                  <a:pt x="0" y="43400"/>
                </a:cubicBezTo>
                <a:lnTo>
                  <a:pt x="0" y="60735"/>
                </a:lnTo>
                <a:cubicBezTo>
                  <a:pt x="0" y="70056"/>
                  <a:pt x="21152" y="77606"/>
                  <a:pt x="47238" y="77606"/>
                </a:cubicBezTo>
                <a:cubicBezTo>
                  <a:pt x="73325" y="77606"/>
                  <a:pt x="94477" y="70056"/>
                  <a:pt x="94477" y="60735"/>
                </a:cubicBezTo>
                <a:lnTo>
                  <a:pt x="94477" y="43400"/>
                </a:lnTo>
                <a:close/>
                <a:moveTo>
                  <a:pt x="94477" y="26993"/>
                </a:moveTo>
                <a:lnTo>
                  <a:pt x="94477" y="16871"/>
                </a:lnTo>
                <a:cubicBezTo>
                  <a:pt x="94477" y="7550"/>
                  <a:pt x="73325" y="0"/>
                  <a:pt x="47238" y="0"/>
                </a:cubicBezTo>
                <a:cubicBezTo>
                  <a:pt x="21152" y="0"/>
                  <a:pt x="0" y="7550"/>
                  <a:pt x="0" y="16871"/>
                </a:cubicBezTo>
                <a:lnTo>
                  <a:pt x="0" y="26993"/>
                </a:lnTo>
                <a:cubicBezTo>
                  <a:pt x="0" y="36315"/>
                  <a:pt x="21152" y="43864"/>
                  <a:pt x="47238" y="43864"/>
                </a:cubicBezTo>
                <a:cubicBezTo>
                  <a:pt x="73325" y="43864"/>
                  <a:pt x="94477" y="36315"/>
                  <a:pt x="94477" y="26993"/>
                </a:cubicBezTo>
                <a:close/>
                <a:moveTo>
                  <a:pt x="84038" y="82203"/>
                </a:moveTo>
                <a:cubicBezTo>
                  <a:pt x="74147" y="85725"/>
                  <a:pt x="61136" y="87728"/>
                  <a:pt x="47238" y="87728"/>
                </a:cubicBezTo>
                <a:cubicBezTo>
                  <a:pt x="33341" y="87728"/>
                  <a:pt x="20329" y="85725"/>
                  <a:pt x="10439" y="82203"/>
                </a:cubicBezTo>
                <a:cubicBezTo>
                  <a:pt x="6727" y="80875"/>
                  <a:pt x="3121" y="79209"/>
                  <a:pt x="0" y="77142"/>
                </a:cubicBezTo>
                <a:lnTo>
                  <a:pt x="0" y="91103"/>
                </a:lnTo>
                <a:cubicBezTo>
                  <a:pt x="0" y="100424"/>
                  <a:pt x="21152" y="107973"/>
                  <a:pt x="47238" y="107973"/>
                </a:cubicBezTo>
                <a:cubicBezTo>
                  <a:pt x="73325" y="107973"/>
                  <a:pt x="94477" y="100424"/>
                  <a:pt x="94477" y="91103"/>
                </a:cubicBezTo>
                <a:lnTo>
                  <a:pt x="94477" y="77142"/>
                </a:lnTo>
                <a:cubicBezTo>
                  <a:pt x="91356" y="79209"/>
                  <a:pt x="87771" y="80875"/>
                  <a:pt x="84038" y="82203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7874750" y="1734774"/>
            <a:ext cx="54886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Datos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874750" y="1986712"/>
            <a:ext cx="376107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Parquet oficial NYC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519771" y="2346623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0" name="Shape 38"/>
          <p:cNvSpPr/>
          <p:nvPr/>
        </p:nvSpPr>
        <p:spPr>
          <a:xfrm>
            <a:off x="7478847" y="2580565"/>
            <a:ext cx="4201966" cy="647841"/>
          </a:xfrm>
          <a:custGeom>
            <a:avLst/>
            <a:gdLst/>
            <a:ahLst/>
            <a:cxnLst/>
            <a:rect l="l" t="t" r="r" b="b"/>
            <a:pathLst>
              <a:path w="4201966" h="647841">
                <a:moveTo>
                  <a:pt x="71982" y="0"/>
                </a:moveTo>
                <a:lnTo>
                  <a:pt x="4129984" y="0"/>
                </a:lnTo>
                <a:cubicBezTo>
                  <a:pt x="4169739" y="0"/>
                  <a:pt x="4201966" y="32227"/>
                  <a:pt x="4201966" y="71982"/>
                </a:cubicBezTo>
                <a:lnTo>
                  <a:pt x="4201966" y="575859"/>
                </a:lnTo>
                <a:cubicBezTo>
                  <a:pt x="4201966" y="615613"/>
                  <a:pt x="4169739" y="647841"/>
                  <a:pt x="4129984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86821" y="2688539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35992" y="0"/>
                </a:moveTo>
                <a:lnTo>
                  <a:pt x="179955" y="0"/>
                </a:lnTo>
                <a:cubicBezTo>
                  <a:pt x="199819" y="0"/>
                  <a:pt x="215947" y="16127"/>
                  <a:pt x="215947" y="35992"/>
                </a:cubicBezTo>
                <a:lnTo>
                  <a:pt x="215947" y="179955"/>
                </a:lnTo>
                <a:cubicBezTo>
                  <a:pt x="215947" y="199819"/>
                  <a:pt x="199819" y="215947"/>
                  <a:pt x="179955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2" name="Shape 40"/>
          <p:cNvSpPr/>
          <p:nvPr/>
        </p:nvSpPr>
        <p:spPr>
          <a:xfrm>
            <a:off x="7640807" y="2742526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6748" y="6748"/>
                </a:moveTo>
                <a:cubicBezTo>
                  <a:pt x="10481" y="6748"/>
                  <a:pt x="13497" y="9764"/>
                  <a:pt x="13497" y="13497"/>
                </a:cubicBezTo>
                <a:lnTo>
                  <a:pt x="13497" y="84354"/>
                </a:lnTo>
                <a:cubicBezTo>
                  <a:pt x="13497" y="86210"/>
                  <a:pt x="15015" y="87728"/>
                  <a:pt x="16871" y="87728"/>
                </a:cubicBezTo>
                <a:lnTo>
                  <a:pt x="101225" y="87728"/>
                </a:lnTo>
                <a:cubicBezTo>
                  <a:pt x="104958" y="87728"/>
                  <a:pt x="107973" y="90744"/>
                  <a:pt x="107973" y="94477"/>
                </a:cubicBezTo>
                <a:cubicBezTo>
                  <a:pt x="107973" y="98209"/>
                  <a:pt x="104958" y="101225"/>
                  <a:pt x="101225" y="101225"/>
                </a:cubicBezTo>
                <a:lnTo>
                  <a:pt x="16871" y="101225"/>
                </a:lnTo>
                <a:cubicBezTo>
                  <a:pt x="7550" y="101225"/>
                  <a:pt x="0" y="93675"/>
                  <a:pt x="0" y="84354"/>
                </a:cubicBezTo>
                <a:lnTo>
                  <a:pt x="0" y="13497"/>
                </a:lnTo>
                <a:cubicBezTo>
                  <a:pt x="0" y="9764"/>
                  <a:pt x="3016" y="6748"/>
                  <a:pt x="6748" y="6748"/>
                </a:cubicBezTo>
                <a:close/>
                <a:moveTo>
                  <a:pt x="26993" y="20245"/>
                </a:moveTo>
                <a:cubicBezTo>
                  <a:pt x="26993" y="16512"/>
                  <a:pt x="30009" y="13497"/>
                  <a:pt x="33742" y="13497"/>
                </a:cubicBezTo>
                <a:lnTo>
                  <a:pt x="74232" y="13497"/>
                </a:lnTo>
                <a:cubicBezTo>
                  <a:pt x="77964" y="13497"/>
                  <a:pt x="80980" y="16512"/>
                  <a:pt x="80980" y="20245"/>
                </a:cubicBezTo>
                <a:cubicBezTo>
                  <a:pt x="80980" y="23978"/>
                  <a:pt x="77964" y="26993"/>
                  <a:pt x="74232" y="26993"/>
                </a:cubicBezTo>
                <a:lnTo>
                  <a:pt x="33742" y="26993"/>
                </a:lnTo>
                <a:cubicBezTo>
                  <a:pt x="30009" y="26993"/>
                  <a:pt x="26993" y="23978"/>
                  <a:pt x="26993" y="20245"/>
                </a:cubicBezTo>
                <a:close/>
                <a:moveTo>
                  <a:pt x="33742" y="37116"/>
                </a:moveTo>
                <a:lnTo>
                  <a:pt x="60735" y="37116"/>
                </a:lnTo>
                <a:cubicBezTo>
                  <a:pt x="64468" y="37116"/>
                  <a:pt x="67483" y="40132"/>
                  <a:pt x="67483" y="43864"/>
                </a:cubicBezTo>
                <a:cubicBezTo>
                  <a:pt x="67483" y="47597"/>
                  <a:pt x="64468" y="50613"/>
                  <a:pt x="60735" y="50613"/>
                </a:cubicBezTo>
                <a:lnTo>
                  <a:pt x="33742" y="50613"/>
                </a:lnTo>
                <a:cubicBezTo>
                  <a:pt x="30009" y="50613"/>
                  <a:pt x="26993" y="47597"/>
                  <a:pt x="26993" y="43864"/>
                </a:cubicBezTo>
                <a:cubicBezTo>
                  <a:pt x="26993" y="40132"/>
                  <a:pt x="30009" y="37116"/>
                  <a:pt x="33742" y="37116"/>
                </a:cubicBezTo>
                <a:close/>
                <a:moveTo>
                  <a:pt x="33742" y="60735"/>
                </a:moveTo>
                <a:lnTo>
                  <a:pt x="87728" y="60735"/>
                </a:lnTo>
                <a:cubicBezTo>
                  <a:pt x="91461" y="60735"/>
                  <a:pt x="94477" y="63751"/>
                  <a:pt x="94477" y="67483"/>
                </a:cubicBezTo>
                <a:cubicBezTo>
                  <a:pt x="94477" y="71216"/>
                  <a:pt x="91461" y="74232"/>
                  <a:pt x="87728" y="74232"/>
                </a:cubicBezTo>
                <a:lnTo>
                  <a:pt x="33742" y="74232"/>
                </a:lnTo>
                <a:cubicBezTo>
                  <a:pt x="30009" y="74232"/>
                  <a:pt x="26993" y="71216"/>
                  <a:pt x="26993" y="67483"/>
                </a:cubicBezTo>
                <a:cubicBezTo>
                  <a:pt x="26993" y="63751"/>
                  <a:pt x="30009" y="60735"/>
                  <a:pt x="33742" y="60735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3" name="Text 41"/>
          <p:cNvSpPr/>
          <p:nvPr/>
        </p:nvSpPr>
        <p:spPr>
          <a:xfrm>
            <a:off x="7874750" y="2688539"/>
            <a:ext cx="68383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Análisis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74750" y="2940477"/>
            <a:ext cx="376107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y patrones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519771" y="3300388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6" name="Shape 44"/>
          <p:cNvSpPr/>
          <p:nvPr/>
        </p:nvSpPr>
        <p:spPr>
          <a:xfrm>
            <a:off x="7478847" y="3534331"/>
            <a:ext cx="4201966" cy="647841"/>
          </a:xfrm>
          <a:custGeom>
            <a:avLst/>
            <a:gdLst/>
            <a:ahLst/>
            <a:cxnLst/>
            <a:rect l="l" t="t" r="r" b="b"/>
            <a:pathLst>
              <a:path w="4201966" h="647841">
                <a:moveTo>
                  <a:pt x="71982" y="0"/>
                </a:moveTo>
                <a:lnTo>
                  <a:pt x="4129984" y="0"/>
                </a:lnTo>
                <a:cubicBezTo>
                  <a:pt x="4169739" y="0"/>
                  <a:pt x="4201966" y="32227"/>
                  <a:pt x="4201966" y="71982"/>
                </a:cubicBezTo>
                <a:lnTo>
                  <a:pt x="4201966" y="575859"/>
                </a:lnTo>
                <a:cubicBezTo>
                  <a:pt x="4201966" y="615613"/>
                  <a:pt x="4169739" y="647841"/>
                  <a:pt x="4129984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86821" y="3642304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35992" y="0"/>
                </a:moveTo>
                <a:lnTo>
                  <a:pt x="179955" y="0"/>
                </a:lnTo>
                <a:cubicBezTo>
                  <a:pt x="199819" y="0"/>
                  <a:pt x="215947" y="16127"/>
                  <a:pt x="215947" y="35992"/>
                </a:cubicBezTo>
                <a:lnTo>
                  <a:pt x="215947" y="179955"/>
                </a:lnTo>
                <a:cubicBezTo>
                  <a:pt x="215947" y="199819"/>
                  <a:pt x="199819" y="215947"/>
                  <a:pt x="179955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8" name="Shape 46"/>
          <p:cNvSpPr/>
          <p:nvPr/>
        </p:nvSpPr>
        <p:spPr>
          <a:xfrm>
            <a:off x="7640807" y="3696291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25306" y="11810"/>
                </a:moveTo>
                <a:cubicBezTo>
                  <a:pt x="25306" y="5293"/>
                  <a:pt x="30600" y="0"/>
                  <a:pt x="37116" y="0"/>
                </a:cubicBezTo>
                <a:lnTo>
                  <a:pt x="42177" y="0"/>
                </a:lnTo>
                <a:cubicBezTo>
                  <a:pt x="45910" y="0"/>
                  <a:pt x="48925" y="3016"/>
                  <a:pt x="48925" y="6748"/>
                </a:cubicBezTo>
                <a:lnTo>
                  <a:pt x="48925" y="101225"/>
                </a:lnTo>
                <a:cubicBezTo>
                  <a:pt x="48925" y="104958"/>
                  <a:pt x="45910" y="107973"/>
                  <a:pt x="42177" y="107973"/>
                </a:cubicBezTo>
                <a:lnTo>
                  <a:pt x="35429" y="107973"/>
                </a:lnTo>
                <a:cubicBezTo>
                  <a:pt x="29144" y="107973"/>
                  <a:pt x="23851" y="103671"/>
                  <a:pt x="22354" y="97851"/>
                </a:cubicBezTo>
                <a:cubicBezTo>
                  <a:pt x="22206" y="97851"/>
                  <a:pt x="22080" y="97851"/>
                  <a:pt x="21932" y="97851"/>
                </a:cubicBezTo>
                <a:cubicBezTo>
                  <a:pt x="12611" y="97851"/>
                  <a:pt x="5061" y="90301"/>
                  <a:pt x="5061" y="80980"/>
                </a:cubicBezTo>
                <a:cubicBezTo>
                  <a:pt x="5061" y="77184"/>
                  <a:pt x="6327" y="73683"/>
                  <a:pt x="8435" y="70858"/>
                </a:cubicBezTo>
                <a:cubicBezTo>
                  <a:pt x="4344" y="67779"/>
                  <a:pt x="1687" y="62886"/>
                  <a:pt x="1687" y="57361"/>
                </a:cubicBezTo>
                <a:cubicBezTo>
                  <a:pt x="1687" y="50845"/>
                  <a:pt x="5399" y="45172"/>
                  <a:pt x="10797" y="42367"/>
                </a:cubicBezTo>
                <a:cubicBezTo>
                  <a:pt x="9300" y="39836"/>
                  <a:pt x="8435" y="36884"/>
                  <a:pt x="8435" y="33742"/>
                </a:cubicBezTo>
                <a:cubicBezTo>
                  <a:pt x="8435" y="24421"/>
                  <a:pt x="15985" y="16871"/>
                  <a:pt x="25306" y="16871"/>
                </a:cubicBezTo>
                <a:lnTo>
                  <a:pt x="25306" y="11810"/>
                </a:lnTo>
                <a:close/>
                <a:moveTo>
                  <a:pt x="82667" y="11810"/>
                </a:moveTo>
                <a:lnTo>
                  <a:pt x="82667" y="16871"/>
                </a:lnTo>
                <a:cubicBezTo>
                  <a:pt x="91988" y="16871"/>
                  <a:pt x="99538" y="24421"/>
                  <a:pt x="99538" y="33742"/>
                </a:cubicBezTo>
                <a:cubicBezTo>
                  <a:pt x="99538" y="36905"/>
                  <a:pt x="98673" y="39857"/>
                  <a:pt x="97176" y="42367"/>
                </a:cubicBezTo>
                <a:cubicBezTo>
                  <a:pt x="102596" y="45172"/>
                  <a:pt x="106286" y="50823"/>
                  <a:pt x="106286" y="57361"/>
                </a:cubicBezTo>
                <a:cubicBezTo>
                  <a:pt x="106286" y="62886"/>
                  <a:pt x="103629" y="67779"/>
                  <a:pt x="99538" y="70858"/>
                </a:cubicBezTo>
                <a:cubicBezTo>
                  <a:pt x="101647" y="73683"/>
                  <a:pt x="102912" y="77184"/>
                  <a:pt x="102912" y="80980"/>
                </a:cubicBezTo>
                <a:cubicBezTo>
                  <a:pt x="102912" y="90301"/>
                  <a:pt x="95362" y="97851"/>
                  <a:pt x="86041" y="97851"/>
                </a:cubicBezTo>
                <a:cubicBezTo>
                  <a:pt x="85894" y="97851"/>
                  <a:pt x="85767" y="97851"/>
                  <a:pt x="85620" y="97851"/>
                </a:cubicBezTo>
                <a:cubicBezTo>
                  <a:pt x="84122" y="103671"/>
                  <a:pt x="78829" y="107973"/>
                  <a:pt x="72545" y="107973"/>
                </a:cubicBezTo>
                <a:lnTo>
                  <a:pt x="65796" y="107973"/>
                </a:lnTo>
                <a:cubicBezTo>
                  <a:pt x="62064" y="107973"/>
                  <a:pt x="59048" y="104958"/>
                  <a:pt x="59048" y="101225"/>
                </a:cubicBezTo>
                <a:lnTo>
                  <a:pt x="59048" y="6748"/>
                </a:lnTo>
                <a:cubicBezTo>
                  <a:pt x="59048" y="3016"/>
                  <a:pt x="62064" y="0"/>
                  <a:pt x="65796" y="0"/>
                </a:cubicBezTo>
                <a:lnTo>
                  <a:pt x="70858" y="0"/>
                </a:lnTo>
                <a:cubicBezTo>
                  <a:pt x="77374" y="0"/>
                  <a:pt x="82667" y="5293"/>
                  <a:pt x="82667" y="1181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9" name="Text 47"/>
          <p:cNvSpPr/>
          <p:nvPr/>
        </p:nvSpPr>
        <p:spPr>
          <a:xfrm>
            <a:off x="7874750" y="3642304"/>
            <a:ext cx="69283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Modelo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74750" y="3894242"/>
            <a:ext cx="376107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Prophet forecast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519771" y="4254154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2" name="Shape 50"/>
          <p:cNvSpPr/>
          <p:nvPr/>
        </p:nvSpPr>
        <p:spPr>
          <a:xfrm>
            <a:off x="7478847" y="4488096"/>
            <a:ext cx="4201966" cy="647841"/>
          </a:xfrm>
          <a:custGeom>
            <a:avLst/>
            <a:gdLst/>
            <a:ahLst/>
            <a:cxnLst/>
            <a:rect l="l" t="t" r="r" b="b"/>
            <a:pathLst>
              <a:path w="4201966" h="647841">
                <a:moveTo>
                  <a:pt x="71982" y="0"/>
                </a:moveTo>
                <a:lnTo>
                  <a:pt x="4129984" y="0"/>
                </a:lnTo>
                <a:cubicBezTo>
                  <a:pt x="4169739" y="0"/>
                  <a:pt x="4201966" y="32227"/>
                  <a:pt x="4201966" y="71982"/>
                </a:cubicBezTo>
                <a:lnTo>
                  <a:pt x="4201966" y="575859"/>
                </a:lnTo>
                <a:cubicBezTo>
                  <a:pt x="4201966" y="615613"/>
                  <a:pt x="4169739" y="647841"/>
                  <a:pt x="4129984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86821" y="4596070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35992" y="0"/>
                </a:moveTo>
                <a:lnTo>
                  <a:pt x="179955" y="0"/>
                </a:lnTo>
                <a:cubicBezTo>
                  <a:pt x="199819" y="0"/>
                  <a:pt x="215947" y="16127"/>
                  <a:pt x="215947" y="35992"/>
                </a:cubicBezTo>
                <a:lnTo>
                  <a:pt x="215947" y="179955"/>
                </a:lnTo>
                <a:cubicBezTo>
                  <a:pt x="215947" y="199819"/>
                  <a:pt x="199819" y="215947"/>
                  <a:pt x="179955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4" name="Shape 52"/>
          <p:cNvSpPr/>
          <p:nvPr/>
        </p:nvSpPr>
        <p:spPr>
          <a:xfrm>
            <a:off x="7640807" y="4650056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6748" y="13497"/>
                </a:moveTo>
                <a:cubicBezTo>
                  <a:pt x="3016" y="13497"/>
                  <a:pt x="0" y="16512"/>
                  <a:pt x="0" y="20245"/>
                </a:cubicBezTo>
                <a:cubicBezTo>
                  <a:pt x="0" y="23978"/>
                  <a:pt x="3016" y="26993"/>
                  <a:pt x="6748" y="26993"/>
                </a:cubicBezTo>
                <a:lnTo>
                  <a:pt x="25032" y="26993"/>
                </a:lnTo>
                <a:cubicBezTo>
                  <a:pt x="27626" y="32961"/>
                  <a:pt x="33573" y="37116"/>
                  <a:pt x="40490" y="37116"/>
                </a:cubicBezTo>
                <a:cubicBezTo>
                  <a:pt x="47407" y="37116"/>
                  <a:pt x="53354" y="32961"/>
                  <a:pt x="55948" y="26993"/>
                </a:cubicBezTo>
                <a:lnTo>
                  <a:pt x="101225" y="26993"/>
                </a:lnTo>
                <a:cubicBezTo>
                  <a:pt x="104958" y="26993"/>
                  <a:pt x="107973" y="23978"/>
                  <a:pt x="107973" y="20245"/>
                </a:cubicBezTo>
                <a:cubicBezTo>
                  <a:pt x="107973" y="16512"/>
                  <a:pt x="104958" y="13497"/>
                  <a:pt x="101225" y="13497"/>
                </a:cubicBezTo>
                <a:lnTo>
                  <a:pt x="55948" y="13497"/>
                </a:lnTo>
                <a:cubicBezTo>
                  <a:pt x="53354" y="7529"/>
                  <a:pt x="47407" y="3374"/>
                  <a:pt x="40490" y="3374"/>
                </a:cubicBezTo>
                <a:cubicBezTo>
                  <a:pt x="33573" y="3374"/>
                  <a:pt x="27626" y="7529"/>
                  <a:pt x="25032" y="13497"/>
                </a:cubicBezTo>
                <a:lnTo>
                  <a:pt x="6748" y="13497"/>
                </a:lnTo>
                <a:close/>
                <a:moveTo>
                  <a:pt x="6748" y="47238"/>
                </a:moveTo>
                <a:cubicBezTo>
                  <a:pt x="3016" y="47238"/>
                  <a:pt x="0" y="50254"/>
                  <a:pt x="0" y="53987"/>
                </a:cubicBezTo>
                <a:cubicBezTo>
                  <a:pt x="0" y="57719"/>
                  <a:pt x="3016" y="60735"/>
                  <a:pt x="6748" y="60735"/>
                </a:cubicBezTo>
                <a:lnTo>
                  <a:pt x="58774" y="60735"/>
                </a:lnTo>
                <a:cubicBezTo>
                  <a:pt x="61368" y="66703"/>
                  <a:pt x="67315" y="70858"/>
                  <a:pt x="74232" y="70858"/>
                </a:cubicBezTo>
                <a:cubicBezTo>
                  <a:pt x="81149" y="70858"/>
                  <a:pt x="87096" y="66703"/>
                  <a:pt x="89690" y="60735"/>
                </a:cubicBezTo>
                <a:lnTo>
                  <a:pt x="101225" y="60735"/>
                </a:lnTo>
                <a:cubicBezTo>
                  <a:pt x="104958" y="60735"/>
                  <a:pt x="107973" y="57719"/>
                  <a:pt x="107973" y="53987"/>
                </a:cubicBezTo>
                <a:cubicBezTo>
                  <a:pt x="107973" y="50254"/>
                  <a:pt x="104958" y="47238"/>
                  <a:pt x="101225" y="47238"/>
                </a:cubicBezTo>
                <a:lnTo>
                  <a:pt x="89690" y="47238"/>
                </a:lnTo>
                <a:cubicBezTo>
                  <a:pt x="87096" y="41270"/>
                  <a:pt x="81149" y="37116"/>
                  <a:pt x="74232" y="37116"/>
                </a:cubicBezTo>
                <a:cubicBezTo>
                  <a:pt x="67315" y="37116"/>
                  <a:pt x="61368" y="41270"/>
                  <a:pt x="58774" y="47238"/>
                </a:cubicBezTo>
                <a:lnTo>
                  <a:pt x="6748" y="47238"/>
                </a:lnTo>
                <a:close/>
                <a:moveTo>
                  <a:pt x="6748" y="80980"/>
                </a:moveTo>
                <a:cubicBezTo>
                  <a:pt x="3016" y="80980"/>
                  <a:pt x="0" y="83996"/>
                  <a:pt x="0" y="87728"/>
                </a:cubicBezTo>
                <a:cubicBezTo>
                  <a:pt x="0" y="91461"/>
                  <a:pt x="3016" y="94477"/>
                  <a:pt x="6748" y="94477"/>
                </a:cubicBezTo>
                <a:lnTo>
                  <a:pt x="18284" y="94477"/>
                </a:lnTo>
                <a:cubicBezTo>
                  <a:pt x="20878" y="100445"/>
                  <a:pt x="26825" y="104599"/>
                  <a:pt x="33742" y="104599"/>
                </a:cubicBezTo>
                <a:cubicBezTo>
                  <a:pt x="40659" y="104599"/>
                  <a:pt x="46606" y="100445"/>
                  <a:pt x="49200" y="94477"/>
                </a:cubicBezTo>
                <a:lnTo>
                  <a:pt x="101225" y="94477"/>
                </a:lnTo>
                <a:cubicBezTo>
                  <a:pt x="104958" y="94477"/>
                  <a:pt x="107973" y="91461"/>
                  <a:pt x="107973" y="87728"/>
                </a:cubicBezTo>
                <a:cubicBezTo>
                  <a:pt x="107973" y="83996"/>
                  <a:pt x="104958" y="80980"/>
                  <a:pt x="101225" y="80980"/>
                </a:cubicBezTo>
                <a:lnTo>
                  <a:pt x="49200" y="80980"/>
                </a:lnTo>
                <a:cubicBezTo>
                  <a:pt x="46606" y="75012"/>
                  <a:pt x="40659" y="70858"/>
                  <a:pt x="33742" y="70858"/>
                </a:cubicBezTo>
                <a:cubicBezTo>
                  <a:pt x="26825" y="70858"/>
                  <a:pt x="20878" y="75012"/>
                  <a:pt x="18284" y="80980"/>
                </a:cubicBezTo>
                <a:lnTo>
                  <a:pt x="6748" y="8098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7874750" y="4596070"/>
            <a:ext cx="89977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Simulación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874750" y="4848008"/>
            <a:ext cx="376107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Escenarios interactivos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519771" y="5207919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53586" y="158987"/>
                </a:moveTo>
                <a:cubicBezTo>
                  <a:pt x="57540" y="162941"/>
                  <a:pt x="63962" y="162941"/>
                  <a:pt x="67916" y="158987"/>
                </a:cubicBezTo>
                <a:lnTo>
                  <a:pt x="118528" y="108374"/>
                </a:lnTo>
                <a:cubicBezTo>
                  <a:pt x="122482" y="104420"/>
                  <a:pt x="122482" y="97999"/>
                  <a:pt x="118528" y="94044"/>
                </a:cubicBezTo>
                <a:cubicBezTo>
                  <a:pt x="114574" y="90090"/>
                  <a:pt x="108153" y="90090"/>
                  <a:pt x="104199" y="94044"/>
                </a:cubicBezTo>
                <a:lnTo>
                  <a:pt x="70858" y="127385"/>
                </a:lnTo>
                <a:lnTo>
                  <a:pt x="70858" y="10123"/>
                </a:lnTo>
                <a:cubicBezTo>
                  <a:pt x="70858" y="4523"/>
                  <a:pt x="66334" y="0"/>
                  <a:pt x="60735" y="0"/>
                </a:cubicBezTo>
                <a:cubicBezTo>
                  <a:pt x="55136" y="0"/>
                  <a:pt x="50613" y="4523"/>
                  <a:pt x="50613" y="10123"/>
                </a:cubicBezTo>
                <a:lnTo>
                  <a:pt x="50613" y="127385"/>
                </a:lnTo>
                <a:lnTo>
                  <a:pt x="17272" y="94044"/>
                </a:lnTo>
                <a:cubicBezTo>
                  <a:pt x="13317" y="90090"/>
                  <a:pt x="6896" y="90090"/>
                  <a:pt x="2942" y="94044"/>
                </a:cubicBezTo>
                <a:cubicBezTo>
                  <a:pt x="-1012" y="97999"/>
                  <a:pt x="-1012" y="104420"/>
                  <a:pt x="2942" y="108374"/>
                </a:cubicBezTo>
                <a:lnTo>
                  <a:pt x="53554" y="158987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8" name="Shape 56"/>
          <p:cNvSpPr/>
          <p:nvPr/>
        </p:nvSpPr>
        <p:spPr>
          <a:xfrm>
            <a:off x="7486045" y="5449060"/>
            <a:ext cx="4180371" cy="662237"/>
          </a:xfrm>
          <a:custGeom>
            <a:avLst/>
            <a:gdLst/>
            <a:ahLst/>
            <a:cxnLst/>
            <a:rect l="l" t="t" r="r" b="b"/>
            <a:pathLst>
              <a:path w="4180371" h="662237">
                <a:moveTo>
                  <a:pt x="71985" y="0"/>
                </a:moveTo>
                <a:lnTo>
                  <a:pt x="4108386" y="0"/>
                </a:lnTo>
                <a:cubicBezTo>
                  <a:pt x="4148143" y="0"/>
                  <a:pt x="4180371" y="32229"/>
                  <a:pt x="4180371" y="71985"/>
                </a:cubicBezTo>
                <a:lnTo>
                  <a:pt x="4180371" y="590252"/>
                </a:lnTo>
                <a:cubicBezTo>
                  <a:pt x="4180371" y="630008"/>
                  <a:pt x="4148143" y="662237"/>
                  <a:pt x="4108386" y="662237"/>
                </a:cubicBezTo>
                <a:lnTo>
                  <a:pt x="71985" y="662237"/>
                </a:lnTo>
                <a:cubicBezTo>
                  <a:pt x="32229" y="662237"/>
                  <a:pt x="0" y="630008"/>
                  <a:pt x="0" y="590252"/>
                </a:cubicBezTo>
                <a:lnTo>
                  <a:pt x="0" y="71985"/>
                </a:lnTo>
                <a:cubicBezTo>
                  <a:pt x="0" y="32255"/>
                  <a:pt x="32255" y="0"/>
                  <a:pt x="719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 w="20320">
            <a:solidFill>
              <a:srgbClr val="F7C8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01217" y="5564232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35992" y="0"/>
                </a:moveTo>
                <a:lnTo>
                  <a:pt x="179955" y="0"/>
                </a:lnTo>
                <a:cubicBezTo>
                  <a:pt x="199819" y="0"/>
                  <a:pt x="215947" y="16127"/>
                  <a:pt x="215947" y="35992"/>
                </a:cubicBezTo>
                <a:lnTo>
                  <a:pt x="215947" y="179955"/>
                </a:lnTo>
                <a:cubicBezTo>
                  <a:pt x="215947" y="199819"/>
                  <a:pt x="199819" y="215947"/>
                  <a:pt x="179955" y="215947"/>
                </a:cubicBezTo>
                <a:lnTo>
                  <a:pt x="35992" y="215947"/>
                </a:lnTo>
                <a:cubicBezTo>
                  <a:pt x="16127" y="215947"/>
                  <a:pt x="0" y="199819"/>
                  <a:pt x="0" y="179955"/>
                </a:cubicBezTo>
                <a:lnTo>
                  <a:pt x="0" y="35992"/>
                </a:lnTo>
                <a:cubicBezTo>
                  <a:pt x="0" y="16127"/>
                  <a:pt x="16127" y="0"/>
                  <a:pt x="3599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0" name="Shape 58"/>
          <p:cNvSpPr/>
          <p:nvPr/>
        </p:nvSpPr>
        <p:spPr>
          <a:xfrm>
            <a:off x="7655204" y="5618219"/>
            <a:ext cx="107973" cy="107973"/>
          </a:xfrm>
          <a:custGeom>
            <a:avLst/>
            <a:gdLst/>
            <a:ahLst/>
            <a:cxnLst/>
            <a:rect l="l" t="t" r="r" b="b"/>
            <a:pathLst>
              <a:path w="107973" h="107973">
                <a:moveTo>
                  <a:pt x="74211" y="59048"/>
                </a:moveTo>
                <a:lnTo>
                  <a:pt x="33953" y="59048"/>
                </a:lnTo>
                <a:cubicBezTo>
                  <a:pt x="34564" y="72650"/>
                  <a:pt x="37580" y="85177"/>
                  <a:pt x="41861" y="94350"/>
                </a:cubicBezTo>
                <a:cubicBezTo>
                  <a:pt x="44265" y="99517"/>
                  <a:pt x="46859" y="103165"/>
                  <a:pt x="49263" y="105401"/>
                </a:cubicBezTo>
                <a:cubicBezTo>
                  <a:pt x="51625" y="107615"/>
                  <a:pt x="53249" y="107973"/>
                  <a:pt x="54092" y="107973"/>
                </a:cubicBezTo>
                <a:cubicBezTo>
                  <a:pt x="54936" y="107973"/>
                  <a:pt x="56560" y="107615"/>
                  <a:pt x="58921" y="105401"/>
                </a:cubicBezTo>
                <a:cubicBezTo>
                  <a:pt x="61326" y="103165"/>
                  <a:pt x="63919" y="99496"/>
                  <a:pt x="66324" y="94350"/>
                </a:cubicBezTo>
                <a:cubicBezTo>
                  <a:pt x="70605" y="85177"/>
                  <a:pt x="73620" y="72650"/>
                  <a:pt x="74232" y="59048"/>
                </a:cubicBezTo>
                <a:close/>
                <a:moveTo>
                  <a:pt x="33931" y="48925"/>
                </a:moveTo>
                <a:lnTo>
                  <a:pt x="74190" y="48925"/>
                </a:lnTo>
                <a:cubicBezTo>
                  <a:pt x="73599" y="35323"/>
                  <a:pt x="70583" y="22797"/>
                  <a:pt x="66302" y="13623"/>
                </a:cubicBezTo>
                <a:cubicBezTo>
                  <a:pt x="63898" y="8478"/>
                  <a:pt x="61304" y="4808"/>
                  <a:pt x="58900" y="2573"/>
                </a:cubicBezTo>
                <a:cubicBezTo>
                  <a:pt x="56538" y="359"/>
                  <a:pt x="54915" y="0"/>
                  <a:pt x="54071" y="0"/>
                </a:cubicBezTo>
                <a:cubicBezTo>
                  <a:pt x="53228" y="0"/>
                  <a:pt x="51604" y="359"/>
                  <a:pt x="49242" y="2573"/>
                </a:cubicBezTo>
                <a:cubicBezTo>
                  <a:pt x="46838" y="4808"/>
                  <a:pt x="44244" y="8478"/>
                  <a:pt x="41840" y="13623"/>
                </a:cubicBezTo>
                <a:cubicBezTo>
                  <a:pt x="37559" y="22797"/>
                  <a:pt x="34543" y="35323"/>
                  <a:pt x="33931" y="48925"/>
                </a:cubicBezTo>
                <a:close/>
                <a:moveTo>
                  <a:pt x="23809" y="48925"/>
                </a:moveTo>
                <a:cubicBezTo>
                  <a:pt x="24547" y="30874"/>
                  <a:pt x="29208" y="14108"/>
                  <a:pt x="36019" y="3100"/>
                </a:cubicBezTo>
                <a:cubicBezTo>
                  <a:pt x="16597" y="9975"/>
                  <a:pt x="2299" y="27668"/>
                  <a:pt x="316" y="48925"/>
                </a:cubicBezTo>
                <a:lnTo>
                  <a:pt x="23809" y="48925"/>
                </a:lnTo>
                <a:close/>
                <a:moveTo>
                  <a:pt x="316" y="59048"/>
                </a:moveTo>
                <a:cubicBezTo>
                  <a:pt x="2299" y="80305"/>
                  <a:pt x="16597" y="97999"/>
                  <a:pt x="36019" y="104873"/>
                </a:cubicBezTo>
                <a:cubicBezTo>
                  <a:pt x="29208" y="93865"/>
                  <a:pt x="24547" y="77100"/>
                  <a:pt x="23809" y="59048"/>
                </a:cubicBezTo>
                <a:lnTo>
                  <a:pt x="316" y="59048"/>
                </a:lnTo>
                <a:close/>
                <a:moveTo>
                  <a:pt x="84333" y="59048"/>
                </a:moveTo>
                <a:cubicBezTo>
                  <a:pt x="83595" y="77100"/>
                  <a:pt x="78934" y="93865"/>
                  <a:pt x="72123" y="104873"/>
                </a:cubicBezTo>
                <a:cubicBezTo>
                  <a:pt x="91545" y="97977"/>
                  <a:pt x="105843" y="80305"/>
                  <a:pt x="107826" y="59048"/>
                </a:cubicBezTo>
                <a:lnTo>
                  <a:pt x="84333" y="59048"/>
                </a:lnTo>
                <a:close/>
                <a:moveTo>
                  <a:pt x="107826" y="48925"/>
                </a:moveTo>
                <a:cubicBezTo>
                  <a:pt x="105843" y="27668"/>
                  <a:pt x="91545" y="9975"/>
                  <a:pt x="72123" y="3100"/>
                </a:cubicBezTo>
                <a:cubicBezTo>
                  <a:pt x="78934" y="14108"/>
                  <a:pt x="83595" y="30874"/>
                  <a:pt x="84333" y="48925"/>
                </a:cubicBezTo>
                <a:lnTo>
                  <a:pt x="107826" y="48925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61" name="Text 59"/>
          <p:cNvSpPr/>
          <p:nvPr/>
        </p:nvSpPr>
        <p:spPr>
          <a:xfrm>
            <a:off x="7889147" y="5564232"/>
            <a:ext cx="86378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Aplicación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889147" y="5816170"/>
            <a:ext cx="372508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Cloud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59911" y="6457262"/>
            <a:ext cx="11472177" cy="439092"/>
          </a:xfrm>
          <a:custGeom>
            <a:avLst/>
            <a:gdLst/>
            <a:ahLst/>
            <a:cxnLst/>
            <a:rect l="l" t="t" r="r" b="b"/>
            <a:pathLst>
              <a:path w="11472177" h="439092">
                <a:moveTo>
                  <a:pt x="14396" y="0"/>
                </a:moveTo>
                <a:lnTo>
                  <a:pt x="11457781" y="0"/>
                </a:lnTo>
                <a:cubicBezTo>
                  <a:pt x="11465732" y="0"/>
                  <a:pt x="11472177" y="6446"/>
                  <a:pt x="11472177" y="14396"/>
                </a:cubicBezTo>
                <a:lnTo>
                  <a:pt x="11472177" y="367112"/>
                </a:lnTo>
                <a:cubicBezTo>
                  <a:pt x="11472177" y="406865"/>
                  <a:pt x="11439950" y="439092"/>
                  <a:pt x="11400197" y="439092"/>
                </a:cubicBezTo>
                <a:lnTo>
                  <a:pt x="71980" y="439092"/>
                </a:lnTo>
                <a:cubicBezTo>
                  <a:pt x="32227" y="439092"/>
                  <a:pt x="0" y="406865"/>
                  <a:pt x="0" y="367112"/>
                </a:cubicBezTo>
                <a:lnTo>
                  <a:pt x="0" y="14396"/>
                </a:lnTo>
                <a:cubicBezTo>
                  <a:pt x="0" y="6451"/>
                  <a:pt x="6451" y="0"/>
                  <a:pt x="14396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59911" y="6457262"/>
            <a:ext cx="11472177" cy="14396"/>
          </a:xfrm>
          <a:custGeom>
            <a:avLst/>
            <a:gdLst/>
            <a:ahLst/>
            <a:cxnLst/>
            <a:rect l="l" t="t" r="r" b="b"/>
            <a:pathLst>
              <a:path w="11472177" h="14396">
                <a:moveTo>
                  <a:pt x="14396" y="0"/>
                </a:moveTo>
                <a:lnTo>
                  <a:pt x="11457781" y="0"/>
                </a:lnTo>
                <a:cubicBezTo>
                  <a:pt x="11465732" y="0"/>
                  <a:pt x="11472177" y="6446"/>
                  <a:pt x="11472177" y="14396"/>
                </a:cubicBezTo>
                <a:lnTo>
                  <a:pt x="11472177" y="14396"/>
                </a:lnTo>
                <a:lnTo>
                  <a:pt x="0" y="14396"/>
                </a:lnTo>
                <a:lnTo>
                  <a:pt x="0" y="14396"/>
                </a:lnTo>
                <a:cubicBezTo>
                  <a:pt x="0" y="6451"/>
                  <a:pt x="6451" y="0"/>
                  <a:pt x="14396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5" name="Text 63"/>
          <p:cNvSpPr/>
          <p:nvPr/>
        </p:nvSpPr>
        <p:spPr>
          <a:xfrm>
            <a:off x="467885" y="6572432"/>
            <a:ext cx="4777824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clave:</a:t>
            </a:r>
            <a:pPr>
              <a:lnSpc>
                <a:spcPct val="130000"/>
              </a:lnSpc>
            </a:pPr>
            <a:r>
              <a:rPr lang="en-US" sz="1134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Notebook técnico → Herramienta ejecutiva accesible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940304" y="6608423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7" name="Text 65"/>
          <p:cNvSpPr/>
          <p:nvPr/>
        </p:nvSpPr>
        <p:spPr>
          <a:xfrm>
            <a:off x="10174246" y="6590428"/>
            <a:ext cx="161060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 de datos completo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55776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65271" y="560224"/>
            <a:ext cx="213645" cy="170916"/>
          </a:xfrm>
          <a:custGeom>
            <a:avLst/>
            <a:gdLst/>
            <a:ahLst/>
            <a:cxnLst/>
            <a:rect l="l" t="t" r="r" b="b"/>
            <a:pathLst>
              <a:path w="213645" h="170916">
                <a:moveTo>
                  <a:pt x="138836" y="70269"/>
                </a:moveTo>
                <a:cubicBezTo>
                  <a:pt x="142908" y="69168"/>
                  <a:pt x="147181" y="71104"/>
                  <a:pt x="149017" y="74876"/>
                </a:cubicBezTo>
                <a:lnTo>
                  <a:pt x="155226" y="87427"/>
                </a:lnTo>
                <a:cubicBezTo>
                  <a:pt x="158665" y="87895"/>
                  <a:pt x="162036" y="88830"/>
                  <a:pt x="165208" y="90131"/>
                </a:cubicBezTo>
                <a:lnTo>
                  <a:pt x="176891" y="82353"/>
                </a:lnTo>
                <a:cubicBezTo>
                  <a:pt x="180396" y="80017"/>
                  <a:pt x="185036" y="80484"/>
                  <a:pt x="188007" y="83455"/>
                </a:cubicBezTo>
                <a:lnTo>
                  <a:pt x="194417" y="89864"/>
                </a:lnTo>
                <a:cubicBezTo>
                  <a:pt x="197388" y="92835"/>
                  <a:pt x="197855" y="97509"/>
                  <a:pt x="195518" y="100981"/>
                </a:cubicBezTo>
                <a:lnTo>
                  <a:pt x="187740" y="112631"/>
                </a:lnTo>
                <a:cubicBezTo>
                  <a:pt x="188375" y="114200"/>
                  <a:pt x="188942" y="115836"/>
                  <a:pt x="189410" y="117538"/>
                </a:cubicBezTo>
                <a:cubicBezTo>
                  <a:pt x="189877" y="119241"/>
                  <a:pt x="190177" y="120910"/>
                  <a:pt x="190411" y="122612"/>
                </a:cubicBezTo>
                <a:lnTo>
                  <a:pt x="202996" y="128821"/>
                </a:lnTo>
                <a:cubicBezTo>
                  <a:pt x="206768" y="130691"/>
                  <a:pt x="208704" y="134963"/>
                  <a:pt x="207603" y="139003"/>
                </a:cubicBezTo>
                <a:lnTo>
                  <a:pt x="205266" y="147749"/>
                </a:lnTo>
                <a:cubicBezTo>
                  <a:pt x="204164" y="151788"/>
                  <a:pt x="200392" y="154525"/>
                  <a:pt x="196186" y="154258"/>
                </a:cubicBezTo>
                <a:lnTo>
                  <a:pt x="182166" y="153357"/>
                </a:lnTo>
                <a:cubicBezTo>
                  <a:pt x="180063" y="156061"/>
                  <a:pt x="177626" y="158565"/>
                  <a:pt x="174855" y="160701"/>
                </a:cubicBezTo>
                <a:lnTo>
                  <a:pt x="175756" y="174688"/>
                </a:lnTo>
                <a:cubicBezTo>
                  <a:pt x="176023" y="178894"/>
                  <a:pt x="173286" y="182700"/>
                  <a:pt x="169247" y="183768"/>
                </a:cubicBezTo>
                <a:lnTo>
                  <a:pt x="160501" y="186105"/>
                </a:lnTo>
                <a:cubicBezTo>
                  <a:pt x="156428" y="187206"/>
                  <a:pt x="152189" y="185270"/>
                  <a:pt x="150319" y="181498"/>
                </a:cubicBezTo>
                <a:lnTo>
                  <a:pt x="144110" y="168946"/>
                </a:lnTo>
                <a:cubicBezTo>
                  <a:pt x="140672" y="168479"/>
                  <a:pt x="137300" y="167544"/>
                  <a:pt x="134129" y="166242"/>
                </a:cubicBezTo>
                <a:lnTo>
                  <a:pt x="122445" y="174020"/>
                </a:lnTo>
                <a:cubicBezTo>
                  <a:pt x="118940" y="176357"/>
                  <a:pt x="114300" y="175890"/>
                  <a:pt x="111329" y="172919"/>
                </a:cubicBezTo>
                <a:lnTo>
                  <a:pt x="104920" y="166509"/>
                </a:lnTo>
                <a:cubicBezTo>
                  <a:pt x="101949" y="163538"/>
                  <a:pt x="101481" y="158898"/>
                  <a:pt x="103818" y="155393"/>
                </a:cubicBezTo>
                <a:lnTo>
                  <a:pt x="111596" y="143710"/>
                </a:lnTo>
                <a:cubicBezTo>
                  <a:pt x="110962" y="142141"/>
                  <a:pt x="110394" y="140505"/>
                  <a:pt x="109927" y="138802"/>
                </a:cubicBezTo>
                <a:cubicBezTo>
                  <a:pt x="109460" y="137100"/>
                  <a:pt x="109159" y="135397"/>
                  <a:pt x="108925" y="133728"/>
                </a:cubicBezTo>
                <a:lnTo>
                  <a:pt x="96340" y="127519"/>
                </a:lnTo>
                <a:cubicBezTo>
                  <a:pt x="92568" y="125650"/>
                  <a:pt x="90666" y="121377"/>
                  <a:pt x="91734" y="117338"/>
                </a:cubicBezTo>
                <a:lnTo>
                  <a:pt x="94071" y="108592"/>
                </a:lnTo>
                <a:cubicBezTo>
                  <a:pt x="95172" y="104552"/>
                  <a:pt x="98944" y="101815"/>
                  <a:pt x="103150" y="102082"/>
                </a:cubicBezTo>
                <a:lnTo>
                  <a:pt x="117137" y="102983"/>
                </a:lnTo>
                <a:cubicBezTo>
                  <a:pt x="119241" y="100280"/>
                  <a:pt x="121677" y="97776"/>
                  <a:pt x="124448" y="95639"/>
                </a:cubicBezTo>
                <a:lnTo>
                  <a:pt x="123547" y="81686"/>
                </a:lnTo>
                <a:cubicBezTo>
                  <a:pt x="123280" y="77480"/>
                  <a:pt x="126017" y="73674"/>
                  <a:pt x="130056" y="72606"/>
                </a:cubicBezTo>
                <a:lnTo>
                  <a:pt x="138802" y="70269"/>
                </a:lnTo>
                <a:close/>
                <a:moveTo>
                  <a:pt x="149685" y="113499"/>
                </a:moveTo>
                <a:cubicBezTo>
                  <a:pt x="141578" y="113508"/>
                  <a:pt x="135004" y="120097"/>
                  <a:pt x="135014" y="128204"/>
                </a:cubicBezTo>
                <a:cubicBezTo>
                  <a:pt x="135023" y="136310"/>
                  <a:pt x="141612" y="142884"/>
                  <a:pt x="149718" y="142875"/>
                </a:cubicBezTo>
                <a:cubicBezTo>
                  <a:pt x="157825" y="142866"/>
                  <a:pt x="164399" y="136277"/>
                  <a:pt x="164390" y="128170"/>
                </a:cubicBezTo>
                <a:cubicBezTo>
                  <a:pt x="164380" y="120064"/>
                  <a:pt x="157792" y="113490"/>
                  <a:pt x="149685" y="113499"/>
                </a:cubicBezTo>
                <a:close/>
                <a:moveTo>
                  <a:pt x="75076" y="-15189"/>
                </a:moveTo>
                <a:lnTo>
                  <a:pt x="83822" y="-12852"/>
                </a:lnTo>
                <a:cubicBezTo>
                  <a:pt x="87861" y="-11750"/>
                  <a:pt x="90599" y="-7945"/>
                  <a:pt x="90332" y="-3772"/>
                </a:cubicBezTo>
                <a:lnTo>
                  <a:pt x="89430" y="10182"/>
                </a:lnTo>
                <a:cubicBezTo>
                  <a:pt x="92201" y="12318"/>
                  <a:pt x="94638" y="14788"/>
                  <a:pt x="96741" y="17526"/>
                </a:cubicBezTo>
                <a:lnTo>
                  <a:pt x="110762" y="16624"/>
                </a:lnTo>
                <a:cubicBezTo>
                  <a:pt x="114934" y="16357"/>
                  <a:pt x="118740" y="19095"/>
                  <a:pt x="119841" y="23134"/>
                </a:cubicBezTo>
                <a:lnTo>
                  <a:pt x="122178" y="31880"/>
                </a:lnTo>
                <a:cubicBezTo>
                  <a:pt x="123246" y="35919"/>
                  <a:pt x="121344" y="40192"/>
                  <a:pt x="117571" y="42061"/>
                </a:cubicBezTo>
                <a:lnTo>
                  <a:pt x="104986" y="48270"/>
                </a:lnTo>
                <a:cubicBezTo>
                  <a:pt x="104753" y="49973"/>
                  <a:pt x="104419" y="51675"/>
                  <a:pt x="103985" y="53344"/>
                </a:cubicBezTo>
                <a:cubicBezTo>
                  <a:pt x="103551" y="55014"/>
                  <a:pt x="102950" y="56683"/>
                  <a:pt x="102316" y="58252"/>
                </a:cubicBezTo>
                <a:lnTo>
                  <a:pt x="110094" y="69935"/>
                </a:lnTo>
                <a:cubicBezTo>
                  <a:pt x="112431" y="73440"/>
                  <a:pt x="111963" y="78081"/>
                  <a:pt x="108992" y="81052"/>
                </a:cubicBezTo>
                <a:lnTo>
                  <a:pt x="102583" y="87461"/>
                </a:lnTo>
                <a:cubicBezTo>
                  <a:pt x="99612" y="90432"/>
                  <a:pt x="94972" y="90899"/>
                  <a:pt x="91467" y="88562"/>
                </a:cubicBezTo>
                <a:lnTo>
                  <a:pt x="79783" y="80784"/>
                </a:lnTo>
                <a:cubicBezTo>
                  <a:pt x="76612" y="82086"/>
                  <a:pt x="73240" y="83021"/>
                  <a:pt x="69802" y="83488"/>
                </a:cubicBezTo>
                <a:lnTo>
                  <a:pt x="63593" y="96040"/>
                </a:lnTo>
                <a:cubicBezTo>
                  <a:pt x="61723" y="99812"/>
                  <a:pt x="57450" y="101715"/>
                  <a:pt x="53411" y="100647"/>
                </a:cubicBezTo>
                <a:lnTo>
                  <a:pt x="44665" y="98310"/>
                </a:lnTo>
                <a:cubicBezTo>
                  <a:pt x="40593" y="97208"/>
                  <a:pt x="37889" y="93403"/>
                  <a:pt x="38156" y="89230"/>
                </a:cubicBezTo>
                <a:lnTo>
                  <a:pt x="39057" y="75243"/>
                </a:lnTo>
                <a:cubicBezTo>
                  <a:pt x="36286" y="73107"/>
                  <a:pt x="33849" y="70636"/>
                  <a:pt x="31746" y="67899"/>
                </a:cubicBezTo>
                <a:lnTo>
                  <a:pt x="17726" y="68800"/>
                </a:lnTo>
                <a:cubicBezTo>
                  <a:pt x="13553" y="69067"/>
                  <a:pt x="9748" y="66330"/>
                  <a:pt x="8646" y="62291"/>
                </a:cubicBezTo>
                <a:lnTo>
                  <a:pt x="6309" y="53545"/>
                </a:lnTo>
                <a:cubicBezTo>
                  <a:pt x="5241" y="49506"/>
                  <a:pt x="7144" y="45233"/>
                  <a:pt x="10916" y="43363"/>
                </a:cubicBezTo>
                <a:lnTo>
                  <a:pt x="23501" y="37154"/>
                </a:lnTo>
                <a:cubicBezTo>
                  <a:pt x="23735" y="35452"/>
                  <a:pt x="24068" y="33783"/>
                  <a:pt x="24502" y="32080"/>
                </a:cubicBezTo>
                <a:cubicBezTo>
                  <a:pt x="24970" y="30378"/>
                  <a:pt x="25504" y="28742"/>
                  <a:pt x="26171" y="27173"/>
                </a:cubicBezTo>
                <a:lnTo>
                  <a:pt x="18393" y="15523"/>
                </a:lnTo>
                <a:cubicBezTo>
                  <a:pt x="16057" y="12018"/>
                  <a:pt x="16524" y="7377"/>
                  <a:pt x="19495" y="4406"/>
                </a:cubicBezTo>
                <a:lnTo>
                  <a:pt x="25904" y="-2003"/>
                </a:lnTo>
                <a:cubicBezTo>
                  <a:pt x="28875" y="-4974"/>
                  <a:pt x="33516" y="-5441"/>
                  <a:pt x="37021" y="-3105"/>
                </a:cubicBezTo>
                <a:lnTo>
                  <a:pt x="48704" y="4673"/>
                </a:lnTo>
                <a:cubicBezTo>
                  <a:pt x="51876" y="3372"/>
                  <a:pt x="55247" y="2437"/>
                  <a:pt x="58686" y="1970"/>
                </a:cubicBezTo>
                <a:lnTo>
                  <a:pt x="64895" y="-10582"/>
                </a:lnTo>
                <a:cubicBezTo>
                  <a:pt x="66764" y="-14354"/>
                  <a:pt x="71004" y="-16257"/>
                  <a:pt x="75076" y="-15189"/>
                </a:cubicBezTo>
                <a:close/>
                <a:moveTo>
                  <a:pt x="64227" y="28041"/>
                </a:moveTo>
                <a:cubicBezTo>
                  <a:pt x="56120" y="28041"/>
                  <a:pt x="49539" y="34622"/>
                  <a:pt x="49539" y="42729"/>
                </a:cubicBezTo>
                <a:cubicBezTo>
                  <a:pt x="49539" y="50836"/>
                  <a:pt x="56120" y="57417"/>
                  <a:pt x="64227" y="57417"/>
                </a:cubicBezTo>
                <a:cubicBezTo>
                  <a:pt x="72334" y="57417"/>
                  <a:pt x="78915" y="50836"/>
                  <a:pt x="78915" y="42729"/>
                </a:cubicBezTo>
                <a:cubicBezTo>
                  <a:pt x="78915" y="34622"/>
                  <a:pt x="72334" y="28041"/>
                  <a:pt x="64227" y="2804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873570" y="379813"/>
            <a:ext cx="400702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spc="52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3570" y="569720"/>
            <a:ext cx="4082991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Datos y Preparación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813" y="987514"/>
            <a:ext cx="759626" cy="37981"/>
          </a:xfrm>
          <a:custGeom>
            <a:avLst/>
            <a:gdLst/>
            <a:ahLst/>
            <a:cxnLst/>
            <a:rect l="l" t="t" r="r" b="b"/>
            <a:pathLst>
              <a:path w="759626" h="37981">
                <a:moveTo>
                  <a:pt x="0" y="0"/>
                </a:moveTo>
                <a:lnTo>
                  <a:pt x="759626" y="0"/>
                </a:lnTo>
                <a:lnTo>
                  <a:pt x="759626" y="37981"/>
                </a:lnTo>
                <a:lnTo>
                  <a:pt x="0" y="37981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98804" y="1177421"/>
            <a:ext cx="5621234" cy="1709159"/>
          </a:xfrm>
          <a:custGeom>
            <a:avLst/>
            <a:gdLst/>
            <a:ahLst/>
            <a:cxnLst/>
            <a:rect l="l" t="t" r="r" b="b"/>
            <a:pathLst>
              <a:path w="5621234" h="1709159">
                <a:moveTo>
                  <a:pt x="37981" y="0"/>
                </a:moveTo>
                <a:lnTo>
                  <a:pt x="5545279" y="0"/>
                </a:lnTo>
                <a:cubicBezTo>
                  <a:pt x="5587227" y="0"/>
                  <a:pt x="5621234" y="34006"/>
                  <a:pt x="5621234" y="75955"/>
                </a:cubicBezTo>
                <a:lnTo>
                  <a:pt x="5621234" y="1633204"/>
                </a:lnTo>
                <a:cubicBezTo>
                  <a:pt x="5621234" y="1675153"/>
                  <a:pt x="5587227" y="1709159"/>
                  <a:pt x="5545279" y="1709159"/>
                </a:cubicBezTo>
                <a:lnTo>
                  <a:pt x="37981" y="1709159"/>
                </a:lnTo>
                <a:cubicBezTo>
                  <a:pt x="17005" y="1709159"/>
                  <a:pt x="0" y="1692154"/>
                  <a:pt x="0" y="1671178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8804" y="1177421"/>
            <a:ext cx="37981" cy="1709159"/>
          </a:xfrm>
          <a:custGeom>
            <a:avLst/>
            <a:gdLst/>
            <a:ahLst/>
            <a:cxnLst/>
            <a:rect l="l" t="t" r="r" b="b"/>
            <a:pathLst>
              <a:path w="37981" h="1709159">
                <a:moveTo>
                  <a:pt x="37981" y="0"/>
                </a:moveTo>
                <a:lnTo>
                  <a:pt x="37981" y="0"/>
                </a:lnTo>
                <a:lnTo>
                  <a:pt x="37981" y="1709159"/>
                </a:lnTo>
                <a:lnTo>
                  <a:pt x="37981" y="1709159"/>
                </a:lnTo>
                <a:cubicBezTo>
                  <a:pt x="17005" y="1709159"/>
                  <a:pt x="0" y="1692154"/>
                  <a:pt x="0" y="1671178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Shape 7"/>
          <p:cNvSpPr/>
          <p:nvPr/>
        </p:nvSpPr>
        <p:spPr>
          <a:xfrm>
            <a:off x="531738" y="1291364"/>
            <a:ext cx="303850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151925" y="0"/>
                </a:moveTo>
                <a:lnTo>
                  <a:pt x="151925" y="0"/>
                </a:lnTo>
                <a:cubicBezTo>
                  <a:pt x="235775" y="0"/>
                  <a:pt x="303850" y="68075"/>
                  <a:pt x="303850" y="151925"/>
                </a:cubicBezTo>
                <a:lnTo>
                  <a:pt x="303850" y="151925"/>
                </a:lnTo>
                <a:cubicBezTo>
                  <a:pt x="303850" y="235775"/>
                  <a:pt x="235775" y="303850"/>
                  <a:pt x="151925" y="303850"/>
                </a:cubicBezTo>
                <a:lnTo>
                  <a:pt x="151925" y="303850"/>
                </a:lnTo>
                <a:cubicBezTo>
                  <a:pt x="68075" y="303850"/>
                  <a:pt x="0" y="235775"/>
                  <a:pt x="0" y="15192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0" name="Shape 8"/>
          <p:cNvSpPr/>
          <p:nvPr/>
        </p:nvSpPr>
        <p:spPr>
          <a:xfrm>
            <a:off x="627879" y="1376822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66467" y="8308"/>
                </a:moveTo>
                <a:cubicBezTo>
                  <a:pt x="66467" y="3713"/>
                  <a:pt x="62754" y="0"/>
                  <a:pt x="58159" y="0"/>
                </a:cubicBezTo>
                <a:cubicBezTo>
                  <a:pt x="53563" y="0"/>
                  <a:pt x="49850" y="3713"/>
                  <a:pt x="49850" y="8308"/>
                </a:cubicBezTo>
                <a:lnTo>
                  <a:pt x="49850" y="63014"/>
                </a:lnTo>
                <a:lnTo>
                  <a:pt x="39101" y="52265"/>
                </a:lnTo>
                <a:cubicBezTo>
                  <a:pt x="35856" y="49020"/>
                  <a:pt x="30585" y="49020"/>
                  <a:pt x="27340" y="52265"/>
                </a:cubicBezTo>
                <a:cubicBezTo>
                  <a:pt x="24094" y="55511"/>
                  <a:pt x="24094" y="60781"/>
                  <a:pt x="27340" y="64027"/>
                </a:cubicBezTo>
                <a:lnTo>
                  <a:pt x="52265" y="88952"/>
                </a:lnTo>
                <a:cubicBezTo>
                  <a:pt x="55511" y="92197"/>
                  <a:pt x="60781" y="92197"/>
                  <a:pt x="64027" y="88952"/>
                </a:cubicBezTo>
                <a:lnTo>
                  <a:pt x="88952" y="64027"/>
                </a:lnTo>
                <a:cubicBezTo>
                  <a:pt x="92197" y="60781"/>
                  <a:pt x="92197" y="55511"/>
                  <a:pt x="88952" y="52265"/>
                </a:cubicBezTo>
                <a:cubicBezTo>
                  <a:pt x="85706" y="49020"/>
                  <a:pt x="80436" y="49020"/>
                  <a:pt x="77190" y="52265"/>
                </a:cubicBezTo>
                <a:lnTo>
                  <a:pt x="66467" y="63014"/>
                </a:lnTo>
                <a:lnTo>
                  <a:pt x="66467" y="8308"/>
                </a:lnTo>
                <a:close/>
                <a:moveTo>
                  <a:pt x="16617" y="83084"/>
                </a:moveTo>
                <a:cubicBezTo>
                  <a:pt x="7452" y="83084"/>
                  <a:pt x="0" y="90536"/>
                  <a:pt x="0" y="99701"/>
                </a:cubicBezTo>
                <a:lnTo>
                  <a:pt x="0" y="108009"/>
                </a:lnTo>
                <a:cubicBezTo>
                  <a:pt x="0" y="117175"/>
                  <a:pt x="7452" y="124626"/>
                  <a:pt x="16617" y="124626"/>
                </a:cubicBezTo>
                <a:lnTo>
                  <a:pt x="99701" y="124626"/>
                </a:lnTo>
                <a:cubicBezTo>
                  <a:pt x="108866" y="124626"/>
                  <a:pt x="116318" y="117175"/>
                  <a:pt x="116318" y="108009"/>
                </a:cubicBezTo>
                <a:lnTo>
                  <a:pt x="116318" y="99701"/>
                </a:lnTo>
                <a:cubicBezTo>
                  <a:pt x="116318" y="90536"/>
                  <a:pt x="108866" y="83084"/>
                  <a:pt x="99701" y="83084"/>
                </a:cubicBezTo>
                <a:lnTo>
                  <a:pt x="87524" y="83084"/>
                </a:lnTo>
                <a:lnTo>
                  <a:pt x="72828" y="97780"/>
                </a:lnTo>
                <a:cubicBezTo>
                  <a:pt x="64728" y="105880"/>
                  <a:pt x="51564" y="105880"/>
                  <a:pt x="43463" y="97780"/>
                </a:cubicBezTo>
                <a:lnTo>
                  <a:pt x="28794" y="83084"/>
                </a:lnTo>
                <a:lnTo>
                  <a:pt x="16617" y="83084"/>
                </a:lnTo>
                <a:close/>
                <a:moveTo>
                  <a:pt x="95547" y="97624"/>
                </a:moveTo>
                <a:cubicBezTo>
                  <a:pt x="98986" y="97624"/>
                  <a:pt x="101778" y="100416"/>
                  <a:pt x="101778" y="103855"/>
                </a:cubicBezTo>
                <a:cubicBezTo>
                  <a:pt x="101778" y="107294"/>
                  <a:pt x="98986" y="110086"/>
                  <a:pt x="95547" y="110086"/>
                </a:cubicBezTo>
                <a:cubicBezTo>
                  <a:pt x="92108" y="110086"/>
                  <a:pt x="89315" y="107294"/>
                  <a:pt x="89315" y="103855"/>
                </a:cubicBezTo>
                <a:cubicBezTo>
                  <a:pt x="89315" y="100416"/>
                  <a:pt x="92108" y="97624"/>
                  <a:pt x="95547" y="97624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949533" y="1291364"/>
            <a:ext cx="149076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Ingesta de Datos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1738" y="1671178"/>
            <a:ext cx="5374355" cy="341832"/>
          </a:xfrm>
          <a:custGeom>
            <a:avLst/>
            <a:gdLst/>
            <a:ahLst/>
            <a:cxnLst/>
            <a:rect l="l" t="t" r="r" b="b"/>
            <a:pathLst>
              <a:path w="5374355" h="341832">
                <a:moveTo>
                  <a:pt x="37981" y="0"/>
                </a:moveTo>
                <a:lnTo>
                  <a:pt x="5336374" y="0"/>
                </a:lnTo>
                <a:cubicBezTo>
                  <a:pt x="5357350" y="0"/>
                  <a:pt x="5374355" y="17005"/>
                  <a:pt x="5374355" y="37981"/>
                </a:cubicBezTo>
                <a:lnTo>
                  <a:pt x="5374355" y="303851"/>
                </a:lnTo>
                <a:cubicBezTo>
                  <a:pt x="5374355" y="324827"/>
                  <a:pt x="5357350" y="341832"/>
                  <a:pt x="5336374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7701" y="1747140"/>
            <a:ext cx="48426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Fuente: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3723" y="1747140"/>
            <a:ext cx="142429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Parquet oficial NYC TLC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738" y="2050991"/>
            <a:ext cx="5374355" cy="341832"/>
          </a:xfrm>
          <a:custGeom>
            <a:avLst/>
            <a:gdLst/>
            <a:ahLst/>
            <a:cxnLst/>
            <a:rect l="l" t="t" r="r" b="b"/>
            <a:pathLst>
              <a:path w="5374355" h="341832">
                <a:moveTo>
                  <a:pt x="37981" y="0"/>
                </a:moveTo>
                <a:lnTo>
                  <a:pt x="5336374" y="0"/>
                </a:lnTo>
                <a:cubicBezTo>
                  <a:pt x="5357350" y="0"/>
                  <a:pt x="5374355" y="17005"/>
                  <a:pt x="5374355" y="37981"/>
                </a:cubicBezTo>
                <a:lnTo>
                  <a:pt x="5374355" y="303851"/>
                </a:lnTo>
                <a:cubicBezTo>
                  <a:pt x="5374355" y="324827"/>
                  <a:pt x="5357350" y="341832"/>
                  <a:pt x="5336374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7701" y="2126953"/>
            <a:ext cx="87357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56266" y="2126953"/>
            <a:ext cx="103499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pandas, pyarrow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1738" y="2430804"/>
            <a:ext cx="5374355" cy="341832"/>
          </a:xfrm>
          <a:custGeom>
            <a:avLst/>
            <a:gdLst/>
            <a:ahLst/>
            <a:cxnLst/>
            <a:rect l="l" t="t" r="r" b="b"/>
            <a:pathLst>
              <a:path w="5374355" h="341832">
                <a:moveTo>
                  <a:pt x="37981" y="0"/>
                </a:moveTo>
                <a:lnTo>
                  <a:pt x="5336374" y="0"/>
                </a:lnTo>
                <a:cubicBezTo>
                  <a:pt x="5357350" y="0"/>
                  <a:pt x="5374355" y="17005"/>
                  <a:pt x="5374355" y="37981"/>
                </a:cubicBezTo>
                <a:lnTo>
                  <a:pt x="5374355" y="303851"/>
                </a:lnTo>
                <a:cubicBezTo>
                  <a:pt x="5374355" y="324827"/>
                  <a:pt x="5357350" y="341832"/>
                  <a:pt x="5336374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7701" y="2506766"/>
            <a:ext cx="85457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Optimización: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6416" y="2506766"/>
            <a:ext cx="109196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Columnar storage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8804" y="3000523"/>
            <a:ext cx="5621234" cy="1481271"/>
          </a:xfrm>
          <a:custGeom>
            <a:avLst/>
            <a:gdLst/>
            <a:ahLst/>
            <a:cxnLst/>
            <a:rect l="l" t="t" r="r" b="b"/>
            <a:pathLst>
              <a:path w="5621234" h="1481271">
                <a:moveTo>
                  <a:pt x="37981" y="0"/>
                </a:moveTo>
                <a:lnTo>
                  <a:pt x="5545274" y="0"/>
                </a:lnTo>
                <a:cubicBezTo>
                  <a:pt x="5587225" y="0"/>
                  <a:pt x="5621234" y="34008"/>
                  <a:pt x="5621234" y="75960"/>
                </a:cubicBezTo>
                <a:lnTo>
                  <a:pt x="5621234" y="1405311"/>
                </a:lnTo>
                <a:cubicBezTo>
                  <a:pt x="5621234" y="1447263"/>
                  <a:pt x="5587225" y="1481271"/>
                  <a:pt x="5545274" y="1481271"/>
                </a:cubicBezTo>
                <a:lnTo>
                  <a:pt x="37981" y="1481271"/>
                </a:lnTo>
                <a:cubicBezTo>
                  <a:pt x="17005" y="1481271"/>
                  <a:pt x="0" y="1464266"/>
                  <a:pt x="0" y="144329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98804" y="3000523"/>
            <a:ext cx="37981" cy="1481271"/>
          </a:xfrm>
          <a:custGeom>
            <a:avLst/>
            <a:gdLst/>
            <a:ahLst/>
            <a:cxnLst/>
            <a:rect l="l" t="t" r="r" b="b"/>
            <a:pathLst>
              <a:path w="37981" h="1481271">
                <a:moveTo>
                  <a:pt x="37981" y="0"/>
                </a:moveTo>
                <a:lnTo>
                  <a:pt x="37981" y="0"/>
                </a:lnTo>
                <a:lnTo>
                  <a:pt x="37981" y="1481271"/>
                </a:lnTo>
                <a:lnTo>
                  <a:pt x="37981" y="1481271"/>
                </a:lnTo>
                <a:cubicBezTo>
                  <a:pt x="17005" y="1481271"/>
                  <a:pt x="0" y="1464266"/>
                  <a:pt x="0" y="1443290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3" name="Shape 21"/>
          <p:cNvSpPr/>
          <p:nvPr/>
        </p:nvSpPr>
        <p:spPr>
          <a:xfrm>
            <a:off x="531738" y="3114467"/>
            <a:ext cx="303850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151925" y="0"/>
                </a:moveTo>
                <a:lnTo>
                  <a:pt x="151925" y="0"/>
                </a:lnTo>
                <a:cubicBezTo>
                  <a:pt x="235775" y="0"/>
                  <a:pt x="303850" y="68075"/>
                  <a:pt x="303850" y="151925"/>
                </a:cubicBezTo>
                <a:lnTo>
                  <a:pt x="303850" y="151925"/>
                </a:lnTo>
                <a:cubicBezTo>
                  <a:pt x="303850" y="235775"/>
                  <a:pt x="235775" y="303850"/>
                  <a:pt x="151925" y="303850"/>
                </a:cubicBezTo>
                <a:lnTo>
                  <a:pt x="151925" y="303850"/>
                </a:lnTo>
                <a:cubicBezTo>
                  <a:pt x="68075" y="303850"/>
                  <a:pt x="0" y="235775"/>
                  <a:pt x="0" y="15192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4" name="Shape 22"/>
          <p:cNvSpPr/>
          <p:nvPr/>
        </p:nvSpPr>
        <p:spPr>
          <a:xfrm>
            <a:off x="611262" y="3199925"/>
            <a:ext cx="149551" cy="132935"/>
          </a:xfrm>
          <a:custGeom>
            <a:avLst/>
            <a:gdLst/>
            <a:ahLst/>
            <a:cxnLst/>
            <a:rect l="l" t="t" r="r" b="b"/>
            <a:pathLst>
              <a:path w="149551" h="132935">
                <a:moveTo>
                  <a:pt x="147111" y="14176"/>
                </a:moveTo>
                <a:cubicBezTo>
                  <a:pt x="150356" y="10931"/>
                  <a:pt x="150356" y="5660"/>
                  <a:pt x="147111" y="2415"/>
                </a:cubicBezTo>
                <a:cubicBezTo>
                  <a:pt x="143865" y="-831"/>
                  <a:pt x="138595" y="-831"/>
                  <a:pt x="135349" y="2415"/>
                </a:cubicBezTo>
                <a:lnTo>
                  <a:pt x="85499" y="52265"/>
                </a:lnTo>
                <a:lnTo>
                  <a:pt x="76489" y="43256"/>
                </a:lnTo>
                <a:cubicBezTo>
                  <a:pt x="75399" y="42165"/>
                  <a:pt x="73893" y="41542"/>
                  <a:pt x="72335" y="41542"/>
                </a:cubicBezTo>
                <a:cubicBezTo>
                  <a:pt x="69090" y="41542"/>
                  <a:pt x="66467" y="44164"/>
                  <a:pt x="66467" y="47410"/>
                </a:cubicBezTo>
                <a:lnTo>
                  <a:pt x="66467" y="54965"/>
                </a:lnTo>
                <a:lnTo>
                  <a:pt x="94586" y="83084"/>
                </a:lnTo>
                <a:lnTo>
                  <a:pt x="102142" y="83084"/>
                </a:lnTo>
                <a:cubicBezTo>
                  <a:pt x="105387" y="83084"/>
                  <a:pt x="108009" y="80462"/>
                  <a:pt x="108009" y="77216"/>
                </a:cubicBezTo>
                <a:cubicBezTo>
                  <a:pt x="108009" y="75658"/>
                  <a:pt x="107386" y="74153"/>
                  <a:pt x="106296" y="73062"/>
                </a:cubicBezTo>
                <a:lnTo>
                  <a:pt x="97286" y="64053"/>
                </a:lnTo>
                <a:lnTo>
                  <a:pt x="147137" y="14202"/>
                </a:lnTo>
                <a:close/>
                <a:moveTo>
                  <a:pt x="88562" y="91756"/>
                </a:moveTo>
                <a:lnTo>
                  <a:pt x="57795" y="60989"/>
                </a:lnTo>
                <a:cubicBezTo>
                  <a:pt x="46709" y="60028"/>
                  <a:pt x="35674" y="64027"/>
                  <a:pt x="27729" y="71972"/>
                </a:cubicBezTo>
                <a:lnTo>
                  <a:pt x="25652" y="74049"/>
                </a:lnTo>
                <a:cubicBezTo>
                  <a:pt x="19862" y="79839"/>
                  <a:pt x="16617" y="87680"/>
                  <a:pt x="16617" y="95858"/>
                </a:cubicBezTo>
                <a:cubicBezTo>
                  <a:pt x="16617" y="97624"/>
                  <a:pt x="18460" y="98766"/>
                  <a:pt x="20044" y="97987"/>
                </a:cubicBezTo>
                <a:lnTo>
                  <a:pt x="33312" y="91367"/>
                </a:lnTo>
                <a:cubicBezTo>
                  <a:pt x="34610" y="90717"/>
                  <a:pt x="35778" y="92431"/>
                  <a:pt x="34714" y="93418"/>
                </a:cubicBezTo>
                <a:lnTo>
                  <a:pt x="1895" y="122913"/>
                </a:lnTo>
                <a:cubicBezTo>
                  <a:pt x="701" y="124003"/>
                  <a:pt x="0" y="125561"/>
                  <a:pt x="0" y="127197"/>
                </a:cubicBezTo>
                <a:cubicBezTo>
                  <a:pt x="0" y="130364"/>
                  <a:pt x="2570" y="132935"/>
                  <a:pt x="5738" y="132935"/>
                </a:cubicBezTo>
                <a:lnTo>
                  <a:pt x="50733" y="132935"/>
                </a:lnTo>
                <a:cubicBezTo>
                  <a:pt x="60807" y="132935"/>
                  <a:pt x="70440" y="128936"/>
                  <a:pt x="77580" y="121822"/>
                </a:cubicBezTo>
                <a:cubicBezTo>
                  <a:pt x="85525" y="113877"/>
                  <a:pt x="89497" y="102843"/>
                  <a:pt x="88562" y="91756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949533" y="3114467"/>
            <a:ext cx="2174430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Limpieza y Normalización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9037" y="3532262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7" name="Text 25"/>
          <p:cNvSpPr/>
          <p:nvPr/>
        </p:nvSpPr>
        <p:spPr>
          <a:xfrm>
            <a:off x="773869" y="3494280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Nombres de columnas:</a:t>
            </a:r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Estandarización a snake_case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9037" y="3760150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9" name="Text 27"/>
          <p:cNvSpPr/>
          <p:nvPr/>
        </p:nvSpPr>
        <p:spPr>
          <a:xfrm>
            <a:off x="773869" y="3722168"/>
            <a:ext cx="338983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temporales:</a:t>
            </a:r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Conversión correcta de timestamps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9037" y="3988037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1" name="Text 29"/>
          <p:cNvSpPr/>
          <p:nvPr/>
        </p:nvSpPr>
        <p:spPr>
          <a:xfrm>
            <a:off x="773869" y="3950056"/>
            <a:ext cx="314295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Valores nulos:</a:t>
            </a:r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Identificación y tratamiento estratégico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9037" y="4215925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112891" y="18201"/>
                </a:moveTo>
                <a:cubicBezTo>
                  <a:pt x="116603" y="20901"/>
                  <a:pt x="117434" y="26094"/>
                  <a:pt x="114734" y="29806"/>
                </a:cubicBezTo>
                <a:lnTo>
                  <a:pt x="48267" y="121199"/>
                </a:lnTo>
                <a:cubicBezTo>
                  <a:pt x="46839" y="123172"/>
                  <a:pt x="44632" y="124392"/>
                  <a:pt x="42191" y="124600"/>
                </a:cubicBezTo>
                <a:cubicBezTo>
                  <a:pt x="39751" y="124808"/>
                  <a:pt x="37388" y="123899"/>
                  <a:pt x="35674" y="122186"/>
                </a:cubicBezTo>
                <a:lnTo>
                  <a:pt x="2441" y="88952"/>
                </a:lnTo>
                <a:cubicBezTo>
                  <a:pt x="-805" y="85706"/>
                  <a:pt x="-805" y="80436"/>
                  <a:pt x="2441" y="77190"/>
                </a:cubicBezTo>
                <a:cubicBezTo>
                  <a:pt x="5686" y="73945"/>
                  <a:pt x="10957" y="73945"/>
                  <a:pt x="14202" y="77190"/>
                </a:cubicBezTo>
                <a:lnTo>
                  <a:pt x="40555" y="103544"/>
                </a:lnTo>
                <a:lnTo>
                  <a:pt x="101311" y="20018"/>
                </a:lnTo>
                <a:cubicBezTo>
                  <a:pt x="104011" y="16305"/>
                  <a:pt x="109204" y="15474"/>
                  <a:pt x="112917" y="1817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3" name="Text 31"/>
          <p:cNvSpPr/>
          <p:nvPr/>
        </p:nvSpPr>
        <p:spPr>
          <a:xfrm>
            <a:off x="773869" y="4177944"/>
            <a:ext cx="250676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Outliers:</a:t>
            </a:r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Detección y gestión de anomalías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98804" y="4595738"/>
            <a:ext cx="5621234" cy="1595215"/>
          </a:xfrm>
          <a:custGeom>
            <a:avLst/>
            <a:gdLst/>
            <a:ahLst/>
            <a:cxnLst/>
            <a:rect l="l" t="t" r="r" b="b"/>
            <a:pathLst>
              <a:path w="5621234" h="1595215">
                <a:moveTo>
                  <a:pt x="37981" y="0"/>
                </a:moveTo>
                <a:lnTo>
                  <a:pt x="5545270" y="0"/>
                </a:lnTo>
                <a:cubicBezTo>
                  <a:pt x="5587223" y="0"/>
                  <a:pt x="5621234" y="34010"/>
                  <a:pt x="5621234" y="75964"/>
                </a:cubicBezTo>
                <a:lnTo>
                  <a:pt x="5621234" y="1519251"/>
                </a:lnTo>
                <a:cubicBezTo>
                  <a:pt x="5621234" y="1561205"/>
                  <a:pt x="5587223" y="1595215"/>
                  <a:pt x="5545270" y="1595215"/>
                </a:cubicBezTo>
                <a:lnTo>
                  <a:pt x="37981" y="1595215"/>
                </a:lnTo>
                <a:cubicBezTo>
                  <a:pt x="17005" y="1595215"/>
                  <a:pt x="0" y="1578210"/>
                  <a:pt x="0" y="1557234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8804" y="4595738"/>
            <a:ext cx="37981" cy="1595215"/>
          </a:xfrm>
          <a:custGeom>
            <a:avLst/>
            <a:gdLst/>
            <a:ahLst/>
            <a:cxnLst/>
            <a:rect l="l" t="t" r="r" b="b"/>
            <a:pathLst>
              <a:path w="37981" h="1595215">
                <a:moveTo>
                  <a:pt x="37981" y="0"/>
                </a:moveTo>
                <a:lnTo>
                  <a:pt x="37981" y="0"/>
                </a:lnTo>
                <a:lnTo>
                  <a:pt x="37981" y="1595215"/>
                </a:lnTo>
                <a:lnTo>
                  <a:pt x="37981" y="1595215"/>
                </a:lnTo>
                <a:cubicBezTo>
                  <a:pt x="17005" y="1595215"/>
                  <a:pt x="0" y="1578210"/>
                  <a:pt x="0" y="155723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6" name="Shape 34"/>
          <p:cNvSpPr/>
          <p:nvPr/>
        </p:nvSpPr>
        <p:spPr>
          <a:xfrm>
            <a:off x="531738" y="4709682"/>
            <a:ext cx="303850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151925" y="0"/>
                </a:moveTo>
                <a:lnTo>
                  <a:pt x="151925" y="0"/>
                </a:lnTo>
                <a:cubicBezTo>
                  <a:pt x="235775" y="0"/>
                  <a:pt x="303850" y="68075"/>
                  <a:pt x="303850" y="151925"/>
                </a:cubicBezTo>
                <a:lnTo>
                  <a:pt x="303850" y="151925"/>
                </a:lnTo>
                <a:cubicBezTo>
                  <a:pt x="303850" y="235775"/>
                  <a:pt x="235775" y="303850"/>
                  <a:pt x="151925" y="303850"/>
                </a:cubicBezTo>
                <a:lnTo>
                  <a:pt x="151925" y="303850"/>
                </a:lnTo>
                <a:cubicBezTo>
                  <a:pt x="68075" y="303850"/>
                  <a:pt x="0" y="235775"/>
                  <a:pt x="0" y="151925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7" name="Shape 35"/>
          <p:cNvSpPr/>
          <p:nvPr/>
        </p:nvSpPr>
        <p:spPr>
          <a:xfrm>
            <a:off x="619570" y="4795140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66467" y="132935"/>
                </a:moveTo>
                <a:cubicBezTo>
                  <a:pt x="103152" y="132935"/>
                  <a:pt x="132935" y="103152"/>
                  <a:pt x="132935" y="66467"/>
                </a:cubicBezTo>
                <a:cubicBezTo>
                  <a:pt x="132935" y="29783"/>
                  <a:pt x="103152" y="0"/>
                  <a:pt x="66467" y="0"/>
                </a:cubicBezTo>
                <a:cubicBezTo>
                  <a:pt x="29783" y="0"/>
                  <a:pt x="0" y="29783"/>
                  <a:pt x="0" y="66467"/>
                </a:cubicBezTo>
                <a:cubicBezTo>
                  <a:pt x="0" y="103152"/>
                  <a:pt x="29783" y="132935"/>
                  <a:pt x="66467" y="132935"/>
                </a:cubicBezTo>
                <a:close/>
                <a:moveTo>
                  <a:pt x="60236" y="89315"/>
                </a:moveTo>
                <a:lnTo>
                  <a:pt x="60236" y="72699"/>
                </a:lnTo>
                <a:lnTo>
                  <a:pt x="43619" y="72699"/>
                </a:lnTo>
                <a:cubicBezTo>
                  <a:pt x="40166" y="72699"/>
                  <a:pt x="37388" y="69920"/>
                  <a:pt x="37388" y="66467"/>
                </a:cubicBezTo>
                <a:cubicBezTo>
                  <a:pt x="37388" y="63014"/>
                  <a:pt x="40166" y="60236"/>
                  <a:pt x="43619" y="60236"/>
                </a:cubicBezTo>
                <a:lnTo>
                  <a:pt x="60236" y="60236"/>
                </a:lnTo>
                <a:lnTo>
                  <a:pt x="60236" y="43619"/>
                </a:lnTo>
                <a:cubicBezTo>
                  <a:pt x="60236" y="40166"/>
                  <a:pt x="63014" y="37388"/>
                  <a:pt x="66467" y="37388"/>
                </a:cubicBezTo>
                <a:cubicBezTo>
                  <a:pt x="69920" y="37388"/>
                  <a:pt x="72699" y="40166"/>
                  <a:pt x="72699" y="43619"/>
                </a:cubicBezTo>
                <a:lnTo>
                  <a:pt x="72699" y="60236"/>
                </a:lnTo>
                <a:lnTo>
                  <a:pt x="89315" y="60236"/>
                </a:lnTo>
                <a:cubicBezTo>
                  <a:pt x="92769" y="60236"/>
                  <a:pt x="95547" y="63014"/>
                  <a:pt x="95547" y="66467"/>
                </a:cubicBezTo>
                <a:cubicBezTo>
                  <a:pt x="95547" y="69920"/>
                  <a:pt x="92769" y="72699"/>
                  <a:pt x="89315" y="72699"/>
                </a:cubicBezTo>
                <a:lnTo>
                  <a:pt x="72699" y="72699"/>
                </a:lnTo>
                <a:lnTo>
                  <a:pt x="72699" y="89315"/>
                </a:lnTo>
                <a:cubicBezTo>
                  <a:pt x="72699" y="92769"/>
                  <a:pt x="69920" y="95547"/>
                  <a:pt x="66467" y="95547"/>
                </a:cubicBezTo>
                <a:cubicBezTo>
                  <a:pt x="63014" y="95547"/>
                  <a:pt x="60236" y="92769"/>
                  <a:pt x="60236" y="89315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949533" y="4709682"/>
            <a:ext cx="216493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Métricas Derivadas Clave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1738" y="5089495"/>
            <a:ext cx="2649196" cy="455776"/>
          </a:xfrm>
          <a:custGeom>
            <a:avLst/>
            <a:gdLst/>
            <a:ahLst/>
            <a:cxnLst/>
            <a:rect l="l" t="t" r="r" b="b"/>
            <a:pathLst>
              <a:path w="2649196" h="455776">
                <a:moveTo>
                  <a:pt x="37980" y="0"/>
                </a:moveTo>
                <a:lnTo>
                  <a:pt x="2611216" y="0"/>
                </a:lnTo>
                <a:cubicBezTo>
                  <a:pt x="2632192" y="0"/>
                  <a:pt x="2649196" y="17004"/>
                  <a:pt x="2649196" y="37980"/>
                </a:cubicBezTo>
                <a:lnTo>
                  <a:pt x="2649196" y="417796"/>
                </a:lnTo>
                <a:cubicBezTo>
                  <a:pt x="2649196" y="438772"/>
                  <a:pt x="2632192" y="455776"/>
                  <a:pt x="2611216" y="455776"/>
                </a:cubicBezTo>
                <a:lnTo>
                  <a:pt x="37980" y="455776"/>
                </a:lnTo>
                <a:cubicBezTo>
                  <a:pt x="17004" y="455776"/>
                  <a:pt x="0" y="438772"/>
                  <a:pt x="0" y="417796"/>
                </a:cubicBezTo>
                <a:lnTo>
                  <a:pt x="0" y="37980"/>
                </a:lnTo>
                <a:cubicBezTo>
                  <a:pt x="0" y="17004"/>
                  <a:pt x="17004" y="0"/>
                  <a:pt x="379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07701" y="5165458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Duración del viaje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7701" y="5317265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t_dropoff - t_pickup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55829" y="5089495"/>
            <a:ext cx="2649196" cy="455776"/>
          </a:xfrm>
          <a:custGeom>
            <a:avLst/>
            <a:gdLst/>
            <a:ahLst/>
            <a:cxnLst/>
            <a:rect l="l" t="t" r="r" b="b"/>
            <a:pathLst>
              <a:path w="2649196" h="455776">
                <a:moveTo>
                  <a:pt x="37980" y="0"/>
                </a:moveTo>
                <a:lnTo>
                  <a:pt x="2611216" y="0"/>
                </a:lnTo>
                <a:cubicBezTo>
                  <a:pt x="2632192" y="0"/>
                  <a:pt x="2649196" y="17004"/>
                  <a:pt x="2649196" y="37980"/>
                </a:cubicBezTo>
                <a:lnTo>
                  <a:pt x="2649196" y="417796"/>
                </a:lnTo>
                <a:cubicBezTo>
                  <a:pt x="2649196" y="438772"/>
                  <a:pt x="2632192" y="455776"/>
                  <a:pt x="2611216" y="455776"/>
                </a:cubicBezTo>
                <a:lnTo>
                  <a:pt x="37980" y="455776"/>
                </a:lnTo>
                <a:cubicBezTo>
                  <a:pt x="17004" y="455776"/>
                  <a:pt x="0" y="438772"/>
                  <a:pt x="0" y="417796"/>
                </a:cubicBezTo>
                <a:lnTo>
                  <a:pt x="0" y="37980"/>
                </a:lnTo>
                <a:cubicBezTo>
                  <a:pt x="0" y="17004"/>
                  <a:pt x="17004" y="0"/>
                  <a:pt x="379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331792" y="5165458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Día de semana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31792" y="5317265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Lunes = 0, Domingo = 6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1738" y="5620997"/>
            <a:ext cx="2649196" cy="455776"/>
          </a:xfrm>
          <a:custGeom>
            <a:avLst/>
            <a:gdLst/>
            <a:ahLst/>
            <a:cxnLst/>
            <a:rect l="l" t="t" r="r" b="b"/>
            <a:pathLst>
              <a:path w="2649196" h="455776">
                <a:moveTo>
                  <a:pt x="37980" y="0"/>
                </a:moveTo>
                <a:lnTo>
                  <a:pt x="2611216" y="0"/>
                </a:lnTo>
                <a:cubicBezTo>
                  <a:pt x="2632192" y="0"/>
                  <a:pt x="2649196" y="17004"/>
                  <a:pt x="2649196" y="37980"/>
                </a:cubicBezTo>
                <a:lnTo>
                  <a:pt x="2649196" y="417796"/>
                </a:lnTo>
                <a:cubicBezTo>
                  <a:pt x="2649196" y="438772"/>
                  <a:pt x="2632192" y="455776"/>
                  <a:pt x="2611216" y="455776"/>
                </a:cubicBezTo>
                <a:lnTo>
                  <a:pt x="37980" y="455776"/>
                </a:lnTo>
                <a:cubicBezTo>
                  <a:pt x="17004" y="455776"/>
                  <a:pt x="0" y="438772"/>
                  <a:pt x="0" y="417796"/>
                </a:cubicBezTo>
                <a:lnTo>
                  <a:pt x="0" y="37980"/>
                </a:lnTo>
                <a:cubicBezTo>
                  <a:pt x="0" y="17004"/>
                  <a:pt x="17004" y="0"/>
                  <a:pt x="379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7701" y="5696960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Hora de pickup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07701" y="5848767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0-23 formato 24h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55829" y="5620997"/>
            <a:ext cx="2649196" cy="455776"/>
          </a:xfrm>
          <a:custGeom>
            <a:avLst/>
            <a:gdLst/>
            <a:ahLst/>
            <a:cxnLst/>
            <a:rect l="l" t="t" r="r" b="b"/>
            <a:pathLst>
              <a:path w="2649196" h="455776">
                <a:moveTo>
                  <a:pt x="37980" y="0"/>
                </a:moveTo>
                <a:lnTo>
                  <a:pt x="2611216" y="0"/>
                </a:lnTo>
                <a:cubicBezTo>
                  <a:pt x="2632192" y="0"/>
                  <a:pt x="2649196" y="17004"/>
                  <a:pt x="2649196" y="37980"/>
                </a:cubicBezTo>
                <a:lnTo>
                  <a:pt x="2649196" y="417796"/>
                </a:lnTo>
                <a:cubicBezTo>
                  <a:pt x="2649196" y="438772"/>
                  <a:pt x="2632192" y="455776"/>
                  <a:pt x="2611216" y="455776"/>
                </a:cubicBezTo>
                <a:lnTo>
                  <a:pt x="37980" y="455776"/>
                </a:lnTo>
                <a:cubicBezTo>
                  <a:pt x="17004" y="455776"/>
                  <a:pt x="0" y="438772"/>
                  <a:pt x="0" y="417796"/>
                </a:cubicBezTo>
                <a:lnTo>
                  <a:pt x="0" y="37980"/>
                </a:lnTo>
                <a:cubicBezTo>
                  <a:pt x="0" y="17004"/>
                  <a:pt x="17004" y="0"/>
                  <a:pt x="3798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331792" y="5696960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331792" y="5848767"/>
            <a:ext cx="2554243" cy="15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7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Laborable vs. fin de semana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3625" y="1181219"/>
            <a:ext cx="5628830" cy="3084082"/>
          </a:xfrm>
          <a:custGeom>
            <a:avLst/>
            <a:gdLst/>
            <a:ahLst/>
            <a:cxnLst/>
            <a:rect l="l" t="t" r="r" b="b"/>
            <a:pathLst>
              <a:path w="5628830" h="3084082">
                <a:moveTo>
                  <a:pt x="75961" y="0"/>
                </a:moveTo>
                <a:lnTo>
                  <a:pt x="5552869" y="0"/>
                </a:lnTo>
                <a:cubicBezTo>
                  <a:pt x="5594821" y="0"/>
                  <a:pt x="5628830" y="34009"/>
                  <a:pt x="5628830" y="75961"/>
                </a:cubicBezTo>
                <a:lnTo>
                  <a:pt x="5628830" y="3008121"/>
                </a:lnTo>
                <a:cubicBezTo>
                  <a:pt x="5628830" y="3050073"/>
                  <a:pt x="5594821" y="3084082"/>
                  <a:pt x="5552869" y="3084082"/>
                </a:cubicBezTo>
                <a:lnTo>
                  <a:pt x="75961" y="3084082"/>
                </a:lnTo>
                <a:cubicBezTo>
                  <a:pt x="34009" y="3084082"/>
                  <a:pt x="0" y="3050073"/>
                  <a:pt x="0" y="3008121"/>
                </a:cubicBezTo>
                <a:lnTo>
                  <a:pt x="0" y="75961"/>
                </a:lnTo>
                <a:cubicBezTo>
                  <a:pt x="0" y="34037"/>
                  <a:pt x="34037" y="0"/>
                  <a:pt x="75961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4423" y="1346438"/>
            <a:ext cx="192280" cy="170916"/>
          </a:xfrm>
          <a:custGeom>
            <a:avLst/>
            <a:gdLst/>
            <a:ahLst/>
            <a:cxnLst/>
            <a:rect l="l" t="t" r="r" b="b"/>
            <a:pathLst>
              <a:path w="192280" h="170916">
                <a:moveTo>
                  <a:pt x="120442" y="401"/>
                </a:moveTo>
                <a:cubicBezTo>
                  <a:pt x="114767" y="-1235"/>
                  <a:pt x="108859" y="2070"/>
                  <a:pt x="107223" y="7745"/>
                </a:cubicBezTo>
                <a:lnTo>
                  <a:pt x="64494" y="157296"/>
                </a:lnTo>
                <a:cubicBezTo>
                  <a:pt x="62858" y="162971"/>
                  <a:pt x="66163" y="168880"/>
                  <a:pt x="71838" y="170515"/>
                </a:cubicBezTo>
                <a:cubicBezTo>
                  <a:pt x="77513" y="172151"/>
                  <a:pt x="83422" y="168846"/>
                  <a:pt x="85057" y="163171"/>
                </a:cubicBezTo>
                <a:lnTo>
                  <a:pt x="127786" y="13620"/>
                </a:lnTo>
                <a:cubicBezTo>
                  <a:pt x="129422" y="7945"/>
                  <a:pt x="126117" y="2036"/>
                  <a:pt x="120442" y="401"/>
                </a:cubicBezTo>
                <a:close/>
                <a:moveTo>
                  <a:pt x="142007" y="45833"/>
                </a:moveTo>
                <a:cubicBezTo>
                  <a:pt x="137834" y="50006"/>
                  <a:pt x="137834" y="56783"/>
                  <a:pt x="142007" y="60956"/>
                </a:cubicBezTo>
                <a:lnTo>
                  <a:pt x="166509" y="85458"/>
                </a:lnTo>
                <a:lnTo>
                  <a:pt x="142007" y="109960"/>
                </a:lnTo>
                <a:cubicBezTo>
                  <a:pt x="137834" y="114133"/>
                  <a:pt x="137834" y="120910"/>
                  <a:pt x="142007" y="125082"/>
                </a:cubicBezTo>
                <a:cubicBezTo>
                  <a:pt x="146180" y="129255"/>
                  <a:pt x="152956" y="129255"/>
                  <a:pt x="157129" y="125082"/>
                </a:cubicBezTo>
                <a:lnTo>
                  <a:pt x="189176" y="93036"/>
                </a:lnTo>
                <a:cubicBezTo>
                  <a:pt x="193349" y="88863"/>
                  <a:pt x="193349" y="82086"/>
                  <a:pt x="189176" y="77914"/>
                </a:cubicBezTo>
                <a:lnTo>
                  <a:pt x="157129" y="45867"/>
                </a:lnTo>
                <a:cubicBezTo>
                  <a:pt x="152956" y="41694"/>
                  <a:pt x="146180" y="41694"/>
                  <a:pt x="142007" y="45867"/>
                </a:cubicBezTo>
                <a:close/>
                <a:moveTo>
                  <a:pt x="50307" y="45833"/>
                </a:moveTo>
                <a:cubicBezTo>
                  <a:pt x="46134" y="41661"/>
                  <a:pt x="39357" y="41661"/>
                  <a:pt x="35185" y="45833"/>
                </a:cubicBezTo>
                <a:lnTo>
                  <a:pt x="3138" y="77880"/>
                </a:lnTo>
                <a:cubicBezTo>
                  <a:pt x="-1035" y="82053"/>
                  <a:pt x="-1035" y="88830"/>
                  <a:pt x="3138" y="93002"/>
                </a:cubicBezTo>
                <a:lnTo>
                  <a:pt x="35185" y="125049"/>
                </a:lnTo>
                <a:cubicBezTo>
                  <a:pt x="39357" y="129222"/>
                  <a:pt x="46134" y="129222"/>
                  <a:pt x="50307" y="125049"/>
                </a:cubicBezTo>
                <a:cubicBezTo>
                  <a:pt x="54479" y="120876"/>
                  <a:pt x="54479" y="114100"/>
                  <a:pt x="50307" y="109927"/>
                </a:cubicBezTo>
                <a:lnTo>
                  <a:pt x="25804" y="85458"/>
                </a:lnTo>
                <a:lnTo>
                  <a:pt x="50273" y="60956"/>
                </a:lnTo>
                <a:cubicBezTo>
                  <a:pt x="54446" y="56783"/>
                  <a:pt x="54446" y="50006"/>
                  <a:pt x="50273" y="45833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3" name="Text 51"/>
          <p:cNvSpPr/>
          <p:nvPr/>
        </p:nvSpPr>
        <p:spPr>
          <a:xfrm>
            <a:off x="6509759" y="1298961"/>
            <a:ext cx="526041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Tecnológico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91366" y="1640793"/>
            <a:ext cx="5393346" cy="569720"/>
          </a:xfrm>
          <a:custGeom>
            <a:avLst/>
            <a:gdLst/>
            <a:ahLst/>
            <a:cxnLst/>
            <a:rect l="l" t="t" r="r" b="b"/>
            <a:pathLst>
              <a:path w="5393346" h="569720">
                <a:moveTo>
                  <a:pt x="37983" y="0"/>
                </a:moveTo>
                <a:lnTo>
                  <a:pt x="5355363" y="0"/>
                </a:lnTo>
                <a:cubicBezTo>
                  <a:pt x="5376340" y="0"/>
                  <a:pt x="5393346" y="17006"/>
                  <a:pt x="5393346" y="37983"/>
                </a:cubicBezTo>
                <a:lnTo>
                  <a:pt x="5393346" y="531736"/>
                </a:lnTo>
                <a:cubicBezTo>
                  <a:pt x="5393346" y="552714"/>
                  <a:pt x="5376340" y="569720"/>
                  <a:pt x="5355363" y="569720"/>
                </a:cubicBezTo>
                <a:lnTo>
                  <a:pt x="37983" y="569720"/>
                </a:lnTo>
                <a:cubicBezTo>
                  <a:pt x="17006" y="569720"/>
                  <a:pt x="0" y="552714"/>
                  <a:pt x="0" y="531736"/>
                </a:cubicBezTo>
                <a:lnTo>
                  <a:pt x="0" y="37983"/>
                </a:lnTo>
                <a:cubicBezTo>
                  <a:pt x="0" y="17020"/>
                  <a:pt x="17020" y="0"/>
                  <a:pt x="3798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67329" y="1716756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67329" y="1944643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pandas, numpy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91366" y="2286475"/>
            <a:ext cx="5393346" cy="569720"/>
          </a:xfrm>
          <a:custGeom>
            <a:avLst/>
            <a:gdLst/>
            <a:ahLst/>
            <a:cxnLst/>
            <a:rect l="l" t="t" r="r" b="b"/>
            <a:pathLst>
              <a:path w="5393346" h="569720">
                <a:moveTo>
                  <a:pt x="37983" y="0"/>
                </a:moveTo>
                <a:lnTo>
                  <a:pt x="5355363" y="0"/>
                </a:lnTo>
                <a:cubicBezTo>
                  <a:pt x="5376340" y="0"/>
                  <a:pt x="5393346" y="17006"/>
                  <a:pt x="5393346" y="37983"/>
                </a:cubicBezTo>
                <a:lnTo>
                  <a:pt x="5393346" y="531736"/>
                </a:lnTo>
                <a:cubicBezTo>
                  <a:pt x="5393346" y="552714"/>
                  <a:pt x="5376340" y="569720"/>
                  <a:pt x="5355363" y="569720"/>
                </a:cubicBezTo>
                <a:lnTo>
                  <a:pt x="37983" y="569720"/>
                </a:lnTo>
                <a:cubicBezTo>
                  <a:pt x="17006" y="569720"/>
                  <a:pt x="0" y="552714"/>
                  <a:pt x="0" y="531736"/>
                </a:cubicBezTo>
                <a:lnTo>
                  <a:pt x="0" y="37983"/>
                </a:lnTo>
                <a:cubicBezTo>
                  <a:pt x="0" y="17020"/>
                  <a:pt x="17020" y="0"/>
                  <a:pt x="3798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67329" y="2362438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Almacenamiento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67329" y="2590326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pyarrow (Parquet)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91366" y="2932157"/>
            <a:ext cx="5393346" cy="569720"/>
          </a:xfrm>
          <a:custGeom>
            <a:avLst/>
            <a:gdLst/>
            <a:ahLst/>
            <a:cxnLst/>
            <a:rect l="l" t="t" r="r" b="b"/>
            <a:pathLst>
              <a:path w="5393346" h="569720">
                <a:moveTo>
                  <a:pt x="37983" y="0"/>
                </a:moveTo>
                <a:lnTo>
                  <a:pt x="5355363" y="0"/>
                </a:lnTo>
                <a:cubicBezTo>
                  <a:pt x="5376340" y="0"/>
                  <a:pt x="5393346" y="17006"/>
                  <a:pt x="5393346" y="37983"/>
                </a:cubicBezTo>
                <a:lnTo>
                  <a:pt x="5393346" y="531736"/>
                </a:lnTo>
                <a:cubicBezTo>
                  <a:pt x="5393346" y="552714"/>
                  <a:pt x="5376340" y="569720"/>
                  <a:pt x="5355363" y="569720"/>
                </a:cubicBezTo>
                <a:lnTo>
                  <a:pt x="37983" y="569720"/>
                </a:lnTo>
                <a:cubicBezTo>
                  <a:pt x="17006" y="569720"/>
                  <a:pt x="0" y="552714"/>
                  <a:pt x="0" y="531736"/>
                </a:cubicBezTo>
                <a:lnTo>
                  <a:pt x="0" y="37983"/>
                </a:lnTo>
                <a:cubicBezTo>
                  <a:pt x="0" y="17020"/>
                  <a:pt x="17020" y="0"/>
                  <a:pt x="3798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367329" y="3008120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67329" y="3236008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matplotlib, seaborn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91366" y="3577840"/>
            <a:ext cx="5393346" cy="569720"/>
          </a:xfrm>
          <a:custGeom>
            <a:avLst/>
            <a:gdLst/>
            <a:ahLst/>
            <a:cxnLst/>
            <a:rect l="l" t="t" r="r" b="b"/>
            <a:pathLst>
              <a:path w="5393346" h="569720">
                <a:moveTo>
                  <a:pt x="37983" y="0"/>
                </a:moveTo>
                <a:lnTo>
                  <a:pt x="5355363" y="0"/>
                </a:lnTo>
                <a:cubicBezTo>
                  <a:pt x="5376340" y="0"/>
                  <a:pt x="5393346" y="17006"/>
                  <a:pt x="5393346" y="37983"/>
                </a:cubicBezTo>
                <a:lnTo>
                  <a:pt x="5393346" y="531736"/>
                </a:lnTo>
                <a:cubicBezTo>
                  <a:pt x="5393346" y="552714"/>
                  <a:pt x="5376340" y="569720"/>
                  <a:pt x="5355363" y="569720"/>
                </a:cubicBezTo>
                <a:lnTo>
                  <a:pt x="37983" y="569720"/>
                </a:lnTo>
                <a:cubicBezTo>
                  <a:pt x="17006" y="569720"/>
                  <a:pt x="0" y="552714"/>
                  <a:pt x="0" y="531736"/>
                </a:cubicBezTo>
                <a:lnTo>
                  <a:pt x="0" y="37983"/>
                </a:lnTo>
                <a:cubicBezTo>
                  <a:pt x="0" y="17020"/>
                  <a:pt x="17020" y="0"/>
                  <a:pt x="3798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367329" y="3653802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Modelado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67329" y="3881690"/>
            <a:ext cx="530788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Prophet (Facebook/Meta)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69826" y="4383044"/>
            <a:ext cx="5640224" cy="1709159"/>
          </a:xfrm>
          <a:custGeom>
            <a:avLst/>
            <a:gdLst/>
            <a:ahLst/>
            <a:cxnLst/>
            <a:rect l="l" t="t" r="r" b="b"/>
            <a:pathLst>
              <a:path w="5640224" h="1709159">
                <a:moveTo>
                  <a:pt x="75955" y="0"/>
                </a:moveTo>
                <a:lnTo>
                  <a:pt x="5564269" y="0"/>
                </a:lnTo>
                <a:cubicBezTo>
                  <a:pt x="5606218" y="0"/>
                  <a:pt x="5640224" y="34006"/>
                  <a:pt x="5640224" y="75955"/>
                </a:cubicBezTo>
                <a:lnTo>
                  <a:pt x="5640224" y="1633204"/>
                </a:lnTo>
                <a:cubicBezTo>
                  <a:pt x="5640224" y="1675153"/>
                  <a:pt x="5606218" y="1709159"/>
                  <a:pt x="5564269" y="1709159"/>
                </a:cubicBezTo>
                <a:lnTo>
                  <a:pt x="75955" y="1709159"/>
                </a:lnTo>
                <a:cubicBezTo>
                  <a:pt x="34006" y="1709159"/>
                  <a:pt x="0" y="1675153"/>
                  <a:pt x="0" y="1633204"/>
                </a:cubicBezTo>
                <a:lnTo>
                  <a:pt x="0" y="75955"/>
                </a:lnTo>
                <a:cubicBezTo>
                  <a:pt x="0" y="34034"/>
                  <a:pt x="34034" y="0"/>
                  <a:pt x="7595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283770" y="4496988"/>
            <a:ext cx="548829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Transformación de Datos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283770" y="4800838"/>
            <a:ext cx="5412336" cy="341832"/>
          </a:xfrm>
          <a:custGeom>
            <a:avLst/>
            <a:gdLst/>
            <a:ahLst/>
            <a:cxnLst/>
            <a:rect l="l" t="t" r="r" b="b"/>
            <a:pathLst>
              <a:path w="5412336" h="341832">
                <a:moveTo>
                  <a:pt x="37981" y="0"/>
                </a:moveTo>
                <a:lnTo>
                  <a:pt x="5374356" y="0"/>
                </a:lnTo>
                <a:cubicBezTo>
                  <a:pt x="5395332" y="0"/>
                  <a:pt x="5412336" y="17005"/>
                  <a:pt x="5412336" y="37981"/>
                </a:cubicBezTo>
                <a:lnTo>
                  <a:pt x="5412336" y="303851"/>
                </a:lnTo>
                <a:cubicBezTo>
                  <a:pt x="5412336" y="324827"/>
                  <a:pt x="5395332" y="341832"/>
                  <a:pt x="5374356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359733" y="4876801"/>
            <a:ext cx="80710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brutos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57712" y="4895792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49136" y="82669"/>
                </a:moveTo>
                <a:cubicBezTo>
                  <a:pt x="152845" y="78960"/>
                  <a:pt x="152845" y="72936"/>
                  <a:pt x="149136" y="69227"/>
                </a:cubicBezTo>
                <a:lnTo>
                  <a:pt x="101659" y="21750"/>
                </a:lnTo>
                <a:cubicBezTo>
                  <a:pt x="97950" y="18041"/>
                  <a:pt x="91927" y="18041"/>
                  <a:pt x="88218" y="21750"/>
                </a:cubicBezTo>
                <a:cubicBezTo>
                  <a:pt x="84508" y="25459"/>
                  <a:pt x="84508" y="31483"/>
                  <a:pt x="88218" y="35192"/>
                </a:cubicBezTo>
                <a:lnTo>
                  <a:pt x="119493" y="66467"/>
                </a:lnTo>
                <a:lnTo>
                  <a:pt x="9495" y="66467"/>
                </a:lnTo>
                <a:cubicBezTo>
                  <a:pt x="4243" y="66467"/>
                  <a:pt x="0" y="70711"/>
                  <a:pt x="0" y="75963"/>
                </a:cubicBezTo>
                <a:cubicBezTo>
                  <a:pt x="0" y="81215"/>
                  <a:pt x="4243" y="85458"/>
                  <a:pt x="9495" y="85458"/>
                </a:cubicBezTo>
                <a:lnTo>
                  <a:pt x="119493" y="85458"/>
                </a:lnTo>
                <a:lnTo>
                  <a:pt x="88218" y="116733"/>
                </a:lnTo>
                <a:cubicBezTo>
                  <a:pt x="84508" y="120442"/>
                  <a:pt x="84508" y="126466"/>
                  <a:pt x="88218" y="130175"/>
                </a:cubicBezTo>
                <a:cubicBezTo>
                  <a:pt x="91927" y="133884"/>
                  <a:pt x="97950" y="133884"/>
                  <a:pt x="101659" y="130175"/>
                </a:cubicBezTo>
                <a:lnTo>
                  <a:pt x="149136" y="82698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1" name="Text 69"/>
          <p:cNvSpPr/>
          <p:nvPr/>
        </p:nvSpPr>
        <p:spPr>
          <a:xfrm>
            <a:off x="11169354" y="4876801"/>
            <a:ext cx="51274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Limpios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83770" y="5218633"/>
            <a:ext cx="5412336" cy="341832"/>
          </a:xfrm>
          <a:custGeom>
            <a:avLst/>
            <a:gdLst/>
            <a:ahLst/>
            <a:cxnLst/>
            <a:rect l="l" t="t" r="r" b="b"/>
            <a:pathLst>
              <a:path w="5412336" h="341832">
                <a:moveTo>
                  <a:pt x="37981" y="0"/>
                </a:moveTo>
                <a:lnTo>
                  <a:pt x="5374356" y="0"/>
                </a:lnTo>
                <a:cubicBezTo>
                  <a:pt x="5395332" y="0"/>
                  <a:pt x="5412336" y="17005"/>
                  <a:pt x="5412336" y="37981"/>
                </a:cubicBezTo>
                <a:lnTo>
                  <a:pt x="5412336" y="303851"/>
                </a:lnTo>
                <a:cubicBezTo>
                  <a:pt x="5412336" y="324827"/>
                  <a:pt x="5395332" y="341832"/>
                  <a:pt x="5374356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359733" y="5294595"/>
            <a:ext cx="99700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Estructura plana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39314" y="5313586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49136" y="82669"/>
                </a:moveTo>
                <a:cubicBezTo>
                  <a:pt x="152845" y="78960"/>
                  <a:pt x="152845" y="72936"/>
                  <a:pt x="149136" y="69227"/>
                </a:cubicBezTo>
                <a:lnTo>
                  <a:pt x="101659" y="21750"/>
                </a:lnTo>
                <a:cubicBezTo>
                  <a:pt x="97950" y="18041"/>
                  <a:pt x="91927" y="18041"/>
                  <a:pt x="88218" y="21750"/>
                </a:cubicBezTo>
                <a:cubicBezTo>
                  <a:pt x="84508" y="25459"/>
                  <a:pt x="84508" y="31483"/>
                  <a:pt x="88218" y="35192"/>
                </a:cubicBezTo>
                <a:lnTo>
                  <a:pt x="119493" y="66467"/>
                </a:lnTo>
                <a:lnTo>
                  <a:pt x="9495" y="66467"/>
                </a:lnTo>
                <a:cubicBezTo>
                  <a:pt x="4243" y="66467"/>
                  <a:pt x="0" y="70711"/>
                  <a:pt x="0" y="75963"/>
                </a:cubicBezTo>
                <a:cubicBezTo>
                  <a:pt x="0" y="81215"/>
                  <a:pt x="4243" y="85458"/>
                  <a:pt x="9495" y="85458"/>
                </a:cubicBezTo>
                <a:lnTo>
                  <a:pt x="119493" y="85458"/>
                </a:lnTo>
                <a:lnTo>
                  <a:pt x="88218" y="116733"/>
                </a:lnTo>
                <a:cubicBezTo>
                  <a:pt x="84508" y="120442"/>
                  <a:pt x="84508" y="126466"/>
                  <a:pt x="88218" y="130175"/>
                </a:cubicBezTo>
                <a:cubicBezTo>
                  <a:pt x="91927" y="133884"/>
                  <a:pt x="97950" y="133884"/>
                  <a:pt x="101659" y="130175"/>
                </a:cubicBezTo>
                <a:lnTo>
                  <a:pt x="149136" y="82698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5" name="Text 73"/>
          <p:cNvSpPr/>
          <p:nvPr/>
        </p:nvSpPr>
        <p:spPr>
          <a:xfrm>
            <a:off x="10941822" y="5294595"/>
            <a:ext cx="74063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Enriquecida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283770" y="5636427"/>
            <a:ext cx="5412336" cy="341832"/>
          </a:xfrm>
          <a:custGeom>
            <a:avLst/>
            <a:gdLst/>
            <a:ahLst/>
            <a:cxnLst/>
            <a:rect l="l" t="t" r="r" b="b"/>
            <a:pathLst>
              <a:path w="5412336" h="341832">
                <a:moveTo>
                  <a:pt x="37981" y="0"/>
                </a:moveTo>
                <a:lnTo>
                  <a:pt x="5374356" y="0"/>
                </a:lnTo>
                <a:cubicBezTo>
                  <a:pt x="5395332" y="0"/>
                  <a:pt x="5412336" y="17005"/>
                  <a:pt x="5412336" y="37981"/>
                </a:cubicBezTo>
                <a:lnTo>
                  <a:pt x="5412336" y="303851"/>
                </a:lnTo>
                <a:cubicBezTo>
                  <a:pt x="5412336" y="324827"/>
                  <a:pt x="5395332" y="341832"/>
                  <a:pt x="5374356" y="341832"/>
                </a:cubicBezTo>
                <a:lnTo>
                  <a:pt x="37981" y="341832"/>
                </a:lnTo>
                <a:cubicBezTo>
                  <a:pt x="17019" y="341832"/>
                  <a:pt x="0" y="324813"/>
                  <a:pt x="0" y="30385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6359733" y="5712390"/>
            <a:ext cx="112044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Viajes individuales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133674" y="5731380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49136" y="82669"/>
                </a:moveTo>
                <a:cubicBezTo>
                  <a:pt x="152845" y="78960"/>
                  <a:pt x="152845" y="72936"/>
                  <a:pt x="149136" y="69227"/>
                </a:cubicBezTo>
                <a:lnTo>
                  <a:pt x="101659" y="21750"/>
                </a:lnTo>
                <a:cubicBezTo>
                  <a:pt x="97950" y="18041"/>
                  <a:pt x="91927" y="18041"/>
                  <a:pt x="88218" y="21750"/>
                </a:cubicBezTo>
                <a:cubicBezTo>
                  <a:pt x="84508" y="25459"/>
                  <a:pt x="84508" y="31483"/>
                  <a:pt x="88218" y="35192"/>
                </a:cubicBezTo>
                <a:lnTo>
                  <a:pt x="119493" y="66467"/>
                </a:lnTo>
                <a:lnTo>
                  <a:pt x="9495" y="66467"/>
                </a:lnTo>
                <a:cubicBezTo>
                  <a:pt x="4243" y="66467"/>
                  <a:pt x="0" y="70711"/>
                  <a:pt x="0" y="75963"/>
                </a:cubicBezTo>
                <a:cubicBezTo>
                  <a:pt x="0" y="81215"/>
                  <a:pt x="4243" y="85458"/>
                  <a:pt x="9495" y="85458"/>
                </a:cubicBezTo>
                <a:lnTo>
                  <a:pt x="119493" y="85458"/>
                </a:lnTo>
                <a:lnTo>
                  <a:pt x="88218" y="116733"/>
                </a:lnTo>
                <a:cubicBezTo>
                  <a:pt x="84508" y="120442"/>
                  <a:pt x="84508" y="126466"/>
                  <a:pt x="88218" y="130175"/>
                </a:cubicBezTo>
                <a:cubicBezTo>
                  <a:pt x="91927" y="133884"/>
                  <a:pt x="97950" y="133884"/>
                  <a:pt x="101659" y="130175"/>
                </a:cubicBezTo>
                <a:lnTo>
                  <a:pt x="149136" y="82698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9" name="Text 77"/>
          <p:cNvSpPr/>
          <p:nvPr/>
        </p:nvSpPr>
        <p:spPr>
          <a:xfrm>
            <a:off x="11005440" y="5712390"/>
            <a:ext cx="68366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Agregados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188817" y="6206147"/>
            <a:ext cx="5621234" cy="645682"/>
          </a:xfrm>
          <a:custGeom>
            <a:avLst/>
            <a:gdLst/>
            <a:ahLst/>
            <a:cxnLst/>
            <a:rect l="l" t="t" r="r" b="b"/>
            <a:pathLst>
              <a:path w="5621234" h="645682">
                <a:moveTo>
                  <a:pt x="37981" y="0"/>
                </a:moveTo>
                <a:lnTo>
                  <a:pt x="5545269" y="0"/>
                </a:lnTo>
                <a:cubicBezTo>
                  <a:pt x="5587223" y="0"/>
                  <a:pt x="5621234" y="34010"/>
                  <a:pt x="5621234" y="75965"/>
                </a:cubicBezTo>
                <a:lnTo>
                  <a:pt x="5621234" y="569718"/>
                </a:lnTo>
                <a:cubicBezTo>
                  <a:pt x="5621234" y="611672"/>
                  <a:pt x="5587223" y="645682"/>
                  <a:pt x="5545269" y="645682"/>
                </a:cubicBezTo>
                <a:lnTo>
                  <a:pt x="37981" y="645682"/>
                </a:lnTo>
                <a:cubicBezTo>
                  <a:pt x="17005" y="645682"/>
                  <a:pt x="0" y="628677"/>
                  <a:pt x="0" y="607701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188817" y="6206147"/>
            <a:ext cx="37981" cy="645682"/>
          </a:xfrm>
          <a:custGeom>
            <a:avLst/>
            <a:gdLst/>
            <a:ahLst/>
            <a:cxnLst/>
            <a:rect l="l" t="t" r="r" b="b"/>
            <a:pathLst>
              <a:path w="37981" h="645682">
                <a:moveTo>
                  <a:pt x="37981" y="0"/>
                </a:moveTo>
                <a:lnTo>
                  <a:pt x="37981" y="0"/>
                </a:lnTo>
                <a:lnTo>
                  <a:pt x="37981" y="645682"/>
                </a:lnTo>
                <a:lnTo>
                  <a:pt x="37981" y="645682"/>
                </a:lnTo>
                <a:cubicBezTo>
                  <a:pt x="17019" y="645682"/>
                  <a:pt x="0" y="628663"/>
                  <a:pt x="0" y="607701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82" name="Shape 80"/>
          <p:cNvSpPr/>
          <p:nvPr/>
        </p:nvSpPr>
        <p:spPr>
          <a:xfrm>
            <a:off x="6340742" y="6342879"/>
            <a:ext cx="132935" cy="132935"/>
          </a:xfrm>
          <a:custGeom>
            <a:avLst/>
            <a:gdLst/>
            <a:ahLst/>
            <a:cxnLst/>
            <a:rect l="l" t="t" r="r" b="b"/>
            <a:pathLst>
              <a:path w="132935" h="132935">
                <a:moveTo>
                  <a:pt x="66467" y="132935"/>
                </a:moveTo>
                <a:cubicBezTo>
                  <a:pt x="103152" y="132935"/>
                  <a:pt x="132935" y="103152"/>
                  <a:pt x="132935" y="66467"/>
                </a:cubicBezTo>
                <a:cubicBezTo>
                  <a:pt x="132935" y="29783"/>
                  <a:pt x="103152" y="0"/>
                  <a:pt x="66467" y="0"/>
                </a:cubicBezTo>
                <a:cubicBezTo>
                  <a:pt x="29783" y="0"/>
                  <a:pt x="0" y="29783"/>
                  <a:pt x="0" y="66467"/>
                </a:cubicBezTo>
                <a:cubicBezTo>
                  <a:pt x="0" y="103152"/>
                  <a:pt x="29783" y="132935"/>
                  <a:pt x="66467" y="132935"/>
                </a:cubicBezTo>
                <a:close/>
                <a:moveTo>
                  <a:pt x="88381" y="55225"/>
                </a:moveTo>
                <a:lnTo>
                  <a:pt x="67610" y="88459"/>
                </a:lnTo>
                <a:cubicBezTo>
                  <a:pt x="66519" y="90198"/>
                  <a:pt x="64650" y="91289"/>
                  <a:pt x="62599" y="91393"/>
                </a:cubicBezTo>
                <a:cubicBezTo>
                  <a:pt x="60548" y="91496"/>
                  <a:pt x="58574" y="90562"/>
                  <a:pt x="57354" y="88900"/>
                </a:cubicBezTo>
                <a:lnTo>
                  <a:pt x="44891" y="72283"/>
                </a:lnTo>
                <a:cubicBezTo>
                  <a:pt x="42814" y="69531"/>
                  <a:pt x="43385" y="65636"/>
                  <a:pt x="46138" y="63559"/>
                </a:cubicBezTo>
                <a:cubicBezTo>
                  <a:pt x="48890" y="61482"/>
                  <a:pt x="52784" y="62053"/>
                  <a:pt x="54861" y="64806"/>
                </a:cubicBezTo>
                <a:lnTo>
                  <a:pt x="61872" y="74153"/>
                </a:lnTo>
                <a:lnTo>
                  <a:pt x="77813" y="48630"/>
                </a:lnTo>
                <a:cubicBezTo>
                  <a:pt x="79631" y="45722"/>
                  <a:pt x="83474" y="44813"/>
                  <a:pt x="86407" y="46657"/>
                </a:cubicBezTo>
                <a:cubicBezTo>
                  <a:pt x="89341" y="48500"/>
                  <a:pt x="90224" y="52317"/>
                  <a:pt x="88381" y="55251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83" name="Text 81"/>
          <p:cNvSpPr/>
          <p:nvPr/>
        </p:nvSpPr>
        <p:spPr>
          <a:xfrm>
            <a:off x="6521065" y="6320091"/>
            <a:ext cx="524150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Estado: Completo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21752" y="6547978"/>
            <a:ext cx="544082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robusto y reproducible, listo para producción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426853"/>
            <a:ext cx="355711" cy="355711"/>
          </a:xfrm>
          <a:custGeom>
            <a:avLst/>
            <a:gdLst/>
            <a:ahLst/>
            <a:cxnLst/>
            <a:rect l="l" t="t" r="r" b="b"/>
            <a:pathLst>
              <a:path w="355711" h="355711">
                <a:moveTo>
                  <a:pt x="71142" y="0"/>
                </a:moveTo>
                <a:lnTo>
                  <a:pt x="284569" y="0"/>
                </a:lnTo>
                <a:cubicBezTo>
                  <a:pt x="323860" y="0"/>
                  <a:pt x="355711" y="31851"/>
                  <a:pt x="355711" y="71142"/>
                </a:cubicBezTo>
                <a:lnTo>
                  <a:pt x="355711" y="284569"/>
                </a:lnTo>
                <a:cubicBezTo>
                  <a:pt x="355711" y="323860"/>
                  <a:pt x="323860" y="355711"/>
                  <a:pt x="284569" y="355711"/>
                </a:cubicBezTo>
                <a:lnTo>
                  <a:pt x="71142" y="355711"/>
                </a:lnTo>
                <a:cubicBezTo>
                  <a:pt x="31851" y="355711"/>
                  <a:pt x="0" y="323860"/>
                  <a:pt x="0" y="284569"/>
                </a:cubicBezTo>
                <a:lnTo>
                  <a:pt x="0" y="71142"/>
                </a:lnTo>
                <a:cubicBezTo>
                  <a:pt x="0" y="31851"/>
                  <a:pt x="31851" y="0"/>
                  <a:pt x="7114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55755" y="524674"/>
            <a:ext cx="160070" cy="160070"/>
          </a:xfrm>
          <a:custGeom>
            <a:avLst/>
            <a:gdLst/>
            <a:ahLst/>
            <a:cxnLst/>
            <a:rect l="l" t="t" r="r" b="b"/>
            <a:pathLst>
              <a:path w="160070" h="160070">
                <a:moveTo>
                  <a:pt x="10004" y="10004"/>
                </a:moveTo>
                <a:cubicBezTo>
                  <a:pt x="15538" y="10004"/>
                  <a:pt x="20009" y="14475"/>
                  <a:pt x="20009" y="20009"/>
                </a:cubicBezTo>
                <a:lnTo>
                  <a:pt x="20009" y="125055"/>
                </a:lnTo>
                <a:cubicBezTo>
                  <a:pt x="20009" y="127806"/>
                  <a:pt x="22260" y="130057"/>
                  <a:pt x="25011" y="130057"/>
                </a:cubicBezTo>
                <a:lnTo>
                  <a:pt x="150066" y="130057"/>
                </a:lnTo>
                <a:cubicBezTo>
                  <a:pt x="155599" y="130057"/>
                  <a:pt x="160070" y="134528"/>
                  <a:pt x="160070" y="140061"/>
                </a:cubicBezTo>
                <a:cubicBezTo>
                  <a:pt x="160070" y="145595"/>
                  <a:pt x="155599" y="150066"/>
                  <a:pt x="150066" y="150066"/>
                </a:cubicBezTo>
                <a:lnTo>
                  <a:pt x="25011" y="150066"/>
                </a:lnTo>
                <a:cubicBezTo>
                  <a:pt x="11192" y="150066"/>
                  <a:pt x="0" y="138873"/>
                  <a:pt x="0" y="125055"/>
                </a:cubicBezTo>
                <a:lnTo>
                  <a:pt x="0" y="20009"/>
                </a:lnTo>
                <a:cubicBezTo>
                  <a:pt x="0" y="14475"/>
                  <a:pt x="4471" y="10004"/>
                  <a:pt x="10004" y="10004"/>
                </a:cubicBezTo>
                <a:close/>
                <a:moveTo>
                  <a:pt x="40018" y="30013"/>
                </a:moveTo>
                <a:cubicBezTo>
                  <a:pt x="40018" y="24479"/>
                  <a:pt x="44488" y="20009"/>
                  <a:pt x="50022" y="20009"/>
                </a:cubicBezTo>
                <a:lnTo>
                  <a:pt x="110048" y="20009"/>
                </a:lnTo>
                <a:cubicBezTo>
                  <a:pt x="115582" y="20009"/>
                  <a:pt x="120053" y="24479"/>
                  <a:pt x="120053" y="30013"/>
                </a:cubicBezTo>
                <a:cubicBezTo>
                  <a:pt x="120053" y="35547"/>
                  <a:pt x="115582" y="40018"/>
                  <a:pt x="110048" y="40018"/>
                </a:cubicBezTo>
                <a:lnTo>
                  <a:pt x="50022" y="40018"/>
                </a:lnTo>
                <a:cubicBezTo>
                  <a:pt x="44488" y="40018"/>
                  <a:pt x="40018" y="35547"/>
                  <a:pt x="40018" y="30013"/>
                </a:cubicBezTo>
                <a:close/>
                <a:moveTo>
                  <a:pt x="50022" y="55024"/>
                </a:moveTo>
                <a:lnTo>
                  <a:pt x="90039" y="55024"/>
                </a:lnTo>
                <a:cubicBezTo>
                  <a:pt x="95573" y="55024"/>
                  <a:pt x="100044" y="59495"/>
                  <a:pt x="100044" y="65028"/>
                </a:cubicBezTo>
                <a:cubicBezTo>
                  <a:pt x="100044" y="70562"/>
                  <a:pt x="95573" y="75033"/>
                  <a:pt x="90039" y="75033"/>
                </a:cubicBezTo>
                <a:lnTo>
                  <a:pt x="50022" y="75033"/>
                </a:lnTo>
                <a:cubicBezTo>
                  <a:pt x="44488" y="75033"/>
                  <a:pt x="40018" y="70562"/>
                  <a:pt x="40018" y="65028"/>
                </a:cubicBezTo>
                <a:cubicBezTo>
                  <a:pt x="40018" y="59495"/>
                  <a:pt x="44488" y="55024"/>
                  <a:pt x="50022" y="55024"/>
                </a:cubicBezTo>
                <a:close/>
                <a:moveTo>
                  <a:pt x="50022" y="90039"/>
                </a:moveTo>
                <a:lnTo>
                  <a:pt x="130057" y="90039"/>
                </a:lnTo>
                <a:cubicBezTo>
                  <a:pt x="135591" y="90039"/>
                  <a:pt x="140061" y="94510"/>
                  <a:pt x="140061" y="100044"/>
                </a:cubicBezTo>
                <a:cubicBezTo>
                  <a:pt x="140061" y="105577"/>
                  <a:pt x="135591" y="110048"/>
                  <a:pt x="130057" y="110048"/>
                </a:cubicBezTo>
                <a:lnTo>
                  <a:pt x="50022" y="110048"/>
                </a:lnTo>
                <a:cubicBezTo>
                  <a:pt x="44488" y="110048"/>
                  <a:pt x="40018" y="105577"/>
                  <a:pt x="40018" y="100044"/>
                </a:cubicBezTo>
                <a:cubicBezTo>
                  <a:pt x="40018" y="94510"/>
                  <a:pt x="44488" y="90039"/>
                  <a:pt x="50022" y="90039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818136" y="355711"/>
            <a:ext cx="614491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spc="49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8136" y="533567"/>
            <a:ext cx="6216053" cy="3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Exploratorio: Distribuciones y Correlaciones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5711" y="924849"/>
            <a:ext cx="711422" cy="35571"/>
          </a:xfrm>
          <a:custGeom>
            <a:avLst/>
            <a:gdLst/>
            <a:ahLst/>
            <a:cxnLst/>
            <a:rect l="l" t="t" r="r" b="b"/>
            <a:pathLst>
              <a:path w="711422" h="35571">
                <a:moveTo>
                  <a:pt x="0" y="0"/>
                </a:moveTo>
                <a:lnTo>
                  <a:pt x="711422" y="0"/>
                </a:lnTo>
                <a:lnTo>
                  <a:pt x="711422" y="35571"/>
                </a:lnTo>
                <a:lnTo>
                  <a:pt x="0" y="35571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73497" y="1102705"/>
            <a:ext cx="7585540" cy="2169838"/>
          </a:xfrm>
          <a:custGeom>
            <a:avLst/>
            <a:gdLst/>
            <a:ahLst/>
            <a:cxnLst/>
            <a:rect l="l" t="t" r="r" b="b"/>
            <a:pathLst>
              <a:path w="7585540" h="2169838">
                <a:moveTo>
                  <a:pt x="35571" y="0"/>
                </a:moveTo>
                <a:lnTo>
                  <a:pt x="7514391" y="0"/>
                </a:lnTo>
                <a:cubicBezTo>
                  <a:pt x="7553686" y="0"/>
                  <a:pt x="7585540" y="31854"/>
                  <a:pt x="7585540" y="71149"/>
                </a:cubicBezTo>
                <a:lnTo>
                  <a:pt x="7585540" y="2098689"/>
                </a:lnTo>
                <a:cubicBezTo>
                  <a:pt x="7585540" y="2137984"/>
                  <a:pt x="7553686" y="2169838"/>
                  <a:pt x="7514391" y="2169838"/>
                </a:cubicBezTo>
                <a:lnTo>
                  <a:pt x="35571" y="2169838"/>
                </a:lnTo>
                <a:cubicBezTo>
                  <a:pt x="15926" y="2169838"/>
                  <a:pt x="0" y="2153912"/>
                  <a:pt x="0" y="2134267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3497" y="1102705"/>
            <a:ext cx="35571" cy="2169838"/>
          </a:xfrm>
          <a:custGeom>
            <a:avLst/>
            <a:gdLst/>
            <a:ahLst/>
            <a:cxnLst/>
            <a:rect l="l" t="t" r="r" b="b"/>
            <a:pathLst>
              <a:path w="35571" h="2169838">
                <a:moveTo>
                  <a:pt x="35571" y="0"/>
                </a:moveTo>
                <a:lnTo>
                  <a:pt x="35571" y="0"/>
                </a:lnTo>
                <a:lnTo>
                  <a:pt x="35571" y="2169838"/>
                </a:lnTo>
                <a:lnTo>
                  <a:pt x="35571" y="2169838"/>
                </a:lnTo>
                <a:cubicBezTo>
                  <a:pt x="15926" y="2169838"/>
                  <a:pt x="0" y="2153912"/>
                  <a:pt x="0" y="2134267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497996" y="1209418"/>
            <a:ext cx="7434363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de Ingresos por Viaje</a:t>
            </a:r>
            <a:endParaRPr lang="en-US" sz="1600" dirty="0"/>
          </a:p>
        </p:txBody>
      </p:sp>
      <p:pic>
        <p:nvPicPr>
          <p:cNvPr id="10" name="Image 0" descr="https://kimi-img.moonshot.cn/pub/slides/26-01-16-00:54:50-d5khnmi23rd86k4unb2g.png">    </p:cNvPr>
          <p:cNvPicPr>
            <a:picLocks noChangeAspect="1"/>
          </p:cNvPicPr>
          <p:nvPr/>
        </p:nvPicPr>
        <p:blipFill>
          <a:blip r:embed="rId1"/>
          <a:srcRect l="0" r="0" t="39" b="39"/>
          <a:stretch/>
        </p:blipFill>
        <p:spPr>
          <a:xfrm>
            <a:off x="497996" y="1529558"/>
            <a:ext cx="6820761" cy="1422845"/>
          </a:xfrm>
          <a:prstGeom prst="roundRect">
            <a:avLst>
              <a:gd name="adj" fmla="val 0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497996" y="2987974"/>
            <a:ext cx="7416578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Distribución derecha con media $15.20, indicando viajes cortos de alto volumen y largas distancias como outliers premium.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3497" y="3379256"/>
            <a:ext cx="3734967" cy="1956411"/>
          </a:xfrm>
          <a:custGeom>
            <a:avLst/>
            <a:gdLst/>
            <a:ahLst/>
            <a:cxnLst/>
            <a:rect l="l" t="t" r="r" b="b"/>
            <a:pathLst>
              <a:path w="3734967" h="1956411">
                <a:moveTo>
                  <a:pt x="35571" y="0"/>
                </a:moveTo>
                <a:lnTo>
                  <a:pt x="3663832" y="0"/>
                </a:lnTo>
                <a:cubicBezTo>
                  <a:pt x="3703119" y="0"/>
                  <a:pt x="3734967" y="31848"/>
                  <a:pt x="3734967" y="71135"/>
                </a:cubicBezTo>
                <a:lnTo>
                  <a:pt x="3734967" y="1885276"/>
                </a:lnTo>
                <a:cubicBezTo>
                  <a:pt x="3734967" y="1924563"/>
                  <a:pt x="3703119" y="1956411"/>
                  <a:pt x="3663832" y="1956411"/>
                </a:cubicBezTo>
                <a:lnTo>
                  <a:pt x="35571" y="1956411"/>
                </a:lnTo>
                <a:cubicBezTo>
                  <a:pt x="15926" y="1956411"/>
                  <a:pt x="0" y="1940486"/>
                  <a:pt x="0" y="1920840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73497" y="3379256"/>
            <a:ext cx="35571" cy="1956411"/>
          </a:xfrm>
          <a:custGeom>
            <a:avLst/>
            <a:gdLst/>
            <a:ahLst/>
            <a:cxnLst/>
            <a:rect l="l" t="t" r="r" b="b"/>
            <a:pathLst>
              <a:path w="35571" h="1956411">
                <a:moveTo>
                  <a:pt x="35571" y="0"/>
                </a:moveTo>
                <a:lnTo>
                  <a:pt x="35571" y="0"/>
                </a:lnTo>
                <a:lnTo>
                  <a:pt x="35571" y="1956411"/>
                </a:lnTo>
                <a:lnTo>
                  <a:pt x="35571" y="1956411"/>
                </a:lnTo>
                <a:cubicBezTo>
                  <a:pt x="15926" y="1956411"/>
                  <a:pt x="0" y="1940486"/>
                  <a:pt x="0" y="1920840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4" name="Text 11"/>
          <p:cNvSpPr/>
          <p:nvPr/>
        </p:nvSpPr>
        <p:spPr>
          <a:xfrm>
            <a:off x="497996" y="3485969"/>
            <a:ext cx="3574897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Relación Distancia vs. Ingresos</a:t>
            </a:r>
            <a:endParaRPr lang="en-US" sz="1600" dirty="0"/>
          </a:p>
        </p:txBody>
      </p:sp>
      <p:pic>
        <p:nvPicPr>
          <p:cNvPr id="15" name="Image 1" descr="https://kimi-img.moonshot.cn/pub/slides/26-01-16-00:54:50-d5khnmj67ti0spv7bo4g.png">    </p:cNvPr>
          <p:cNvPicPr>
            <a:picLocks noChangeAspect="1"/>
          </p:cNvPicPr>
          <p:nvPr/>
        </p:nvPicPr>
        <p:blipFill>
          <a:blip r:embed="rId2"/>
          <a:srcRect l="0" r="0" t="83" b="83"/>
          <a:stretch/>
        </p:blipFill>
        <p:spPr>
          <a:xfrm>
            <a:off x="497996" y="3770538"/>
            <a:ext cx="3228079" cy="1244989"/>
          </a:xfrm>
          <a:prstGeom prst="roundRect">
            <a:avLst>
              <a:gd name="adj" fmla="val 0"/>
            </a:avLst>
          </a:prstGeom>
        </p:spPr>
      </p:pic>
      <p:sp>
        <p:nvSpPr>
          <p:cNvPr id="16" name="Text 12"/>
          <p:cNvSpPr/>
          <p:nvPr/>
        </p:nvSpPr>
        <p:spPr>
          <a:xfrm>
            <a:off x="497996" y="5051098"/>
            <a:ext cx="3566004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Correlación: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0.89 (muy fuerte)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228961" y="3379256"/>
            <a:ext cx="3734967" cy="1956411"/>
          </a:xfrm>
          <a:custGeom>
            <a:avLst/>
            <a:gdLst/>
            <a:ahLst/>
            <a:cxnLst/>
            <a:rect l="l" t="t" r="r" b="b"/>
            <a:pathLst>
              <a:path w="3734967" h="1956411">
                <a:moveTo>
                  <a:pt x="35571" y="0"/>
                </a:moveTo>
                <a:lnTo>
                  <a:pt x="3663832" y="0"/>
                </a:lnTo>
                <a:cubicBezTo>
                  <a:pt x="3703119" y="0"/>
                  <a:pt x="3734967" y="31848"/>
                  <a:pt x="3734967" y="71135"/>
                </a:cubicBezTo>
                <a:lnTo>
                  <a:pt x="3734967" y="1885276"/>
                </a:lnTo>
                <a:cubicBezTo>
                  <a:pt x="3734967" y="1924563"/>
                  <a:pt x="3703119" y="1956411"/>
                  <a:pt x="3663832" y="1956411"/>
                </a:cubicBezTo>
                <a:lnTo>
                  <a:pt x="35571" y="1956411"/>
                </a:lnTo>
                <a:cubicBezTo>
                  <a:pt x="15926" y="1956411"/>
                  <a:pt x="0" y="1940486"/>
                  <a:pt x="0" y="1920840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228961" y="3379256"/>
            <a:ext cx="35571" cy="1956411"/>
          </a:xfrm>
          <a:custGeom>
            <a:avLst/>
            <a:gdLst/>
            <a:ahLst/>
            <a:cxnLst/>
            <a:rect l="l" t="t" r="r" b="b"/>
            <a:pathLst>
              <a:path w="35571" h="1956411">
                <a:moveTo>
                  <a:pt x="35571" y="0"/>
                </a:moveTo>
                <a:lnTo>
                  <a:pt x="35571" y="0"/>
                </a:lnTo>
                <a:lnTo>
                  <a:pt x="35571" y="1956411"/>
                </a:lnTo>
                <a:lnTo>
                  <a:pt x="35571" y="1956411"/>
                </a:lnTo>
                <a:cubicBezTo>
                  <a:pt x="15926" y="1956411"/>
                  <a:pt x="0" y="1940486"/>
                  <a:pt x="0" y="1920840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9" name="Text 15"/>
          <p:cNvSpPr/>
          <p:nvPr/>
        </p:nvSpPr>
        <p:spPr>
          <a:xfrm>
            <a:off x="4353460" y="3485969"/>
            <a:ext cx="3574897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Duración vs. Ingresos</a:t>
            </a:r>
            <a:endParaRPr lang="en-US" sz="1600" dirty="0"/>
          </a:p>
        </p:txBody>
      </p:sp>
      <p:pic>
        <p:nvPicPr>
          <p:cNvPr id="20" name="Image 2" descr="https://kimi-img.moonshot.cn/pub/slides/26-01-16-00:54:50-d5khnmmlv3k2q6rsgjh0.png">    </p:cNvPr>
          <p:cNvPicPr>
            <a:picLocks noChangeAspect="1"/>
          </p:cNvPicPr>
          <p:nvPr/>
        </p:nvPicPr>
        <p:blipFill>
          <a:blip r:embed="rId3"/>
          <a:srcRect l="0" r="0" t="83" b="83"/>
          <a:stretch/>
        </p:blipFill>
        <p:spPr>
          <a:xfrm>
            <a:off x="4353460" y="3770538"/>
            <a:ext cx="3228079" cy="1244989"/>
          </a:xfrm>
          <a:prstGeom prst="roundRect">
            <a:avLst>
              <a:gd name="adj" fmla="val 0"/>
            </a:avLst>
          </a:prstGeom>
        </p:spPr>
      </p:pic>
      <p:sp>
        <p:nvSpPr>
          <p:cNvPr id="21" name="Text 16"/>
          <p:cNvSpPr/>
          <p:nvPr/>
        </p:nvSpPr>
        <p:spPr>
          <a:xfrm>
            <a:off x="4353460" y="5051098"/>
            <a:ext cx="3566004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Correlación: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0.76 (fuerte)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119997" y="1102705"/>
            <a:ext cx="3717182" cy="2347694"/>
          </a:xfrm>
          <a:custGeom>
            <a:avLst/>
            <a:gdLst/>
            <a:ahLst/>
            <a:cxnLst/>
            <a:rect l="l" t="t" r="r" b="b"/>
            <a:pathLst>
              <a:path w="3717182" h="2347694">
                <a:moveTo>
                  <a:pt x="35571" y="0"/>
                </a:moveTo>
                <a:lnTo>
                  <a:pt x="3646047" y="0"/>
                </a:lnTo>
                <a:cubicBezTo>
                  <a:pt x="3685333" y="0"/>
                  <a:pt x="3717182" y="31848"/>
                  <a:pt x="3717182" y="71135"/>
                </a:cubicBezTo>
                <a:lnTo>
                  <a:pt x="3717182" y="2276559"/>
                </a:lnTo>
                <a:cubicBezTo>
                  <a:pt x="3717182" y="2315845"/>
                  <a:pt x="3685333" y="2347694"/>
                  <a:pt x="3646047" y="2347694"/>
                </a:cubicBezTo>
                <a:lnTo>
                  <a:pt x="35571" y="2347694"/>
                </a:lnTo>
                <a:cubicBezTo>
                  <a:pt x="15926" y="2347694"/>
                  <a:pt x="0" y="2331768"/>
                  <a:pt x="0" y="2312123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8119997" y="1102705"/>
            <a:ext cx="35571" cy="2347694"/>
          </a:xfrm>
          <a:custGeom>
            <a:avLst/>
            <a:gdLst/>
            <a:ahLst/>
            <a:cxnLst/>
            <a:rect l="l" t="t" r="r" b="b"/>
            <a:pathLst>
              <a:path w="35571" h="2347694">
                <a:moveTo>
                  <a:pt x="35571" y="0"/>
                </a:moveTo>
                <a:lnTo>
                  <a:pt x="35571" y="0"/>
                </a:lnTo>
                <a:lnTo>
                  <a:pt x="35571" y="2347694"/>
                </a:lnTo>
                <a:lnTo>
                  <a:pt x="35571" y="2347694"/>
                </a:lnTo>
                <a:cubicBezTo>
                  <a:pt x="15926" y="2347694"/>
                  <a:pt x="0" y="2331768"/>
                  <a:pt x="0" y="2312123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4" name="Text 19"/>
          <p:cNvSpPr/>
          <p:nvPr/>
        </p:nvSpPr>
        <p:spPr>
          <a:xfrm>
            <a:off x="8244496" y="1209418"/>
            <a:ext cx="3557112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Estadísticas Descriptivas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244496" y="1493987"/>
            <a:ext cx="3485969" cy="569138"/>
          </a:xfrm>
          <a:custGeom>
            <a:avLst/>
            <a:gdLst/>
            <a:ahLst/>
            <a:cxnLst/>
            <a:rect l="l" t="t" r="r" b="b"/>
            <a:pathLst>
              <a:path w="3485969" h="569138">
                <a:moveTo>
                  <a:pt x="35571" y="0"/>
                </a:moveTo>
                <a:lnTo>
                  <a:pt x="3450398" y="0"/>
                </a:lnTo>
                <a:cubicBezTo>
                  <a:pt x="3470044" y="0"/>
                  <a:pt x="3485969" y="15926"/>
                  <a:pt x="3485969" y="35571"/>
                </a:cubicBezTo>
                <a:lnTo>
                  <a:pt x="3485969" y="533567"/>
                </a:lnTo>
                <a:cubicBezTo>
                  <a:pt x="3485969" y="553212"/>
                  <a:pt x="3470044" y="569138"/>
                  <a:pt x="3450398" y="569138"/>
                </a:cubicBezTo>
                <a:lnTo>
                  <a:pt x="35571" y="569138"/>
                </a:lnTo>
                <a:cubicBezTo>
                  <a:pt x="15926" y="569138"/>
                  <a:pt x="0" y="553212"/>
                  <a:pt x="0" y="533567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8315638" y="1565129"/>
            <a:ext cx="3397042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 promedio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315638" y="1707303"/>
            <a:ext cx="3450398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$15.20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244496" y="2134046"/>
            <a:ext cx="3485969" cy="569138"/>
          </a:xfrm>
          <a:custGeom>
            <a:avLst/>
            <a:gdLst/>
            <a:ahLst/>
            <a:cxnLst/>
            <a:rect l="l" t="t" r="r" b="b"/>
            <a:pathLst>
              <a:path w="3485969" h="569138">
                <a:moveTo>
                  <a:pt x="35571" y="0"/>
                </a:moveTo>
                <a:lnTo>
                  <a:pt x="3450398" y="0"/>
                </a:lnTo>
                <a:cubicBezTo>
                  <a:pt x="3470044" y="0"/>
                  <a:pt x="3485969" y="15926"/>
                  <a:pt x="3485969" y="35571"/>
                </a:cubicBezTo>
                <a:lnTo>
                  <a:pt x="3485969" y="533567"/>
                </a:lnTo>
                <a:cubicBezTo>
                  <a:pt x="3485969" y="553212"/>
                  <a:pt x="3470044" y="569138"/>
                  <a:pt x="3450398" y="569138"/>
                </a:cubicBezTo>
                <a:lnTo>
                  <a:pt x="35571" y="569138"/>
                </a:lnTo>
                <a:cubicBezTo>
                  <a:pt x="15926" y="569138"/>
                  <a:pt x="0" y="553212"/>
                  <a:pt x="0" y="533567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8315638" y="2205188"/>
            <a:ext cx="3397042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Distancia promedio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15638" y="2347361"/>
            <a:ext cx="3450398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2.8 mi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244496" y="2774104"/>
            <a:ext cx="3485969" cy="569138"/>
          </a:xfrm>
          <a:custGeom>
            <a:avLst/>
            <a:gdLst/>
            <a:ahLst/>
            <a:cxnLst/>
            <a:rect l="l" t="t" r="r" b="b"/>
            <a:pathLst>
              <a:path w="3485969" h="569138">
                <a:moveTo>
                  <a:pt x="35571" y="0"/>
                </a:moveTo>
                <a:lnTo>
                  <a:pt x="3450398" y="0"/>
                </a:lnTo>
                <a:cubicBezTo>
                  <a:pt x="3470044" y="0"/>
                  <a:pt x="3485969" y="15926"/>
                  <a:pt x="3485969" y="35571"/>
                </a:cubicBezTo>
                <a:lnTo>
                  <a:pt x="3485969" y="533567"/>
                </a:lnTo>
                <a:cubicBezTo>
                  <a:pt x="3485969" y="553212"/>
                  <a:pt x="3470044" y="569138"/>
                  <a:pt x="3450398" y="569138"/>
                </a:cubicBezTo>
                <a:lnTo>
                  <a:pt x="35571" y="569138"/>
                </a:lnTo>
                <a:cubicBezTo>
                  <a:pt x="15926" y="569138"/>
                  <a:pt x="0" y="553212"/>
                  <a:pt x="0" y="533567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8315638" y="2845246"/>
            <a:ext cx="3397042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Duración promedio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315638" y="2987418"/>
            <a:ext cx="3450398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14.5 min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8105768" y="3560002"/>
            <a:ext cx="3724296" cy="1109819"/>
          </a:xfrm>
          <a:custGeom>
            <a:avLst/>
            <a:gdLst/>
            <a:ahLst/>
            <a:cxnLst/>
            <a:rect l="l" t="t" r="r" b="b"/>
            <a:pathLst>
              <a:path w="3724296" h="1109819">
                <a:moveTo>
                  <a:pt x="71139" y="0"/>
                </a:moveTo>
                <a:lnTo>
                  <a:pt x="3653156" y="0"/>
                </a:lnTo>
                <a:cubicBezTo>
                  <a:pt x="3692446" y="0"/>
                  <a:pt x="3724296" y="31850"/>
                  <a:pt x="3724296" y="71139"/>
                </a:cubicBezTo>
                <a:lnTo>
                  <a:pt x="3724296" y="1038679"/>
                </a:lnTo>
                <a:cubicBezTo>
                  <a:pt x="3724296" y="1077969"/>
                  <a:pt x="3692446" y="1109819"/>
                  <a:pt x="3653156" y="1109819"/>
                </a:cubicBezTo>
                <a:lnTo>
                  <a:pt x="71139" y="1109819"/>
                </a:lnTo>
                <a:cubicBezTo>
                  <a:pt x="31850" y="1109819"/>
                  <a:pt x="0" y="1077969"/>
                  <a:pt x="0" y="1038679"/>
                </a:cubicBezTo>
                <a:lnTo>
                  <a:pt x="0" y="71139"/>
                </a:lnTo>
                <a:cubicBezTo>
                  <a:pt x="0" y="31876"/>
                  <a:pt x="31876" y="0"/>
                  <a:pt x="71139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51610" y="3705844"/>
            <a:ext cx="106713" cy="142284"/>
          </a:xfrm>
          <a:custGeom>
            <a:avLst/>
            <a:gdLst/>
            <a:ahLst/>
            <a:cxnLst/>
            <a:rect l="l" t="t" r="r" b="b"/>
            <a:pathLst>
              <a:path w="106713" h="142284">
                <a:moveTo>
                  <a:pt x="81397" y="106713"/>
                </a:moveTo>
                <a:cubicBezTo>
                  <a:pt x="83425" y="100516"/>
                  <a:pt x="87483" y="94903"/>
                  <a:pt x="92068" y="90067"/>
                </a:cubicBezTo>
                <a:cubicBezTo>
                  <a:pt x="101155" y="80507"/>
                  <a:pt x="106713" y="67585"/>
                  <a:pt x="106713" y="53357"/>
                </a:cubicBezTo>
                <a:cubicBezTo>
                  <a:pt x="106713" y="23899"/>
                  <a:pt x="82814" y="0"/>
                  <a:pt x="53357" y="0"/>
                </a:cubicBezTo>
                <a:cubicBezTo>
                  <a:pt x="23899" y="0"/>
                  <a:pt x="0" y="23899"/>
                  <a:pt x="0" y="53357"/>
                </a:cubicBezTo>
                <a:cubicBezTo>
                  <a:pt x="0" y="67585"/>
                  <a:pt x="5558" y="80507"/>
                  <a:pt x="14645" y="90067"/>
                </a:cubicBezTo>
                <a:cubicBezTo>
                  <a:pt x="19231" y="94903"/>
                  <a:pt x="23316" y="100516"/>
                  <a:pt x="25317" y="106713"/>
                </a:cubicBezTo>
                <a:lnTo>
                  <a:pt x="81369" y="106713"/>
                </a:lnTo>
                <a:close/>
                <a:moveTo>
                  <a:pt x="80035" y="120053"/>
                </a:moveTo>
                <a:lnTo>
                  <a:pt x="26678" y="120053"/>
                </a:lnTo>
                <a:lnTo>
                  <a:pt x="26678" y="124499"/>
                </a:lnTo>
                <a:cubicBezTo>
                  <a:pt x="26678" y="136782"/>
                  <a:pt x="36627" y="146731"/>
                  <a:pt x="48910" y="146731"/>
                </a:cubicBezTo>
                <a:lnTo>
                  <a:pt x="57803" y="146731"/>
                </a:lnTo>
                <a:cubicBezTo>
                  <a:pt x="70086" y="146731"/>
                  <a:pt x="80035" y="136782"/>
                  <a:pt x="80035" y="124499"/>
                </a:cubicBezTo>
                <a:lnTo>
                  <a:pt x="80035" y="120053"/>
                </a:lnTo>
                <a:close/>
                <a:moveTo>
                  <a:pt x="51133" y="31125"/>
                </a:moveTo>
                <a:cubicBezTo>
                  <a:pt x="40073" y="31125"/>
                  <a:pt x="31125" y="40073"/>
                  <a:pt x="31125" y="51133"/>
                </a:cubicBezTo>
                <a:cubicBezTo>
                  <a:pt x="31125" y="54830"/>
                  <a:pt x="28151" y="57803"/>
                  <a:pt x="24455" y="57803"/>
                </a:cubicBezTo>
                <a:cubicBezTo>
                  <a:pt x="20759" y="57803"/>
                  <a:pt x="17786" y="54830"/>
                  <a:pt x="17786" y="51133"/>
                </a:cubicBezTo>
                <a:cubicBezTo>
                  <a:pt x="17786" y="32709"/>
                  <a:pt x="32709" y="17786"/>
                  <a:pt x="51133" y="17786"/>
                </a:cubicBezTo>
                <a:cubicBezTo>
                  <a:pt x="54830" y="17786"/>
                  <a:pt x="57803" y="20759"/>
                  <a:pt x="57803" y="24455"/>
                </a:cubicBezTo>
                <a:cubicBezTo>
                  <a:pt x="57803" y="28151"/>
                  <a:pt x="54830" y="31125"/>
                  <a:pt x="51133" y="31125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6" name="Text 31"/>
          <p:cNvSpPr/>
          <p:nvPr/>
        </p:nvSpPr>
        <p:spPr>
          <a:xfrm>
            <a:off x="8393894" y="3670273"/>
            <a:ext cx="3397042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Clave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8216039" y="4025984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8" name="Text 33"/>
          <p:cNvSpPr/>
          <p:nvPr/>
        </p:nvSpPr>
        <p:spPr>
          <a:xfrm>
            <a:off x="8358323" y="3954842"/>
            <a:ext cx="2489978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Alta predictibilidad: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Relaciones lineales claras</a:t>
            </a:r>
            <a:endParaRPr lang="en-US" sz="1600" dirty="0"/>
          </a:p>
        </p:txBody>
      </p:sp>
      <p:sp>
        <p:nvSpPr>
          <p:cNvPr id="39" name="Shape 34"/>
          <p:cNvSpPr/>
          <p:nvPr/>
        </p:nvSpPr>
        <p:spPr>
          <a:xfrm>
            <a:off x="8216039" y="4239411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0" name="Text 35"/>
          <p:cNvSpPr/>
          <p:nvPr/>
        </p:nvSpPr>
        <p:spPr>
          <a:xfrm>
            <a:off x="8358323" y="4168269"/>
            <a:ext cx="189416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 estable: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100k+ viajes/día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8216039" y="4452838"/>
            <a:ext cx="71142" cy="71142"/>
          </a:xfrm>
          <a:custGeom>
            <a:avLst/>
            <a:gdLst/>
            <a:ahLst/>
            <a:cxnLst/>
            <a:rect l="l" t="t" r="r" b="b"/>
            <a:pathLst>
              <a:path w="71142" h="71142">
                <a:moveTo>
                  <a:pt x="35571" y="0"/>
                </a:moveTo>
                <a:lnTo>
                  <a:pt x="35571" y="0"/>
                </a:lnTo>
                <a:cubicBezTo>
                  <a:pt x="55217" y="0"/>
                  <a:pt x="71142" y="15926"/>
                  <a:pt x="71142" y="35571"/>
                </a:cubicBezTo>
                <a:lnTo>
                  <a:pt x="71142" y="35571"/>
                </a:lnTo>
                <a:cubicBezTo>
                  <a:pt x="71142" y="55217"/>
                  <a:pt x="55217" y="71142"/>
                  <a:pt x="35571" y="71142"/>
                </a:cubicBezTo>
                <a:lnTo>
                  <a:pt x="35571" y="71142"/>
                </a:lnTo>
                <a:cubicBezTo>
                  <a:pt x="15926" y="71142"/>
                  <a:pt x="0" y="55217"/>
                  <a:pt x="0" y="35571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2" name="Text 37"/>
          <p:cNvSpPr/>
          <p:nvPr/>
        </p:nvSpPr>
        <p:spPr>
          <a:xfrm>
            <a:off x="8358323" y="4381695"/>
            <a:ext cx="2249873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 controlados:</a:t>
            </a:r>
            <a:pPr>
              <a:lnSpc>
                <a:spcPct val="120000"/>
              </a:lnSpc>
            </a:pPr>
            <a:r>
              <a:rPr lang="en-US" sz="9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5% valores atípicos</a:t>
            </a:r>
            <a:endParaRPr lang="en-US" sz="1600" dirty="0"/>
          </a:p>
        </p:txBody>
      </p:sp>
      <p:sp>
        <p:nvSpPr>
          <p:cNvPr id="43" name="Shape 38"/>
          <p:cNvSpPr/>
          <p:nvPr/>
        </p:nvSpPr>
        <p:spPr>
          <a:xfrm>
            <a:off x="8102211" y="4780092"/>
            <a:ext cx="3734967" cy="1529558"/>
          </a:xfrm>
          <a:custGeom>
            <a:avLst/>
            <a:gdLst/>
            <a:ahLst/>
            <a:cxnLst/>
            <a:rect l="l" t="t" r="r" b="b"/>
            <a:pathLst>
              <a:path w="3734967" h="1529558">
                <a:moveTo>
                  <a:pt x="71140" y="0"/>
                </a:moveTo>
                <a:lnTo>
                  <a:pt x="3663827" y="0"/>
                </a:lnTo>
                <a:cubicBezTo>
                  <a:pt x="3703117" y="0"/>
                  <a:pt x="3734967" y="31850"/>
                  <a:pt x="3734967" y="71140"/>
                </a:cubicBezTo>
                <a:lnTo>
                  <a:pt x="3734967" y="1458418"/>
                </a:lnTo>
                <a:cubicBezTo>
                  <a:pt x="3734967" y="1497708"/>
                  <a:pt x="3703117" y="1529558"/>
                  <a:pt x="3663827" y="1529558"/>
                </a:cubicBezTo>
                <a:lnTo>
                  <a:pt x="71140" y="1529558"/>
                </a:lnTo>
                <a:cubicBezTo>
                  <a:pt x="31850" y="1529558"/>
                  <a:pt x="0" y="1497708"/>
                  <a:pt x="0" y="1458418"/>
                </a:cubicBezTo>
                <a:lnTo>
                  <a:pt x="0" y="71140"/>
                </a:lnTo>
                <a:cubicBezTo>
                  <a:pt x="0" y="31850"/>
                  <a:pt x="31850" y="0"/>
                  <a:pt x="7114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8208925" y="4886806"/>
            <a:ext cx="3592683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Más Explicativas</a:t>
            </a:r>
            <a:endParaRPr lang="en-US" sz="1600" dirty="0"/>
          </a:p>
        </p:txBody>
      </p:sp>
      <p:sp>
        <p:nvSpPr>
          <p:cNvPr id="45" name="Shape 40"/>
          <p:cNvSpPr/>
          <p:nvPr/>
        </p:nvSpPr>
        <p:spPr>
          <a:xfrm>
            <a:off x="8208925" y="5171375"/>
            <a:ext cx="3521540" cy="320140"/>
          </a:xfrm>
          <a:custGeom>
            <a:avLst/>
            <a:gdLst/>
            <a:ahLst/>
            <a:cxnLst/>
            <a:rect l="l" t="t" r="r" b="b"/>
            <a:pathLst>
              <a:path w="3521540" h="320140">
                <a:moveTo>
                  <a:pt x="35571" y="0"/>
                </a:moveTo>
                <a:lnTo>
                  <a:pt x="3485970" y="0"/>
                </a:lnTo>
                <a:cubicBezTo>
                  <a:pt x="3505615" y="0"/>
                  <a:pt x="3521540" y="15926"/>
                  <a:pt x="3521540" y="35571"/>
                </a:cubicBezTo>
                <a:lnTo>
                  <a:pt x="3521540" y="284569"/>
                </a:lnTo>
                <a:cubicBezTo>
                  <a:pt x="3521540" y="304214"/>
                  <a:pt x="3505615" y="320140"/>
                  <a:pt x="3485970" y="320140"/>
                </a:cubicBezTo>
                <a:lnTo>
                  <a:pt x="35571" y="320140"/>
                </a:lnTo>
                <a:cubicBezTo>
                  <a:pt x="15939" y="320140"/>
                  <a:pt x="0" y="304201"/>
                  <a:pt x="0" y="284569"/>
                </a:cubicBezTo>
                <a:lnTo>
                  <a:pt x="0" y="35571"/>
                </a:lnTo>
                <a:cubicBezTo>
                  <a:pt x="0" y="15939"/>
                  <a:pt x="15939" y="0"/>
                  <a:pt x="3557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8280067" y="5242517"/>
            <a:ext cx="55135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Distancia</a:t>
            </a:r>
            <a:endParaRPr lang="en-US" sz="1600" dirty="0"/>
          </a:p>
        </p:txBody>
      </p:sp>
      <p:sp>
        <p:nvSpPr>
          <p:cNvPr id="47" name="Text 42"/>
          <p:cNvSpPr/>
          <p:nvPr/>
        </p:nvSpPr>
        <p:spPr>
          <a:xfrm>
            <a:off x="11240584" y="5242517"/>
            <a:ext cx="480210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0.89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8208925" y="5527086"/>
            <a:ext cx="3521540" cy="320140"/>
          </a:xfrm>
          <a:custGeom>
            <a:avLst/>
            <a:gdLst/>
            <a:ahLst/>
            <a:cxnLst/>
            <a:rect l="l" t="t" r="r" b="b"/>
            <a:pathLst>
              <a:path w="3521540" h="320140">
                <a:moveTo>
                  <a:pt x="35571" y="0"/>
                </a:moveTo>
                <a:lnTo>
                  <a:pt x="3485970" y="0"/>
                </a:lnTo>
                <a:cubicBezTo>
                  <a:pt x="3505615" y="0"/>
                  <a:pt x="3521540" y="15926"/>
                  <a:pt x="3521540" y="35571"/>
                </a:cubicBezTo>
                <a:lnTo>
                  <a:pt x="3521540" y="284569"/>
                </a:lnTo>
                <a:cubicBezTo>
                  <a:pt x="3521540" y="304214"/>
                  <a:pt x="3505615" y="320140"/>
                  <a:pt x="3485970" y="320140"/>
                </a:cubicBezTo>
                <a:lnTo>
                  <a:pt x="35571" y="320140"/>
                </a:lnTo>
                <a:cubicBezTo>
                  <a:pt x="15939" y="320140"/>
                  <a:pt x="0" y="304201"/>
                  <a:pt x="0" y="284569"/>
                </a:cubicBezTo>
                <a:lnTo>
                  <a:pt x="0" y="35571"/>
                </a:lnTo>
                <a:cubicBezTo>
                  <a:pt x="0" y="15939"/>
                  <a:pt x="15939" y="0"/>
                  <a:pt x="3557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9" name="Text 44"/>
          <p:cNvSpPr/>
          <p:nvPr/>
        </p:nvSpPr>
        <p:spPr>
          <a:xfrm>
            <a:off x="8280067" y="5598228"/>
            <a:ext cx="55135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50" name="Text 45"/>
          <p:cNvSpPr/>
          <p:nvPr/>
        </p:nvSpPr>
        <p:spPr>
          <a:xfrm>
            <a:off x="11253256" y="5598228"/>
            <a:ext cx="462425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0.76</a:t>
            </a:r>
            <a:endParaRPr lang="en-US" sz="1600" dirty="0"/>
          </a:p>
        </p:txBody>
      </p:sp>
      <p:sp>
        <p:nvSpPr>
          <p:cNvPr id="51" name="Shape 46"/>
          <p:cNvSpPr/>
          <p:nvPr/>
        </p:nvSpPr>
        <p:spPr>
          <a:xfrm>
            <a:off x="8208925" y="5882797"/>
            <a:ext cx="3521540" cy="320140"/>
          </a:xfrm>
          <a:custGeom>
            <a:avLst/>
            <a:gdLst/>
            <a:ahLst/>
            <a:cxnLst/>
            <a:rect l="l" t="t" r="r" b="b"/>
            <a:pathLst>
              <a:path w="3521540" h="320140">
                <a:moveTo>
                  <a:pt x="35571" y="0"/>
                </a:moveTo>
                <a:lnTo>
                  <a:pt x="3485970" y="0"/>
                </a:lnTo>
                <a:cubicBezTo>
                  <a:pt x="3505615" y="0"/>
                  <a:pt x="3521540" y="15926"/>
                  <a:pt x="3521540" y="35571"/>
                </a:cubicBezTo>
                <a:lnTo>
                  <a:pt x="3521540" y="284569"/>
                </a:lnTo>
                <a:cubicBezTo>
                  <a:pt x="3521540" y="304214"/>
                  <a:pt x="3505615" y="320140"/>
                  <a:pt x="3485970" y="320140"/>
                </a:cubicBezTo>
                <a:lnTo>
                  <a:pt x="35571" y="320140"/>
                </a:lnTo>
                <a:cubicBezTo>
                  <a:pt x="15939" y="320140"/>
                  <a:pt x="0" y="304201"/>
                  <a:pt x="0" y="284569"/>
                </a:cubicBezTo>
                <a:lnTo>
                  <a:pt x="0" y="35571"/>
                </a:lnTo>
                <a:cubicBezTo>
                  <a:pt x="0" y="15939"/>
                  <a:pt x="15939" y="0"/>
                  <a:pt x="3557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8280067" y="5953939"/>
            <a:ext cx="711422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Hora del día</a:t>
            </a:r>
            <a:endParaRPr lang="en-US" sz="1600" dirty="0"/>
          </a:p>
        </p:txBody>
      </p:sp>
      <p:sp>
        <p:nvSpPr>
          <p:cNvPr id="53" name="Text 48"/>
          <p:cNvSpPr/>
          <p:nvPr/>
        </p:nvSpPr>
        <p:spPr>
          <a:xfrm>
            <a:off x="11243585" y="5953939"/>
            <a:ext cx="471317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0.63</a:t>
            </a:r>
            <a:endParaRPr lang="en-US" sz="1600" dirty="0"/>
          </a:p>
        </p:txBody>
      </p:sp>
      <p:sp>
        <p:nvSpPr>
          <p:cNvPr id="54" name="Shape 49"/>
          <p:cNvSpPr/>
          <p:nvPr/>
        </p:nvSpPr>
        <p:spPr>
          <a:xfrm>
            <a:off x="355711" y="6552312"/>
            <a:ext cx="11480578" cy="433968"/>
          </a:xfrm>
          <a:custGeom>
            <a:avLst/>
            <a:gdLst/>
            <a:ahLst/>
            <a:cxnLst/>
            <a:rect l="l" t="t" r="r" b="b"/>
            <a:pathLst>
              <a:path w="11480578" h="433968">
                <a:moveTo>
                  <a:pt x="14228" y="0"/>
                </a:moveTo>
                <a:lnTo>
                  <a:pt x="11466349" y="0"/>
                </a:lnTo>
                <a:cubicBezTo>
                  <a:pt x="11474207" y="0"/>
                  <a:pt x="11480578" y="6370"/>
                  <a:pt x="11480578" y="14228"/>
                </a:cubicBezTo>
                <a:lnTo>
                  <a:pt x="11480578" y="362827"/>
                </a:lnTo>
                <a:cubicBezTo>
                  <a:pt x="11480578" y="402117"/>
                  <a:pt x="11448727" y="433968"/>
                  <a:pt x="11409437" y="433968"/>
                </a:cubicBezTo>
                <a:lnTo>
                  <a:pt x="71140" y="433968"/>
                </a:lnTo>
                <a:cubicBezTo>
                  <a:pt x="31851" y="433968"/>
                  <a:pt x="0" y="402117"/>
                  <a:pt x="0" y="362827"/>
                </a:cubicBezTo>
                <a:lnTo>
                  <a:pt x="0" y="14228"/>
                </a:lnTo>
                <a:cubicBezTo>
                  <a:pt x="0" y="6376"/>
                  <a:pt x="6376" y="0"/>
                  <a:pt x="14228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55" name="Shape 50"/>
          <p:cNvSpPr/>
          <p:nvPr/>
        </p:nvSpPr>
        <p:spPr>
          <a:xfrm>
            <a:off x="355711" y="6552312"/>
            <a:ext cx="11480578" cy="14228"/>
          </a:xfrm>
          <a:custGeom>
            <a:avLst/>
            <a:gdLst/>
            <a:ahLst/>
            <a:cxnLst/>
            <a:rect l="l" t="t" r="r" b="b"/>
            <a:pathLst>
              <a:path w="11480578" h="14228">
                <a:moveTo>
                  <a:pt x="14228" y="0"/>
                </a:moveTo>
                <a:lnTo>
                  <a:pt x="11466349" y="0"/>
                </a:lnTo>
                <a:cubicBezTo>
                  <a:pt x="11474207" y="0"/>
                  <a:pt x="11480578" y="6370"/>
                  <a:pt x="11480578" y="14228"/>
                </a:cubicBezTo>
                <a:lnTo>
                  <a:pt x="11480578" y="14228"/>
                </a:lnTo>
                <a:lnTo>
                  <a:pt x="0" y="14228"/>
                </a:lnTo>
                <a:lnTo>
                  <a:pt x="0" y="14228"/>
                </a:lnTo>
                <a:cubicBezTo>
                  <a:pt x="0" y="6376"/>
                  <a:pt x="6376" y="0"/>
                  <a:pt x="14228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6" name="Shape 51"/>
          <p:cNvSpPr/>
          <p:nvPr/>
        </p:nvSpPr>
        <p:spPr>
          <a:xfrm>
            <a:off x="480210" y="6694595"/>
            <a:ext cx="142284" cy="142284"/>
          </a:xfrm>
          <a:custGeom>
            <a:avLst/>
            <a:gdLst/>
            <a:ahLst/>
            <a:cxnLst/>
            <a:rect l="l" t="t" r="r" b="b"/>
            <a:pathLst>
              <a:path w="142284" h="142284">
                <a:moveTo>
                  <a:pt x="139672" y="77423"/>
                </a:moveTo>
                <a:cubicBezTo>
                  <a:pt x="143146" y="73949"/>
                  <a:pt x="143146" y="68308"/>
                  <a:pt x="139672" y="64834"/>
                </a:cubicBezTo>
                <a:lnTo>
                  <a:pt x="95208" y="20370"/>
                </a:lnTo>
                <a:cubicBezTo>
                  <a:pt x="91735" y="16896"/>
                  <a:pt x="86093" y="16896"/>
                  <a:pt x="82619" y="20370"/>
                </a:cubicBezTo>
                <a:cubicBezTo>
                  <a:pt x="79146" y="23844"/>
                  <a:pt x="79146" y="29485"/>
                  <a:pt x="82619" y="32959"/>
                </a:cubicBezTo>
                <a:lnTo>
                  <a:pt x="111910" y="62249"/>
                </a:lnTo>
                <a:lnTo>
                  <a:pt x="8893" y="62249"/>
                </a:lnTo>
                <a:cubicBezTo>
                  <a:pt x="3974" y="62249"/>
                  <a:pt x="0" y="66223"/>
                  <a:pt x="0" y="71142"/>
                </a:cubicBezTo>
                <a:cubicBezTo>
                  <a:pt x="0" y="76061"/>
                  <a:pt x="3974" y="80035"/>
                  <a:pt x="8893" y="80035"/>
                </a:cubicBezTo>
                <a:lnTo>
                  <a:pt x="111910" y="80035"/>
                </a:lnTo>
                <a:lnTo>
                  <a:pt x="82619" y="109326"/>
                </a:lnTo>
                <a:cubicBezTo>
                  <a:pt x="79146" y="112799"/>
                  <a:pt x="79146" y="118441"/>
                  <a:pt x="82619" y="121914"/>
                </a:cubicBezTo>
                <a:cubicBezTo>
                  <a:pt x="86093" y="125388"/>
                  <a:pt x="91735" y="125388"/>
                  <a:pt x="95208" y="121914"/>
                </a:cubicBezTo>
                <a:lnTo>
                  <a:pt x="139672" y="77451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7" name="Text 52"/>
          <p:cNvSpPr/>
          <p:nvPr/>
        </p:nvSpPr>
        <p:spPr>
          <a:xfrm>
            <a:off x="690095" y="6666139"/>
            <a:ext cx="11110623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Próximo paso:</a:t>
            </a:r>
            <a:pPr>
              <a:lnSpc>
                <a:spcPct val="130000"/>
              </a:lnSpc>
            </a:pPr>
            <a:r>
              <a:rPr lang="en-US" sz="112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Los patrones temporales detectados justifican un enfoque de modelado serie temporal para capturar estacionalidad y tendencias.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06797" y="468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110865" y="0"/>
                  <a:pt x="142875" y="32010"/>
                  <a:pt x="142875" y="71438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ubicBezTo>
                  <a:pt x="0" y="32010"/>
                  <a:pt x="32010" y="0"/>
                  <a:pt x="71437" y="0"/>
                </a:cubicBezTo>
                <a:close/>
                <a:moveTo>
                  <a:pt x="64740" y="33486"/>
                </a:moveTo>
                <a:lnTo>
                  <a:pt x="64740" y="71438"/>
                </a:lnTo>
                <a:cubicBezTo>
                  <a:pt x="64740" y="73670"/>
                  <a:pt x="65856" y="75763"/>
                  <a:pt x="67726" y="77019"/>
                </a:cubicBezTo>
                <a:lnTo>
                  <a:pt x="94515" y="94878"/>
                </a:lnTo>
                <a:cubicBezTo>
                  <a:pt x="97585" y="96943"/>
                  <a:pt x="101743" y="96106"/>
                  <a:pt x="103808" y="93008"/>
                </a:cubicBezTo>
                <a:cubicBezTo>
                  <a:pt x="105873" y="89911"/>
                  <a:pt x="105035" y="85781"/>
                  <a:pt x="101938" y="83716"/>
                </a:cubicBezTo>
                <a:lnTo>
                  <a:pt x="78135" y="67866"/>
                </a:lnTo>
                <a:lnTo>
                  <a:pt x="78135" y="33486"/>
                </a:lnTo>
                <a:cubicBezTo>
                  <a:pt x="78135" y="29775"/>
                  <a:pt x="75149" y="26789"/>
                  <a:pt x="71438" y="26789"/>
                </a:cubicBezTo>
                <a:cubicBezTo>
                  <a:pt x="67726" y="26789"/>
                  <a:pt x="64740" y="29775"/>
                  <a:pt x="64740" y="33486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317500"/>
            <a:ext cx="561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568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Patrones Temporales: El Tiempo como Variable Clave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825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984250"/>
            <a:ext cx="7643813" cy="1936750"/>
          </a:xfrm>
          <a:custGeom>
            <a:avLst/>
            <a:gdLst/>
            <a:ahLst/>
            <a:cxnLst/>
            <a:rect l="l" t="t" r="r" b="b"/>
            <a:pathLst>
              <a:path w="7643813" h="1936750">
                <a:moveTo>
                  <a:pt x="31750" y="0"/>
                </a:moveTo>
                <a:lnTo>
                  <a:pt x="7580306" y="0"/>
                </a:lnTo>
                <a:cubicBezTo>
                  <a:pt x="7615380" y="0"/>
                  <a:pt x="7643813" y="28433"/>
                  <a:pt x="7643813" y="63506"/>
                </a:cubicBezTo>
                <a:lnTo>
                  <a:pt x="7643813" y="1873244"/>
                </a:lnTo>
                <a:cubicBezTo>
                  <a:pt x="7643813" y="1908317"/>
                  <a:pt x="7615380" y="1936750"/>
                  <a:pt x="7580306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33375" y="984250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444500" y="1079500"/>
            <a:ext cx="750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Patrón Horario: Ingresos Promedio por Hora</a:t>
            </a:r>
            <a:endParaRPr lang="en-US" sz="1600" dirty="0"/>
          </a:p>
        </p:txBody>
      </p:sp>
      <p:pic>
        <p:nvPicPr>
          <p:cNvPr id="10" name="Image 0" descr="https://kimi-img.moonshot.cn/pub/slides/26-01-16-00:54:51-d5khnmqmisdlvdlmb8e0.png">    </p:cNvPr>
          <p:cNvPicPr>
            <a:picLocks noChangeAspect="1"/>
          </p:cNvPicPr>
          <p:nvPr/>
        </p:nvPicPr>
        <p:blipFill>
          <a:blip r:embed="rId1"/>
          <a:srcRect l="0" r="0" t="39" b="39"/>
          <a:stretch/>
        </p:blipFill>
        <p:spPr>
          <a:xfrm>
            <a:off x="444500" y="1365250"/>
            <a:ext cx="6088063" cy="1270000"/>
          </a:xfrm>
          <a:prstGeom prst="roundRect">
            <a:avLst>
              <a:gd name="adj" fmla="val 0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444500" y="2667000"/>
            <a:ext cx="749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Doble pico típico urbano: 8-9 AM (16.8 USD) y 6-7 PM (17.2 USD). Valley nocturno 3-5 AM (11.5 USD).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3375" y="3016250"/>
            <a:ext cx="7643813" cy="1936750"/>
          </a:xfrm>
          <a:custGeom>
            <a:avLst/>
            <a:gdLst/>
            <a:ahLst/>
            <a:cxnLst/>
            <a:rect l="l" t="t" r="r" b="b"/>
            <a:pathLst>
              <a:path w="7643813" h="1936750">
                <a:moveTo>
                  <a:pt x="31750" y="0"/>
                </a:moveTo>
                <a:lnTo>
                  <a:pt x="7580306" y="0"/>
                </a:lnTo>
                <a:cubicBezTo>
                  <a:pt x="7615380" y="0"/>
                  <a:pt x="7643813" y="28433"/>
                  <a:pt x="7643813" y="63506"/>
                </a:cubicBezTo>
                <a:lnTo>
                  <a:pt x="7643813" y="1873244"/>
                </a:lnTo>
                <a:cubicBezTo>
                  <a:pt x="7643813" y="1908317"/>
                  <a:pt x="7615380" y="1936750"/>
                  <a:pt x="7580306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33375" y="3016250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4" name="Text 11"/>
          <p:cNvSpPr/>
          <p:nvPr/>
        </p:nvSpPr>
        <p:spPr>
          <a:xfrm>
            <a:off x="444500" y="3111500"/>
            <a:ext cx="750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Patrón Semanal: Volumen de Viajes por Día</a:t>
            </a:r>
            <a:endParaRPr lang="en-US" sz="1600" dirty="0"/>
          </a:p>
        </p:txBody>
      </p:sp>
      <p:pic>
        <p:nvPicPr>
          <p:cNvPr id="15" name="Image 1" descr="https://kimi-img.moonshot.cn/pub/slides/26-01-16-00:54:51-d5khnmuf2kq75h7vv9vg.png">    </p:cNvPr>
          <p:cNvPicPr>
            <a:picLocks noChangeAspect="1"/>
          </p:cNvPicPr>
          <p:nvPr/>
        </p:nvPicPr>
        <p:blipFill>
          <a:blip r:embed="rId2"/>
          <a:srcRect l="0" r="0" t="39" b="39"/>
          <a:stretch/>
        </p:blipFill>
        <p:spPr>
          <a:xfrm>
            <a:off x="444500" y="3397250"/>
            <a:ext cx="6088063" cy="1270000"/>
          </a:xfrm>
          <a:prstGeom prst="roundRect">
            <a:avLst>
              <a:gd name="adj" fmla="val 0"/>
            </a:avLst>
          </a:prstGeom>
        </p:spPr>
      </p:pic>
      <p:sp>
        <p:nvSpPr>
          <p:cNvPr id="16" name="Text 12"/>
          <p:cNvSpPr/>
          <p:nvPr/>
        </p:nvSpPr>
        <p:spPr>
          <a:xfrm>
            <a:off x="444500" y="4699000"/>
            <a:ext cx="749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Jueves y viernes son los picos (120k+ viajes). Domingo es el valle más profundo (78k). Estacionalidad semanal clara.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22642" y="984250"/>
            <a:ext cx="3754438" cy="2397125"/>
          </a:xfrm>
          <a:custGeom>
            <a:avLst/>
            <a:gdLst/>
            <a:ahLst/>
            <a:cxnLst/>
            <a:rect l="l" t="t" r="r" b="b"/>
            <a:pathLst>
              <a:path w="3754438" h="2397125">
                <a:moveTo>
                  <a:pt x="31750" y="0"/>
                </a:moveTo>
                <a:lnTo>
                  <a:pt x="3690938" y="0"/>
                </a:lnTo>
                <a:cubicBezTo>
                  <a:pt x="3726008" y="0"/>
                  <a:pt x="3754438" y="28430"/>
                  <a:pt x="3754438" y="63500"/>
                </a:cubicBezTo>
                <a:lnTo>
                  <a:pt x="3754438" y="2333625"/>
                </a:lnTo>
                <a:cubicBezTo>
                  <a:pt x="3754438" y="2368695"/>
                  <a:pt x="3726008" y="2397125"/>
                  <a:pt x="3690938" y="2397125"/>
                </a:cubicBezTo>
                <a:lnTo>
                  <a:pt x="31750" y="2397125"/>
                </a:lnTo>
                <a:cubicBezTo>
                  <a:pt x="14215" y="2397125"/>
                  <a:pt x="0" y="2382910"/>
                  <a:pt x="0" y="2365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122642" y="984250"/>
            <a:ext cx="31750" cy="2397125"/>
          </a:xfrm>
          <a:custGeom>
            <a:avLst/>
            <a:gdLst/>
            <a:ahLst/>
            <a:cxnLst/>
            <a:rect l="l" t="t" r="r" b="b"/>
            <a:pathLst>
              <a:path w="31750" h="2397125">
                <a:moveTo>
                  <a:pt x="31750" y="0"/>
                </a:moveTo>
                <a:lnTo>
                  <a:pt x="31750" y="0"/>
                </a:lnTo>
                <a:lnTo>
                  <a:pt x="31750" y="2397125"/>
                </a:lnTo>
                <a:lnTo>
                  <a:pt x="31750" y="2397125"/>
                </a:lnTo>
                <a:cubicBezTo>
                  <a:pt x="14227" y="2397125"/>
                  <a:pt x="0" y="2382898"/>
                  <a:pt x="0" y="2365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9" name="Text 15"/>
          <p:cNvSpPr/>
          <p:nvPr/>
        </p:nvSpPr>
        <p:spPr>
          <a:xfrm>
            <a:off x="8233768" y="1079500"/>
            <a:ext cx="361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Laborable vs. Fin de Semana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233768" y="1333500"/>
            <a:ext cx="3548063" cy="603250"/>
          </a:xfrm>
          <a:custGeom>
            <a:avLst/>
            <a:gdLst/>
            <a:ahLst/>
            <a:cxnLst/>
            <a:rect l="l" t="t" r="r" b="b"/>
            <a:pathLst>
              <a:path w="3548063" h="603250">
                <a:moveTo>
                  <a:pt x="31749" y="0"/>
                </a:moveTo>
                <a:lnTo>
                  <a:pt x="3516313" y="0"/>
                </a:lnTo>
                <a:cubicBezTo>
                  <a:pt x="3533848" y="0"/>
                  <a:pt x="3548063" y="14215"/>
                  <a:pt x="3548063" y="31749"/>
                </a:cubicBezTo>
                <a:lnTo>
                  <a:pt x="3548063" y="571501"/>
                </a:lnTo>
                <a:cubicBezTo>
                  <a:pt x="3548063" y="589035"/>
                  <a:pt x="3533848" y="603250"/>
                  <a:pt x="3516313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8297268" y="1397000"/>
            <a:ext cx="3468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Días laborables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297268" y="1523903"/>
            <a:ext cx="350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$16.20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297268" y="1746153"/>
            <a:ext cx="3468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 promedio por viaje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233768" y="2000052"/>
            <a:ext cx="3548063" cy="603250"/>
          </a:xfrm>
          <a:custGeom>
            <a:avLst/>
            <a:gdLst/>
            <a:ahLst/>
            <a:cxnLst/>
            <a:rect l="l" t="t" r="r" b="b"/>
            <a:pathLst>
              <a:path w="3548063" h="603250">
                <a:moveTo>
                  <a:pt x="31749" y="0"/>
                </a:moveTo>
                <a:lnTo>
                  <a:pt x="3516313" y="0"/>
                </a:lnTo>
                <a:cubicBezTo>
                  <a:pt x="3533848" y="0"/>
                  <a:pt x="3548063" y="14215"/>
                  <a:pt x="3548063" y="31749"/>
                </a:cubicBezTo>
                <a:lnTo>
                  <a:pt x="3548063" y="571501"/>
                </a:lnTo>
                <a:cubicBezTo>
                  <a:pt x="3548063" y="589035"/>
                  <a:pt x="3533848" y="603250"/>
                  <a:pt x="3516313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8297268" y="2063552"/>
            <a:ext cx="3468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Fines de semana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297268" y="2190452"/>
            <a:ext cx="3500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$14.80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297268" y="2412702"/>
            <a:ext cx="3468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 promedio por viaje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236943" y="2669780"/>
            <a:ext cx="3538537" cy="609600"/>
          </a:xfrm>
          <a:custGeom>
            <a:avLst/>
            <a:gdLst/>
            <a:ahLst/>
            <a:cxnLst/>
            <a:rect l="l" t="t" r="r" b="b"/>
            <a:pathLst>
              <a:path w="3538537" h="609600">
                <a:moveTo>
                  <a:pt x="31748" y="0"/>
                </a:moveTo>
                <a:lnTo>
                  <a:pt x="3506790" y="0"/>
                </a:lnTo>
                <a:cubicBezTo>
                  <a:pt x="3524323" y="0"/>
                  <a:pt x="3538537" y="14214"/>
                  <a:pt x="3538537" y="31748"/>
                </a:cubicBezTo>
                <a:lnTo>
                  <a:pt x="3538537" y="577852"/>
                </a:lnTo>
                <a:cubicBezTo>
                  <a:pt x="3538537" y="595386"/>
                  <a:pt x="3524323" y="609600"/>
                  <a:pt x="3506790" y="609600"/>
                </a:cubicBezTo>
                <a:lnTo>
                  <a:pt x="31748" y="609600"/>
                </a:lnTo>
                <a:cubicBezTo>
                  <a:pt x="14214" y="609600"/>
                  <a:pt x="0" y="595386"/>
                  <a:pt x="0" y="57785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303617" y="2736453"/>
            <a:ext cx="3452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303617" y="2863356"/>
            <a:ext cx="348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+9.5%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303617" y="3085606"/>
            <a:ext cx="3452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Mayor rentabilidad laboral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8109942" y="3476029"/>
            <a:ext cx="3760787" cy="990600"/>
          </a:xfrm>
          <a:custGeom>
            <a:avLst/>
            <a:gdLst/>
            <a:ahLst/>
            <a:cxnLst/>
            <a:rect l="l" t="t" r="r" b="b"/>
            <a:pathLst>
              <a:path w="3760787" h="990600">
                <a:moveTo>
                  <a:pt x="63497" y="0"/>
                </a:moveTo>
                <a:lnTo>
                  <a:pt x="3697290" y="0"/>
                </a:lnTo>
                <a:cubicBezTo>
                  <a:pt x="3732359" y="0"/>
                  <a:pt x="3760787" y="28429"/>
                  <a:pt x="3760787" y="63497"/>
                </a:cubicBezTo>
                <a:lnTo>
                  <a:pt x="3760787" y="927103"/>
                </a:lnTo>
                <a:cubicBezTo>
                  <a:pt x="3760787" y="962171"/>
                  <a:pt x="3732359" y="990600"/>
                  <a:pt x="3697290" y="990600"/>
                </a:cubicBezTo>
                <a:lnTo>
                  <a:pt x="63497" y="990600"/>
                </a:lnTo>
                <a:cubicBezTo>
                  <a:pt x="28429" y="990600"/>
                  <a:pt x="0" y="962171"/>
                  <a:pt x="0" y="9271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24242" y="360620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4" name="Text 30"/>
          <p:cNvSpPr/>
          <p:nvPr/>
        </p:nvSpPr>
        <p:spPr>
          <a:xfrm>
            <a:off x="8367117" y="3574456"/>
            <a:ext cx="346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Justificación del Modelo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8231188" y="386020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6" name="Text 32"/>
          <p:cNvSpPr/>
          <p:nvPr/>
        </p:nvSpPr>
        <p:spPr>
          <a:xfrm>
            <a:off x="8410773" y="3828456"/>
            <a:ext cx="306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Estacionalidad clara: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Patrones diarios y semanales consistentes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8231188" y="405070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8" name="Text 34"/>
          <p:cNvSpPr/>
          <p:nvPr/>
        </p:nvSpPr>
        <p:spPr>
          <a:xfrm>
            <a:off x="8410773" y="4018956"/>
            <a:ext cx="283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Tendencia estable: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Volúmenes predecibles entre semanas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8231188" y="4241206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0" name="Text 36"/>
          <p:cNvSpPr/>
          <p:nvPr/>
        </p:nvSpPr>
        <p:spPr>
          <a:xfrm>
            <a:off x="8410773" y="4209456"/>
            <a:ext cx="298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Componentes separables: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Tendencia + estacionalidad + ruido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8106767" y="4565055"/>
            <a:ext cx="3770313" cy="1428750"/>
          </a:xfrm>
          <a:custGeom>
            <a:avLst/>
            <a:gdLst/>
            <a:ahLst/>
            <a:cxnLst/>
            <a:rect l="l" t="t" r="r" b="b"/>
            <a:pathLst>
              <a:path w="3770313" h="1428750">
                <a:moveTo>
                  <a:pt x="63494" y="0"/>
                </a:moveTo>
                <a:lnTo>
                  <a:pt x="3706819" y="0"/>
                </a:lnTo>
                <a:cubicBezTo>
                  <a:pt x="3741885" y="0"/>
                  <a:pt x="3770313" y="28427"/>
                  <a:pt x="3770313" y="63494"/>
                </a:cubicBezTo>
                <a:lnTo>
                  <a:pt x="3770313" y="1365256"/>
                </a:lnTo>
                <a:cubicBezTo>
                  <a:pt x="3770312" y="1400323"/>
                  <a:pt x="3741885" y="1428750"/>
                  <a:pt x="3706819" y="1428750"/>
                </a:cubicBezTo>
                <a:lnTo>
                  <a:pt x="63494" y="1428750"/>
                </a:lnTo>
                <a:cubicBezTo>
                  <a:pt x="28427" y="1428750"/>
                  <a:pt x="0" y="1400323"/>
                  <a:pt x="0" y="13652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8202018" y="4660305"/>
            <a:ext cx="364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Mejores Horas para Ingresos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8202018" y="4914305"/>
            <a:ext cx="3579813" cy="222250"/>
          </a:xfrm>
          <a:custGeom>
            <a:avLst/>
            <a:gdLst/>
            <a:ahLst/>
            <a:cxnLst/>
            <a:rect l="l" t="t" r="r" b="b"/>
            <a:pathLst>
              <a:path w="3579813" h="222250">
                <a:moveTo>
                  <a:pt x="31751" y="0"/>
                </a:moveTo>
                <a:lnTo>
                  <a:pt x="3548062" y="0"/>
                </a:lnTo>
                <a:cubicBezTo>
                  <a:pt x="3565597" y="0"/>
                  <a:pt x="3579813" y="14215"/>
                  <a:pt x="3579813" y="31751"/>
                </a:cubicBezTo>
                <a:lnTo>
                  <a:pt x="3579813" y="190499"/>
                </a:lnTo>
                <a:cubicBezTo>
                  <a:pt x="3579813" y="208035"/>
                  <a:pt x="3565597" y="222250"/>
                  <a:pt x="3548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4" name="Text 40"/>
          <p:cNvSpPr/>
          <p:nvPr/>
        </p:nvSpPr>
        <p:spPr>
          <a:xfrm>
            <a:off x="8249643" y="4961930"/>
            <a:ext cx="47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6:00 PM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11474648" y="4961930"/>
            <a:ext cx="30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$17.20</a:t>
            </a:r>
            <a:endParaRPr lang="en-US" sz="1600" dirty="0"/>
          </a:p>
        </p:txBody>
      </p:sp>
      <p:sp>
        <p:nvSpPr>
          <p:cNvPr id="46" name="Shape 42"/>
          <p:cNvSpPr/>
          <p:nvPr/>
        </p:nvSpPr>
        <p:spPr>
          <a:xfrm>
            <a:off x="8202018" y="5168208"/>
            <a:ext cx="3579813" cy="222250"/>
          </a:xfrm>
          <a:custGeom>
            <a:avLst/>
            <a:gdLst/>
            <a:ahLst/>
            <a:cxnLst/>
            <a:rect l="l" t="t" r="r" b="b"/>
            <a:pathLst>
              <a:path w="3579813" h="222250">
                <a:moveTo>
                  <a:pt x="31751" y="0"/>
                </a:moveTo>
                <a:lnTo>
                  <a:pt x="3548062" y="0"/>
                </a:lnTo>
                <a:cubicBezTo>
                  <a:pt x="3565597" y="0"/>
                  <a:pt x="3579813" y="14215"/>
                  <a:pt x="3579813" y="31751"/>
                </a:cubicBezTo>
                <a:lnTo>
                  <a:pt x="3579813" y="190499"/>
                </a:lnTo>
                <a:cubicBezTo>
                  <a:pt x="3579813" y="208035"/>
                  <a:pt x="3565597" y="222250"/>
                  <a:pt x="3548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7" name="Text 43"/>
          <p:cNvSpPr/>
          <p:nvPr/>
        </p:nvSpPr>
        <p:spPr>
          <a:xfrm>
            <a:off x="8249643" y="5215833"/>
            <a:ext cx="50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8:00 AM</a:t>
            </a:r>
            <a:endParaRPr lang="en-US" sz="1600" dirty="0"/>
          </a:p>
        </p:txBody>
      </p:sp>
      <p:sp>
        <p:nvSpPr>
          <p:cNvPr id="48" name="Text 44"/>
          <p:cNvSpPr/>
          <p:nvPr/>
        </p:nvSpPr>
        <p:spPr>
          <a:xfrm>
            <a:off x="11461055" y="5215833"/>
            <a:ext cx="317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$16.80</a:t>
            </a:r>
            <a:endParaRPr lang="en-US" sz="1600" dirty="0"/>
          </a:p>
        </p:txBody>
      </p:sp>
      <p:sp>
        <p:nvSpPr>
          <p:cNvPr id="49" name="Shape 45"/>
          <p:cNvSpPr/>
          <p:nvPr/>
        </p:nvSpPr>
        <p:spPr>
          <a:xfrm>
            <a:off x="8202018" y="5422107"/>
            <a:ext cx="3579813" cy="222250"/>
          </a:xfrm>
          <a:custGeom>
            <a:avLst/>
            <a:gdLst/>
            <a:ahLst/>
            <a:cxnLst/>
            <a:rect l="l" t="t" r="r" b="b"/>
            <a:pathLst>
              <a:path w="3579813" h="222250">
                <a:moveTo>
                  <a:pt x="31751" y="0"/>
                </a:moveTo>
                <a:lnTo>
                  <a:pt x="3548062" y="0"/>
                </a:lnTo>
                <a:cubicBezTo>
                  <a:pt x="3565597" y="0"/>
                  <a:pt x="3579813" y="14215"/>
                  <a:pt x="3579813" y="31751"/>
                </a:cubicBezTo>
                <a:lnTo>
                  <a:pt x="3579813" y="190499"/>
                </a:lnTo>
                <a:cubicBezTo>
                  <a:pt x="3579813" y="208035"/>
                  <a:pt x="3565597" y="222250"/>
                  <a:pt x="3548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0" name="Text 46"/>
          <p:cNvSpPr/>
          <p:nvPr/>
        </p:nvSpPr>
        <p:spPr>
          <a:xfrm>
            <a:off x="8249643" y="5469732"/>
            <a:ext cx="492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7:00 PM</a:t>
            </a:r>
            <a:endParaRPr lang="en-US" sz="1600" dirty="0"/>
          </a:p>
        </p:txBody>
      </p:sp>
      <p:sp>
        <p:nvSpPr>
          <p:cNvPr id="51" name="Text 47"/>
          <p:cNvSpPr/>
          <p:nvPr/>
        </p:nvSpPr>
        <p:spPr>
          <a:xfrm>
            <a:off x="11462941" y="5469732"/>
            <a:ext cx="317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$16.50</a:t>
            </a:r>
            <a:endParaRPr lang="en-US" sz="1600" dirty="0"/>
          </a:p>
        </p:txBody>
      </p:sp>
      <p:sp>
        <p:nvSpPr>
          <p:cNvPr id="52" name="Shape 48"/>
          <p:cNvSpPr/>
          <p:nvPr/>
        </p:nvSpPr>
        <p:spPr>
          <a:xfrm>
            <a:off x="8202018" y="5676006"/>
            <a:ext cx="3579813" cy="222250"/>
          </a:xfrm>
          <a:custGeom>
            <a:avLst/>
            <a:gdLst/>
            <a:ahLst/>
            <a:cxnLst/>
            <a:rect l="l" t="t" r="r" b="b"/>
            <a:pathLst>
              <a:path w="3579813" h="222250">
                <a:moveTo>
                  <a:pt x="31751" y="0"/>
                </a:moveTo>
                <a:lnTo>
                  <a:pt x="3548062" y="0"/>
                </a:lnTo>
                <a:cubicBezTo>
                  <a:pt x="3565597" y="0"/>
                  <a:pt x="3579813" y="14215"/>
                  <a:pt x="3579813" y="31751"/>
                </a:cubicBezTo>
                <a:lnTo>
                  <a:pt x="3579813" y="190499"/>
                </a:lnTo>
                <a:cubicBezTo>
                  <a:pt x="3579813" y="208035"/>
                  <a:pt x="3565597" y="222250"/>
                  <a:pt x="3548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3" name="Text 49"/>
          <p:cNvSpPr/>
          <p:nvPr/>
        </p:nvSpPr>
        <p:spPr>
          <a:xfrm>
            <a:off x="8249643" y="5723631"/>
            <a:ext cx="658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Valle: 4:00 AM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11488043" y="5723631"/>
            <a:ext cx="293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$11.20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317500" y="7077077"/>
            <a:ext cx="11557000" cy="387350"/>
          </a:xfrm>
          <a:custGeom>
            <a:avLst/>
            <a:gdLst/>
            <a:ahLst/>
            <a:cxnLst/>
            <a:rect l="l" t="t" r="r" b="b"/>
            <a:pathLst>
              <a:path w="11557000" h="387350">
                <a:moveTo>
                  <a:pt x="12700" y="0"/>
                </a:moveTo>
                <a:lnTo>
                  <a:pt x="11544300" y="0"/>
                </a:lnTo>
                <a:cubicBezTo>
                  <a:pt x="11551309" y="0"/>
                  <a:pt x="11557000" y="5691"/>
                  <a:pt x="11557000" y="12700"/>
                </a:cubicBezTo>
                <a:lnTo>
                  <a:pt x="11557000" y="323852"/>
                </a:lnTo>
                <a:cubicBezTo>
                  <a:pt x="11557000" y="358897"/>
                  <a:pt x="11528547" y="387350"/>
                  <a:pt x="11493502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317500" y="7077077"/>
            <a:ext cx="11557000" cy="12700"/>
          </a:xfrm>
          <a:custGeom>
            <a:avLst/>
            <a:gdLst/>
            <a:ahLst/>
            <a:cxnLst/>
            <a:rect l="l" t="t" r="r" b="b"/>
            <a:pathLst>
              <a:path w="11557000" h="12700">
                <a:moveTo>
                  <a:pt x="12700" y="0"/>
                </a:moveTo>
                <a:lnTo>
                  <a:pt x="11544300" y="0"/>
                </a:lnTo>
                <a:cubicBezTo>
                  <a:pt x="11551309" y="0"/>
                  <a:pt x="11557000" y="5691"/>
                  <a:pt x="11557000" y="12700"/>
                </a:cubicBezTo>
                <a:lnTo>
                  <a:pt x="11557000" y="12700"/>
                </a:lnTo>
                <a:lnTo>
                  <a:pt x="0" y="12700"/>
                </a:ln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7" name="Shape 53"/>
          <p:cNvSpPr/>
          <p:nvPr/>
        </p:nvSpPr>
        <p:spPr>
          <a:xfrm>
            <a:off x="428625" y="720407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8" name="Text 54"/>
          <p:cNvSpPr/>
          <p:nvPr/>
        </p:nvSpPr>
        <p:spPr>
          <a:xfrm>
            <a:off x="611188" y="7178674"/>
            <a:ext cx="1123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Conclusión: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Los patrones temporales consistentes validan la decisión de usar Prophet para modelado de series temporales con componentes de estacionalidad.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945" y="401934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66989" y="0"/>
                </a:moveTo>
                <a:lnTo>
                  <a:pt x="267956" y="0"/>
                </a:lnTo>
                <a:cubicBezTo>
                  <a:pt x="304928" y="0"/>
                  <a:pt x="334945" y="30017"/>
                  <a:pt x="334945" y="66989"/>
                </a:cubicBezTo>
                <a:lnTo>
                  <a:pt x="334945" y="267956"/>
                </a:lnTo>
                <a:cubicBezTo>
                  <a:pt x="334945" y="304928"/>
                  <a:pt x="304928" y="334945"/>
                  <a:pt x="267956" y="334945"/>
                </a:cubicBezTo>
                <a:lnTo>
                  <a:pt x="66989" y="334945"/>
                </a:lnTo>
                <a:cubicBezTo>
                  <a:pt x="30017" y="334945"/>
                  <a:pt x="0" y="304928"/>
                  <a:pt x="0" y="267956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29148" y="494044"/>
            <a:ext cx="150725" cy="150725"/>
          </a:xfrm>
          <a:custGeom>
            <a:avLst/>
            <a:gdLst/>
            <a:ahLst/>
            <a:cxnLst/>
            <a:rect l="l" t="t" r="r" b="b"/>
            <a:pathLst>
              <a:path w="150725" h="150725">
                <a:moveTo>
                  <a:pt x="18841" y="18841"/>
                </a:moveTo>
                <a:cubicBezTo>
                  <a:pt x="18841" y="13630"/>
                  <a:pt x="14631" y="9420"/>
                  <a:pt x="9420" y="9420"/>
                </a:cubicBezTo>
                <a:cubicBezTo>
                  <a:pt x="4210" y="9420"/>
                  <a:pt x="0" y="13630"/>
                  <a:pt x="0" y="18841"/>
                </a:cubicBezTo>
                <a:lnTo>
                  <a:pt x="0" y="117754"/>
                </a:lnTo>
                <a:cubicBezTo>
                  <a:pt x="0" y="130766"/>
                  <a:pt x="10539" y="141305"/>
                  <a:pt x="23551" y="141305"/>
                </a:cubicBezTo>
                <a:lnTo>
                  <a:pt x="141305" y="141305"/>
                </a:lnTo>
                <a:cubicBezTo>
                  <a:pt x="146516" y="141305"/>
                  <a:pt x="150725" y="137095"/>
                  <a:pt x="150725" y="131885"/>
                </a:cubicBezTo>
                <a:cubicBezTo>
                  <a:pt x="150725" y="126674"/>
                  <a:pt x="146516" y="122464"/>
                  <a:pt x="141305" y="122464"/>
                </a:cubicBezTo>
                <a:lnTo>
                  <a:pt x="23551" y="122464"/>
                </a:lnTo>
                <a:cubicBezTo>
                  <a:pt x="20960" y="122464"/>
                  <a:pt x="18841" y="120345"/>
                  <a:pt x="18841" y="117754"/>
                </a:cubicBezTo>
                <a:lnTo>
                  <a:pt x="18841" y="18841"/>
                </a:lnTo>
                <a:close/>
                <a:moveTo>
                  <a:pt x="138538" y="44334"/>
                </a:moveTo>
                <a:cubicBezTo>
                  <a:pt x="142218" y="40655"/>
                  <a:pt x="142218" y="34679"/>
                  <a:pt x="138538" y="30999"/>
                </a:cubicBezTo>
                <a:cubicBezTo>
                  <a:pt x="134858" y="27319"/>
                  <a:pt x="128882" y="27319"/>
                  <a:pt x="125202" y="30999"/>
                </a:cubicBezTo>
                <a:lnTo>
                  <a:pt x="94203" y="62027"/>
                </a:lnTo>
                <a:lnTo>
                  <a:pt x="77306" y="45159"/>
                </a:lnTo>
                <a:cubicBezTo>
                  <a:pt x="73626" y="41479"/>
                  <a:pt x="67650" y="41479"/>
                  <a:pt x="63970" y="45159"/>
                </a:cubicBezTo>
                <a:lnTo>
                  <a:pt x="35709" y="73420"/>
                </a:lnTo>
                <a:cubicBezTo>
                  <a:pt x="32029" y="77100"/>
                  <a:pt x="32029" y="83076"/>
                  <a:pt x="35709" y="86755"/>
                </a:cubicBezTo>
                <a:cubicBezTo>
                  <a:pt x="39389" y="90435"/>
                  <a:pt x="45365" y="90435"/>
                  <a:pt x="49045" y="86755"/>
                </a:cubicBezTo>
                <a:lnTo>
                  <a:pt x="70652" y="65147"/>
                </a:lnTo>
                <a:lnTo>
                  <a:pt x="87550" y="82045"/>
                </a:lnTo>
                <a:cubicBezTo>
                  <a:pt x="91230" y="85725"/>
                  <a:pt x="97206" y="85725"/>
                  <a:pt x="100886" y="82045"/>
                </a:cubicBezTo>
                <a:lnTo>
                  <a:pt x="138567" y="44364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70374" y="334945"/>
            <a:ext cx="392723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spc="46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0374" y="502418"/>
            <a:ext cx="3994220" cy="301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7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Serie Temporal y Agregación Diaria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4945" y="870857"/>
            <a:ext cx="669890" cy="33495"/>
          </a:xfrm>
          <a:custGeom>
            <a:avLst/>
            <a:gdLst/>
            <a:ahLst/>
            <a:cxnLst/>
            <a:rect l="l" t="t" r="r" b="b"/>
            <a:pathLst>
              <a:path w="669890" h="33495">
                <a:moveTo>
                  <a:pt x="0" y="0"/>
                </a:moveTo>
                <a:lnTo>
                  <a:pt x="669890" y="0"/>
                </a:lnTo>
                <a:lnTo>
                  <a:pt x="669890" y="33495"/>
                </a:lnTo>
                <a:lnTo>
                  <a:pt x="0" y="33495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51692" y="1038330"/>
            <a:ext cx="6841253" cy="2210637"/>
          </a:xfrm>
          <a:custGeom>
            <a:avLst/>
            <a:gdLst/>
            <a:ahLst/>
            <a:cxnLst/>
            <a:rect l="l" t="t" r="r" b="b"/>
            <a:pathLst>
              <a:path w="6841253" h="2210637">
                <a:moveTo>
                  <a:pt x="33495" y="0"/>
                </a:moveTo>
                <a:lnTo>
                  <a:pt x="6774270" y="0"/>
                </a:lnTo>
                <a:cubicBezTo>
                  <a:pt x="6811264" y="0"/>
                  <a:pt x="6841253" y="29989"/>
                  <a:pt x="6841253" y="66982"/>
                </a:cubicBezTo>
                <a:lnTo>
                  <a:pt x="6841253" y="2143655"/>
                </a:lnTo>
                <a:cubicBezTo>
                  <a:pt x="6841253" y="2180648"/>
                  <a:pt x="6811264" y="2210637"/>
                  <a:pt x="6774270" y="2210637"/>
                </a:cubicBezTo>
                <a:lnTo>
                  <a:pt x="33495" y="2210637"/>
                </a:lnTo>
                <a:cubicBezTo>
                  <a:pt x="14996" y="2210637"/>
                  <a:pt x="0" y="2195641"/>
                  <a:pt x="0" y="2177143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1692" y="1038330"/>
            <a:ext cx="33495" cy="2210637"/>
          </a:xfrm>
          <a:custGeom>
            <a:avLst/>
            <a:gdLst/>
            <a:ahLst/>
            <a:cxnLst/>
            <a:rect l="l" t="t" r="r" b="b"/>
            <a:pathLst>
              <a:path w="33495" h="2210637">
                <a:moveTo>
                  <a:pt x="33495" y="0"/>
                </a:moveTo>
                <a:lnTo>
                  <a:pt x="33495" y="0"/>
                </a:lnTo>
                <a:lnTo>
                  <a:pt x="33495" y="2210637"/>
                </a:lnTo>
                <a:lnTo>
                  <a:pt x="33495" y="2210637"/>
                </a:lnTo>
                <a:cubicBezTo>
                  <a:pt x="14996" y="2210637"/>
                  <a:pt x="0" y="2195641"/>
                  <a:pt x="0" y="2177143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468923" y="1138813"/>
            <a:ext cx="6698901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Serie Temporal de Ingresos Totales Diarios</a:t>
            </a:r>
            <a:endParaRPr lang="en-US" sz="1600" dirty="0"/>
          </a:p>
        </p:txBody>
      </p:sp>
      <p:pic>
        <p:nvPicPr>
          <p:cNvPr id="10" name="Image 0" descr="https://kimi-img.moonshot.cn/pub/slides/26-01-16-00:54:52-d5khnn1e3tpng2bcp4e0.png">    </p:cNvPr>
          <p:cNvPicPr>
            <a:picLocks noChangeAspect="1"/>
          </p:cNvPicPr>
          <p:nvPr/>
        </p:nvPicPr>
        <p:blipFill>
          <a:blip r:embed="rId1"/>
          <a:srcRect l="0" r="0" t="29" b="29"/>
          <a:stretch/>
        </p:blipFill>
        <p:spPr>
          <a:xfrm>
            <a:off x="468923" y="1440264"/>
            <a:ext cx="5744308" cy="1507253"/>
          </a:xfrm>
          <a:prstGeom prst="roundRect">
            <a:avLst>
              <a:gd name="adj" fmla="val 0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468923" y="2981011"/>
            <a:ext cx="668215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Observación: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Tendencia estable con ligera pendiente positiva. Volatilidad reducida indica predecibilidad del sistema.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1692" y="3349451"/>
            <a:ext cx="6841253" cy="1373275"/>
          </a:xfrm>
          <a:custGeom>
            <a:avLst/>
            <a:gdLst/>
            <a:ahLst/>
            <a:cxnLst/>
            <a:rect l="l" t="t" r="r" b="b"/>
            <a:pathLst>
              <a:path w="6841253" h="1373275">
                <a:moveTo>
                  <a:pt x="33495" y="0"/>
                </a:moveTo>
                <a:lnTo>
                  <a:pt x="6774264" y="0"/>
                </a:lnTo>
                <a:cubicBezTo>
                  <a:pt x="6811261" y="0"/>
                  <a:pt x="6841253" y="29992"/>
                  <a:pt x="6841253" y="66988"/>
                </a:cubicBezTo>
                <a:lnTo>
                  <a:pt x="6841253" y="1306286"/>
                </a:lnTo>
                <a:cubicBezTo>
                  <a:pt x="6841253" y="1343283"/>
                  <a:pt x="6811261" y="1373275"/>
                  <a:pt x="6774264" y="1373275"/>
                </a:cubicBezTo>
                <a:lnTo>
                  <a:pt x="33495" y="1373275"/>
                </a:lnTo>
                <a:cubicBezTo>
                  <a:pt x="14996" y="1373275"/>
                  <a:pt x="0" y="1358279"/>
                  <a:pt x="0" y="133978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51692" y="3349451"/>
            <a:ext cx="33495" cy="1373275"/>
          </a:xfrm>
          <a:custGeom>
            <a:avLst/>
            <a:gdLst/>
            <a:ahLst/>
            <a:cxnLst/>
            <a:rect l="l" t="t" r="r" b="b"/>
            <a:pathLst>
              <a:path w="33495" h="1373275">
                <a:moveTo>
                  <a:pt x="33495" y="0"/>
                </a:moveTo>
                <a:lnTo>
                  <a:pt x="33495" y="0"/>
                </a:lnTo>
                <a:lnTo>
                  <a:pt x="33495" y="1373275"/>
                </a:lnTo>
                <a:lnTo>
                  <a:pt x="33495" y="1373275"/>
                </a:lnTo>
                <a:cubicBezTo>
                  <a:pt x="14996" y="1373275"/>
                  <a:pt x="0" y="1358279"/>
                  <a:pt x="0" y="133978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4" name="Text 11"/>
          <p:cNvSpPr/>
          <p:nvPr/>
        </p:nvSpPr>
        <p:spPr>
          <a:xfrm>
            <a:off x="468923" y="3449934"/>
            <a:ext cx="6698901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Componentes Descompuestos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8923" y="3751385"/>
            <a:ext cx="2160396" cy="636396"/>
          </a:xfrm>
          <a:custGeom>
            <a:avLst/>
            <a:gdLst/>
            <a:ahLst/>
            <a:cxnLst/>
            <a:rect l="l" t="t" r="r" b="b"/>
            <a:pathLst>
              <a:path w="2160396" h="636396">
                <a:moveTo>
                  <a:pt x="33494" y="0"/>
                </a:moveTo>
                <a:lnTo>
                  <a:pt x="2126902" y="0"/>
                </a:lnTo>
                <a:cubicBezTo>
                  <a:pt x="2145400" y="0"/>
                  <a:pt x="2160396" y="14996"/>
                  <a:pt x="2160396" y="33494"/>
                </a:cubicBezTo>
                <a:lnTo>
                  <a:pt x="2160396" y="602902"/>
                </a:lnTo>
                <a:cubicBezTo>
                  <a:pt x="2160396" y="621400"/>
                  <a:pt x="2145400" y="636396"/>
                  <a:pt x="2126902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468106" y="3838474"/>
            <a:ext cx="169566" cy="150725"/>
          </a:xfrm>
          <a:custGeom>
            <a:avLst/>
            <a:gdLst/>
            <a:ahLst/>
            <a:cxnLst/>
            <a:rect l="l" t="t" r="r" b="b"/>
            <a:pathLst>
              <a:path w="169566" h="150725">
                <a:moveTo>
                  <a:pt x="113044" y="47102"/>
                </a:moveTo>
                <a:cubicBezTo>
                  <a:pt x="107833" y="47102"/>
                  <a:pt x="103624" y="42892"/>
                  <a:pt x="103624" y="37681"/>
                </a:cubicBezTo>
                <a:cubicBezTo>
                  <a:pt x="103624" y="32471"/>
                  <a:pt x="107833" y="28261"/>
                  <a:pt x="113044" y="28261"/>
                </a:cubicBezTo>
                <a:lnTo>
                  <a:pt x="160146" y="28261"/>
                </a:lnTo>
                <a:cubicBezTo>
                  <a:pt x="165356" y="28261"/>
                  <a:pt x="169566" y="32471"/>
                  <a:pt x="169566" y="37681"/>
                </a:cubicBezTo>
                <a:lnTo>
                  <a:pt x="169566" y="84783"/>
                </a:lnTo>
                <a:cubicBezTo>
                  <a:pt x="169566" y="89994"/>
                  <a:pt x="165356" y="94203"/>
                  <a:pt x="160146" y="94203"/>
                </a:cubicBezTo>
                <a:cubicBezTo>
                  <a:pt x="154935" y="94203"/>
                  <a:pt x="150725" y="89994"/>
                  <a:pt x="150725" y="84783"/>
                </a:cubicBezTo>
                <a:lnTo>
                  <a:pt x="150725" y="60437"/>
                </a:lnTo>
                <a:lnTo>
                  <a:pt x="100856" y="110306"/>
                </a:lnTo>
                <a:cubicBezTo>
                  <a:pt x="97177" y="113986"/>
                  <a:pt x="91201" y="113986"/>
                  <a:pt x="87521" y="110306"/>
                </a:cubicBezTo>
                <a:lnTo>
                  <a:pt x="56522" y="79278"/>
                </a:lnTo>
                <a:lnTo>
                  <a:pt x="16073" y="119697"/>
                </a:lnTo>
                <a:cubicBezTo>
                  <a:pt x="12394" y="123377"/>
                  <a:pt x="6418" y="123377"/>
                  <a:pt x="2738" y="119697"/>
                </a:cubicBezTo>
                <a:cubicBezTo>
                  <a:pt x="-942" y="116017"/>
                  <a:pt x="-942" y="110041"/>
                  <a:pt x="2738" y="106361"/>
                </a:cubicBezTo>
                <a:lnTo>
                  <a:pt x="49839" y="59260"/>
                </a:lnTo>
                <a:cubicBezTo>
                  <a:pt x="53519" y="55580"/>
                  <a:pt x="59495" y="55580"/>
                  <a:pt x="63175" y="59260"/>
                </a:cubicBezTo>
                <a:lnTo>
                  <a:pt x="94203" y="90288"/>
                </a:lnTo>
                <a:lnTo>
                  <a:pt x="137390" y="47102"/>
                </a:lnTo>
                <a:lnTo>
                  <a:pt x="113044" y="47102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7" name="Text 14"/>
          <p:cNvSpPr/>
          <p:nvPr/>
        </p:nvSpPr>
        <p:spPr>
          <a:xfrm>
            <a:off x="510791" y="4022693"/>
            <a:ext cx="2076659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Tendencia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6604" y="4156565"/>
            <a:ext cx="2085033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Estable +0.2%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699657" y="3751385"/>
            <a:ext cx="2160396" cy="636396"/>
          </a:xfrm>
          <a:custGeom>
            <a:avLst/>
            <a:gdLst/>
            <a:ahLst/>
            <a:cxnLst/>
            <a:rect l="l" t="t" r="r" b="b"/>
            <a:pathLst>
              <a:path w="2160396" h="636396">
                <a:moveTo>
                  <a:pt x="33494" y="0"/>
                </a:moveTo>
                <a:lnTo>
                  <a:pt x="2126902" y="0"/>
                </a:lnTo>
                <a:cubicBezTo>
                  <a:pt x="2145400" y="0"/>
                  <a:pt x="2160396" y="14996"/>
                  <a:pt x="2160396" y="33494"/>
                </a:cubicBezTo>
                <a:lnTo>
                  <a:pt x="2160396" y="602902"/>
                </a:lnTo>
                <a:cubicBezTo>
                  <a:pt x="2160396" y="621400"/>
                  <a:pt x="2145400" y="636396"/>
                  <a:pt x="2126902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717681" y="3838474"/>
            <a:ext cx="131885" cy="150725"/>
          </a:xfrm>
          <a:custGeom>
            <a:avLst/>
            <a:gdLst/>
            <a:ahLst/>
            <a:cxnLst/>
            <a:rect l="l" t="t" r="r" b="b"/>
            <a:pathLst>
              <a:path w="131885" h="150725">
                <a:moveTo>
                  <a:pt x="37681" y="0"/>
                </a:moveTo>
                <a:cubicBezTo>
                  <a:pt x="42892" y="0"/>
                  <a:pt x="47102" y="4210"/>
                  <a:pt x="47102" y="9420"/>
                </a:cubicBezTo>
                <a:lnTo>
                  <a:pt x="47102" y="18841"/>
                </a:lnTo>
                <a:lnTo>
                  <a:pt x="84783" y="18841"/>
                </a:lnTo>
                <a:lnTo>
                  <a:pt x="84783" y="9420"/>
                </a:lnTo>
                <a:cubicBezTo>
                  <a:pt x="84783" y="4210"/>
                  <a:pt x="88993" y="0"/>
                  <a:pt x="94203" y="0"/>
                </a:cubicBezTo>
                <a:cubicBezTo>
                  <a:pt x="99414" y="0"/>
                  <a:pt x="103624" y="4210"/>
                  <a:pt x="103624" y="9420"/>
                </a:cubicBezTo>
                <a:lnTo>
                  <a:pt x="103624" y="18841"/>
                </a:lnTo>
                <a:lnTo>
                  <a:pt x="113044" y="18841"/>
                </a:lnTo>
                <a:cubicBezTo>
                  <a:pt x="123436" y="18841"/>
                  <a:pt x="131885" y="27290"/>
                  <a:pt x="131885" y="37681"/>
                </a:cubicBezTo>
                <a:lnTo>
                  <a:pt x="131885" y="122464"/>
                </a:lnTo>
                <a:cubicBezTo>
                  <a:pt x="131885" y="132856"/>
                  <a:pt x="123436" y="141305"/>
                  <a:pt x="113044" y="141305"/>
                </a:cubicBezTo>
                <a:lnTo>
                  <a:pt x="18841" y="141305"/>
                </a:lnTo>
                <a:cubicBezTo>
                  <a:pt x="8449" y="141305"/>
                  <a:pt x="0" y="132856"/>
                  <a:pt x="0" y="122464"/>
                </a:cubicBezTo>
                <a:lnTo>
                  <a:pt x="0" y="37681"/>
                </a:lnTo>
                <a:cubicBezTo>
                  <a:pt x="0" y="27290"/>
                  <a:pt x="8449" y="18841"/>
                  <a:pt x="18841" y="18841"/>
                </a:cubicBezTo>
                <a:lnTo>
                  <a:pt x="28261" y="18841"/>
                </a:lnTo>
                <a:lnTo>
                  <a:pt x="28261" y="9420"/>
                </a:lnTo>
                <a:cubicBezTo>
                  <a:pt x="28261" y="4210"/>
                  <a:pt x="32471" y="0"/>
                  <a:pt x="37681" y="0"/>
                </a:cubicBezTo>
                <a:close/>
                <a:moveTo>
                  <a:pt x="37681" y="75363"/>
                </a:moveTo>
                <a:cubicBezTo>
                  <a:pt x="32471" y="75363"/>
                  <a:pt x="28261" y="79572"/>
                  <a:pt x="28261" y="84783"/>
                </a:cubicBezTo>
                <a:lnTo>
                  <a:pt x="28261" y="103624"/>
                </a:lnTo>
                <a:cubicBezTo>
                  <a:pt x="28261" y="108834"/>
                  <a:pt x="32471" y="113044"/>
                  <a:pt x="37681" y="113044"/>
                </a:cubicBezTo>
                <a:lnTo>
                  <a:pt x="94203" y="113044"/>
                </a:lnTo>
                <a:cubicBezTo>
                  <a:pt x="99414" y="113044"/>
                  <a:pt x="103624" y="108834"/>
                  <a:pt x="103624" y="103624"/>
                </a:cubicBezTo>
                <a:lnTo>
                  <a:pt x="103624" y="84783"/>
                </a:lnTo>
                <a:cubicBezTo>
                  <a:pt x="103624" y="79572"/>
                  <a:pt x="99414" y="75363"/>
                  <a:pt x="94203" y="75363"/>
                </a:cubicBezTo>
                <a:lnTo>
                  <a:pt x="37681" y="75363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1" name="Text 18"/>
          <p:cNvSpPr/>
          <p:nvPr/>
        </p:nvSpPr>
        <p:spPr>
          <a:xfrm>
            <a:off x="2741525" y="4022693"/>
            <a:ext cx="2076659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Estacionalidad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737338" y="4156565"/>
            <a:ext cx="2085033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Semanal clara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930391" y="3751385"/>
            <a:ext cx="2160396" cy="636396"/>
          </a:xfrm>
          <a:custGeom>
            <a:avLst/>
            <a:gdLst/>
            <a:ahLst/>
            <a:cxnLst/>
            <a:rect l="l" t="t" r="r" b="b"/>
            <a:pathLst>
              <a:path w="2160396" h="636396">
                <a:moveTo>
                  <a:pt x="33494" y="0"/>
                </a:moveTo>
                <a:lnTo>
                  <a:pt x="2126902" y="0"/>
                </a:lnTo>
                <a:cubicBezTo>
                  <a:pt x="2145400" y="0"/>
                  <a:pt x="2160396" y="14996"/>
                  <a:pt x="2160396" y="33494"/>
                </a:cubicBezTo>
                <a:lnTo>
                  <a:pt x="2160396" y="602902"/>
                </a:lnTo>
                <a:cubicBezTo>
                  <a:pt x="2160396" y="621400"/>
                  <a:pt x="2145400" y="636396"/>
                  <a:pt x="2126902" y="636396"/>
                </a:cubicBezTo>
                <a:lnTo>
                  <a:pt x="33494" y="636396"/>
                </a:lnTo>
                <a:cubicBezTo>
                  <a:pt x="14996" y="636396"/>
                  <a:pt x="0" y="621400"/>
                  <a:pt x="0" y="602902"/>
                </a:cubicBezTo>
                <a:lnTo>
                  <a:pt x="0" y="33494"/>
                </a:lnTo>
                <a:cubicBezTo>
                  <a:pt x="0" y="14996"/>
                  <a:pt x="14996" y="0"/>
                  <a:pt x="3349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938995" y="3838474"/>
            <a:ext cx="150725" cy="150725"/>
          </a:xfrm>
          <a:custGeom>
            <a:avLst/>
            <a:gdLst/>
            <a:ahLst/>
            <a:cxnLst/>
            <a:rect l="l" t="t" r="r" b="b"/>
            <a:pathLst>
              <a:path w="150725" h="150725">
                <a:moveTo>
                  <a:pt x="18841" y="28261"/>
                </a:moveTo>
                <a:cubicBezTo>
                  <a:pt x="18841" y="23050"/>
                  <a:pt x="23050" y="18841"/>
                  <a:pt x="28261" y="18841"/>
                </a:cubicBezTo>
                <a:lnTo>
                  <a:pt x="75363" y="18841"/>
                </a:lnTo>
                <a:cubicBezTo>
                  <a:pt x="80573" y="18841"/>
                  <a:pt x="84783" y="23050"/>
                  <a:pt x="84783" y="28261"/>
                </a:cubicBezTo>
                <a:lnTo>
                  <a:pt x="84783" y="113044"/>
                </a:lnTo>
                <a:lnTo>
                  <a:pt x="113044" y="113044"/>
                </a:lnTo>
                <a:lnTo>
                  <a:pt x="113044" y="75363"/>
                </a:lnTo>
                <a:cubicBezTo>
                  <a:pt x="113044" y="70152"/>
                  <a:pt x="117254" y="65942"/>
                  <a:pt x="122464" y="65942"/>
                </a:cubicBezTo>
                <a:lnTo>
                  <a:pt x="141305" y="65942"/>
                </a:lnTo>
                <a:cubicBezTo>
                  <a:pt x="146516" y="65942"/>
                  <a:pt x="150725" y="70152"/>
                  <a:pt x="150725" y="75363"/>
                </a:cubicBezTo>
                <a:cubicBezTo>
                  <a:pt x="150725" y="80573"/>
                  <a:pt x="146516" y="84783"/>
                  <a:pt x="141305" y="84783"/>
                </a:cubicBezTo>
                <a:lnTo>
                  <a:pt x="131885" y="84783"/>
                </a:lnTo>
                <a:lnTo>
                  <a:pt x="131885" y="122464"/>
                </a:lnTo>
                <a:cubicBezTo>
                  <a:pt x="131885" y="127675"/>
                  <a:pt x="127675" y="131885"/>
                  <a:pt x="122464" y="131885"/>
                </a:cubicBezTo>
                <a:lnTo>
                  <a:pt x="75363" y="131885"/>
                </a:lnTo>
                <a:cubicBezTo>
                  <a:pt x="70152" y="131885"/>
                  <a:pt x="65942" y="127675"/>
                  <a:pt x="65942" y="122464"/>
                </a:cubicBezTo>
                <a:lnTo>
                  <a:pt x="65942" y="37681"/>
                </a:lnTo>
                <a:lnTo>
                  <a:pt x="37681" y="37681"/>
                </a:lnTo>
                <a:lnTo>
                  <a:pt x="37681" y="75363"/>
                </a:lnTo>
                <a:cubicBezTo>
                  <a:pt x="37681" y="80573"/>
                  <a:pt x="33472" y="84783"/>
                  <a:pt x="28261" y="84783"/>
                </a:cubicBezTo>
                <a:lnTo>
                  <a:pt x="9420" y="84783"/>
                </a:lnTo>
                <a:cubicBezTo>
                  <a:pt x="4210" y="84783"/>
                  <a:pt x="0" y="80573"/>
                  <a:pt x="0" y="75363"/>
                </a:cubicBezTo>
                <a:cubicBezTo>
                  <a:pt x="0" y="70152"/>
                  <a:pt x="4210" y="65942"/>
                  <a:pt x="9420" y="65942"/>
                </a:cubicBezTo>
                <a:lnTo>
                  <a:pt x="18841" y="65942"/>
                </a:lnTo>
                <a:lnTo>
                  <a:pt x="18841" y="28261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5" name="Text 22"/>
          <p:cNvSpPr/>
          <p:nvPr/>
        </p:nvSpPr>
        <p:spPr>
          <a:xfrm>
            <a:off x="4972259" y="4022693"/>
            <a:ext cx="2076659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Ruido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968072" y="4156565"/>
            <a:ext cx="2085033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Bajo (5.2%)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68923" y="4458016"/>
            <a:ext cx="668215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Validación: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descomposición confirma que la estacionalidad explica el 68% de la varianza, ideal para Prophet.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45345" y="1038330"/>
            <a:ext cx="4513385" cy="2210637"/>
          </a:xfrm>
          <a:custGeom>
            <a:avLst/>
            <a:gdLst/>
            <a:ahLst/>
            <a:cxnLst/>
            <a:rect l="l" t="t" r="r" b="b"/>
            <a:pathLst>
              <a:path w="4513385" h="2210637">
                <a:moveTo>
                  <a:pt x="33495" y="0"/>
                </a:moveTo>
                <a:lnTo>
                  <a:pt x="4446402" y="0"/>
                </a:lnTo>
                <a:cubicBezTo>
                  <a:pt x="4483396" y="0"/>
                  <a:pt x="4513385" y="29989"/>
                  <a:pt x="4513385" y="66982"/>
                </a:cubicBezTo>
                <a:lnTo>
                  <a:pt x="4513385" y="2143655"/>
                </a:lnTo>
                <a:cubicBezTo>
                  <a:pt x="4513385" y="2180648"/>
                  <a:pt x="4483396" y="2210637"/>
                  <a:pt x="4446402" y="2210637"/>
                </a:cubicBezTo>
                <a:lnTo>
                  <a:pt x="33495" y="2210637"/>
                </a:lnTo>
                <a:cubicBezTo>
                  <a:pt x="14996" y="2210637"/>
                  <a:pt x="0" y="2195641"/>
                  <a:pt x="0" y="2177143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345345" y="1038330"/>
            <a:ext cx="33495" cy="2210637"/>
          </a:xfrm>
          <a:custGeom>
            <a:avLst/>
            <a:gdLst/>
            <a:ahLst/>
            <a:cxnLst/>
            <a:rect l="l" t="t" r="r" b="b"/>
            <a:pathLst>
              <a:path w="33495" h="2210637">
                <a:moveTo>
                  <a:pt x="33495" y="0"/>
                </a:moveTo>
                <a:lnTo>
                  <a:pt x="33495" y="0"/>
                </a:lnTo>
                <a:lnTo>
                  <a:pt x="33495" y="2210637"/>
                </a:lnTo>
                <a:lnTo>
                  <a:pt x="33495" y="2210637"/>
                </a:lnTo>
                <a:cubicBezTo>
                  <a:pt x="14996" y="2210637"/>
                  <a:pt x="0" y="2195641"/>
                  <a:pt x="0" y="2177143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0" name="Text 27"/>
          <p:cNvSpPr/>
          <p:nvPr/>
        </p:nvSpPr>
        <p:spPr>
          <a:xfrm>
            <a:off x="7462576" y="1138813"/>
            <a:ext cx="436265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Estadísticas de la Serie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62576" y="1406769"/>
            <a:ext cx="4295670" cy="535912"/>
          </a:xfrm>
          <a:custGeom>
            <a:avLst/>
            <a:gdLst/>
            <a:ahLst/>
            <a:cxnLst/>
            <a:rect l="l" t="t" r="r" b="b"/>
            <a:pathLst>
              <a:path w="4295670" h="535912">
                <a:moveTo>
                  <a:pt x="33495" y="0"/>
                </a:moveTo>
                <a:lnTo>
                  <a:pt x="4262176" y="0"/>
                </a:lnTo>
                <a:cubicBezTo>
                  <a:pt x="4280674" y="0"/>
                  <a:pt x="4295670" y="14996"/>
                  <a:pt x="4295670" y="33495"/>
                </a:cubicBezTo>
                <a:lnTo>
                  <a:pt x="4295670" y="502418"/>
                </a:lnTo>
                <a:cubicBezTo>
                  <a:pt x="4295670" y="520916"/>
                  <a:pt x="4280674" y="535912"/>
                  <a:pt x="4262176" y="535912"/>
                </a:cubicBezTo>
                <a:lnTo>
                  <a:pt x="33495" y="535912"/>
                </a:lnTo>
                <a:cubicBezTo>
                  <a:pt x="14996" y="535912"/>
                  <a:pt x="0" y="520916"/>
                  <a:pt x="0" y="502418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529565" y="1473758"/>
            <a:ext cx="421193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 total diario promedio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29565" y="1607634"/>
            <a:ext cx="4262176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$1.82M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462576" y="2009462"/>
            <a:ext cx="4295670" cy="535912"/>
          </a:xfrm>
          <a:custGeom>
            <a:avLst/>
            <a:gdLst/>
            <a:ahLst/>
            <a:cxnLst/>
            <a:rect l="l" t="t" r="r" b="b"/>
            <a:pathLst>
              <a:path w="4295670" h="535912">
                <a:moveTo>
                  <a:pt x="33495" y="0"/>
                </a:moveTo>
                <a:lnTo>
                  <a:pt x="4262176" y="0"/>
                </a:lnTo>
                <a:cubicBezTo>
                  <a:pt x="4280674" y="0"/>
                  <a:pt x="4295670" y="14996"/>
                  <a:pt x="4295670" y="33495"/>
                </a:cubicBezTo>
                <a:lnTo>
                  <a:pt x="4295670" y="502418"/>
                </a:lnTo>
                <a:cubicBezTo>
                  <a:pt x="4295670" y="520916"/>
                  <a:pt x="4280674" y="535912"/>
                  <a:pt x="4262176" y="535912"/>
                </a:cubicBezTo>
                <a:lnTo>
                  <a:pt x="33495" y="535912"/>
                </a:lnTo>
                <a:cubicBezTo>
                  <a:pt x="14996" y="535912"/>
                  <a:pt x="0" y="520916"/>
                  <a:pt x="0" y="502418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529565" y="2076451"/>
            <a:ext cx="421193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Desv. estándar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29565" y="2210327"/>
            <a:ext cx="4262176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$94.5k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62576" y="2612154"/>
            <a:ext cx="4295670" cy="535912"/>
          </a:xfrm>
          <a:custGeom>
            <a:avLst/>
            <a:gdLst/>
            <a:ahLst/>
            <a:cxnLst/>
            <a:rect l="l" t="t" r="r" b="b"/>
            <a:pathLst>
              <a:path w="4295670" h="535912">
                <a:moveTo>
                  <a:pt x="33495" y="0"/>
                </a:moveTo>
                <a:lnTo>
                  <a:pt x="4262176" y="0"/>
                </a:lnTo>
                <a:cubicBezTo>
                  <a:pt x="4280674" y="0"/>
                  <a:pt x="4295670" y="14996"/>
                  <a:pt x="4295670" y="33495"/>
                </a:cubicBezTo>
                <a:lnTo>
                  <a:pt x="4295670" y="502418"/>
                </a:lnTo>
                <a:cubicBezTo>
                  <a:pt x="4295670" y="520916"/>
                  <a:pt x="4280674" y="535912"/>
                  <a:pt x="4262176" y="535912"/>
                </a:cubicBezTo>
                <a:lnTo>
                  <a:pt x="33495" y="535912"/>
                </a:lnTo>
                <a:cubicBezTo>
                  <a:pt x="14996" y="535912"/>
                  <a:pt x="0" y="520916"/>
                  <a:pt x="0" y="502418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529565" y="2679143"/>
            <a:ext cx="421193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Coef. de variación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29565" y="2813015"/>
            <a:ext cx="4262176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5.2%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331947" y="3352174"/>
            <a:ext cx="4520084" cy="1245996"/>
          </a:xfrm>
          <a:custGeom>
            <a:avLst/>
            <a:gdLst/>
            <a:ahLst/>
            <a:cxnLst/>
            <a:rect l="l" t="t" r="r" b="b"/>
            <a:pathLst>
              <a:path w="4520084" h="1245996">
                <a:moveTo>
                  <a:pt x="66985" y="0"/>
                </a:moveTo>
                <a:lnTo>
                  <a:pt x="4453099" y="0"/>
                </a:lnTo>
                <a:cubicBezTo>
                  <a:pt x="4490093" y="0"/>
                  <a:pt x="4520084" y="29990"/>
                  <a:pt x="4520084" y="66985"/>
                </a:cubicBezTo>
                <a:lnTo>
                  <a:pt x="4520084" y="1179011"/>
                </a:lnTo>
                <a:cubicBezTo>
                  <a:pt x="4520084" y="1216006"/>
                  <a:pt x="4490093" y="1245996"/>
                  <a:pt x="4453099" y="1245996"/>
                </a:cubicBezTo>
                <a:lnTo>
                  <a:pt x="66985" y="1245996"/>
                </a:lnTo>
                <a:cubicBezTo>
                  <a:pt x="29990" y="1245996"/>
                  <a:pt x="0" y="1216006"/>
                  <a:pt x="0" y="1179011"/>
                </a:cubicBezTo>
                <a:lnTo>
                  <a:pt x="0" y="66985"/>
                </a:lnTo>
                <a:cubicBezTo>
                  <a:pt x="0" y="30015"/>
                  <a:pt x="30015" y="0"/>
                  <a:pt x="66985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35780" y="3489500"/>
            <a:ext cx="167473" cy="133978"/>
          </a:xfrm>
          <a:custGeom>
            <a:avLst/>
            <a:gdLst/>
            <a:ahLst/>
            <a:cxnLst/>
            <a:rect l="l" t="t" r="r" b="b"/>
            <a:pathLst>
              <a:path w="167473" h="133978">
                <a:moveTo>
                  <a:pt x="108831" y="55083"/>
                </a:moveTo>
                <a:cubicBezTo>
                  <a:pt x="112023" y="54219"/>
                  <a:pt x="115373" y="55737"/>
                  <a:pt x="116812" y="58694"/>
                </a:cubicBezTo>
                <a:lnTo>
                  <a:pt x="121679" y="68533"/>
                </a:lnTo>
                <a:cubicBezTo>
                  <a:pt x="124375" y="68899"/>
                  <a:pt x="127017" y="69632"/>
                  <a:pt x="129503" y="70652"/>
                </a:cubicBezTo>
                <a:lnTo>
                  <a:pt x="138662" y="64555"/>
                </a:lnTo>
                <a:cubicBezTo>
                  <a:pt x="141410" y="62724"/>
                  <a:pt x="145047" y="63090"/>
                  <a:pt x="147376" y="65419"/>
                </a:cubicBezTo>
                <a:lnTo>
                  <a:pt x="152400" y="70443"/>
                </a:lnTo>
                <a:cubicBezTo>
                  <a:pt x="154729" y="72772"/>
                  <a:pt x="155095" y="76436"/>
                  <a:pt x="153264" y="79157"/>
                </a:cubicBezTo>
                <a:lnTo>
                  <a:pt x="147166" y="88289"/>
                </a:lnTo>
                <a:cubicBezTo>
                  <a:pt x="147664" y="89519"/>
                  <a:pt x="148109" y="90802"/>
                  <a:pt x="148475" y="92136"/>
                </a:cubicBezTo>
                <a:cubicBezTo>
                  <a:pt x="148841" y="93471"/>
                  <a:pt x="149077" y="94779"/>
                  <a:pt x="149260" y="96114"/>
                </a:cubicBezTo>
                <a:lnTo>
                  <a:pt x="159125" y="100981"/>
                </a:lnTo>
                <a:cubicBezTo>
                  <a:pt x="162082" y="102446"/>
                  <a:pt x="163600" y="105796"/>
                  <a:pt x="162736" y="108962"/>
                </a:cubicBezTo>
                <a:lnTo>
                  <a:pt x="160904" y="115818"/>
                </a:lnTo>
                <a:cubicBezTo>
                  <a:pt x="160041" y="118984"/>
                  <a:pt x="157084" y="121130"/>
                  <a:pt x="153787" y="120920"/>
                </a:cubicBezTo>
                <a:lnTo>
                  <a:pt x="142796" y="120214"/>
                </a:lnTo>
                <a:cubicBezTo>
                  <a:pt x="141148" y="122333"/>
                  <a:pt x="139238" y="124296"/>
                  <a:pt x="137066" y="125971"/>
                </a:cubicBezTo>
                <a:lnTo>
                  <a:pt x="137772" y="136935"/>
                </a:lnTo>
                <a:cubicBezTo>
                  <a:pt x="137982" y="140232"/>
                  <a:pt x="135836" y="143215"/>
                  <a:pt x="132670" y="144053"/>
                </a:cubicBezTo>
                <a:lnTo>
                  <a:pt x="125814" y="145884"/>
                </a:lnTo>
                <a:cubicBezTo>
                  <a:pt x="122621" y="146748"/>
                  <a:pt x="119298" y="145230"/>
                  <a:pt x="117833" y="142273"/>
                </a:cubicBezTo>
                <a:lnTo>
                  <a:pt x="112965" y="132434"/>
                </a:lnTo>
                <a:cubicBezTo>
                  <a:pt x="110270" y="132068"/>
                  <a:pt x="107627" y="131335"/>
                  <a:pt x="105141" y="130315"/>
                </a:cubicBezTo>
                <a:lnTo>
                  <a:pt x="95983" y="136412"/>
                </a:lnTo>
                <a:cubicBezTo>
                  <a:pt x="93235" y="138243"/>
                  <a:pt x="89598" y="137877"/>
                  <a:pt x="87269" y="135548"/>
                </a:cubicBezTo>
                <a:lnTo>
                  <a:pt x="82245" y="130524"/>
                </a:lnTo>
                <a:cubicBezTo>
                  <a:pt x="79916" y="128195"/>
                  <a:pt x="79549" y="124558"/>
                  <a:pt x="81381" y="121810"/>
                </a:cubicBezTo>
                <a:lnTo>
                  <a:pt x="87478" y="112651"/>
                </a:lnTo>
                <a:cubicBezTo>
                  <a:pt x="86981" y="111422"/>
                  <a:pt x="86536" y="110139"/>
                  <a:pt x="86170" y="108805"/>
                </a:cubicBezTo>
                <a:cubicBezTo>
                  <a:pt x="85804" y="107470"/>
                  <a:pt x="85568" y="106136"/>
                  <a:pt x="85385" y="104827"/>
                </a:cubicBezTo>
                <a:lnTo>
                  <a:pt x="75520" y="99960"/>
                </a:lnTo>
                <a:cubicBezTo>
                  <a:pt x="72563" y="98495"/>
                  <a:pt x="71071" y="95145"/>
                  <a:pt x="71909" y="91979"/>
                </a:cubicBezTo>
                <a:lnTo>
                  <a:pt x="73740" y="85123"/>
                </a:lnTo>
                <a:cubicBezTo>
                  <a:pt x="74604" y="81957"/>
                  <a:pt x="77561" y="79811"/>
                  <a:pt x="80858" y="80020"/>
                </a:cubicBezTo>
                <a:lnTo>
                  <a:pt x="91822" y="80727"/>
                </a:lnTo>
                <a:cubicBezTo>
                  <a:pt x="93471" y="78607"/>
                  <a:pt x="95381" y="76645"/>
                  <a:pt x="97553" y="74970"/>
                </a:cubicBezTo>
                <a:lnTo>
                  <a:pt x="96846" y="64032"/>
                </a:lnTo>
                <a:cubicBezTo>
                  <a:pt x="96637" y="60735"/>
                  <a:pt x="98783" y="57752"/>
                  <a:pt x="101949" y="56914"/>
                </a:cubicBezTo>
                <a:lnTo>
                  <a:pt x="108805" y="55083"/>
                </a:lnTo>
                <a:close/>
                <a:moveTo>
                  <a:pt x="117335" y="88970"/>
                </a:moveTo>
                <a:cubicBezTo>
                  <a:pt x="110981" y="88977"/>
                  <a:pt x="105828" y="94142"/>
                  <a:pt x="105835" y="100497"/>
                </a:cubicBezTo>
                <a:cubicBezTo>
                  <a:pt x="105842" y="106851"/>
                  <a:pt x="111007" y="112004"/>
                  <a:pt x="117362" y="111997"/>
                </a:cubicBezTo>
                <a:cubicBezTo>
                  <a:pt x="123716" y="111990"/>
                  <a:pt x="128869" y="106825"/>
                  <a:pt x="128862" y="100470"/>
                </a:cubicBezTo>
                <a:cubicBezTo>
                  <a:pt x="128855" y="94116"/>
                  <a:pt x="123690" y="88963"/>
                  <a:pt x="117335" y="88970"/>
                </a:cubicBezTo>
                <a:close/>
                <a:moveTo>
                  <a:pt x="58851" y="-11906"/>
                </a:moveTo>
                <a:lnTo>
                  <a:pt x="65707" y="-10075"/>
                </a:lnTo>
                <a:cubicBezTo>
                  <a:pt x="68873" y="-9211"/>
                  <a:pt x="71019" y="-6228"/>
                  <a:pt x="70809" y="-2957"/>
                </a:cubicBezTo>
                <a:lnTo>
                  <a:pt x="70103" y="7981"/>
                </a:lnTo>
                <a:cubicBezTo>
                  <a:pt x="72275" y="9656"/>
                  <a:pt x="74185" y="11592"/>
                  <a:pt x="75834" y="13738"/>
                </a:cubicBezTo>
                <a:lnTo>
                  <a:pt x="86824" y="13031"/>
                </a:lnTo>
                <a:cubicBezTo>
                  <a:pt x="90095" y="12822"/>
                  <a:pt x="93078" y="14968"/>
                  <a:pt x="93942" y="18134"/>
                </a:cubicBezTo>
                <a:lnTo>
                  <a:pt x="95773" y="24990"/>
                </a:lnTo>
                <a:cubicBezTo>
                  <a:pt x="96611" y="28156"/>
                  <a:pt x="95119" y="31506"/>
                  <a:pt x="92162" y="32971"/>
                </a:cubicBezTo>
                <a:lnTo>
                  <a:pt x="82297" y="37838"/>
                </a:lnTo>
                <a:cubicBezTo>
                  <a:pt x="82114" y="39173"/>
                  <a:pt x="81852" y="40507"/>
                  <a:pt x="81512" y="41816"/>
                </a:cubicBezTo>
                <a:cubicBezTo>
                  <a:pt x="81172" y="43124"/>
                  <a:pt x="80701" y="44433"/>
                  <a:pt x="80204" y="45662"/>
                </a:cubicBezTo>
                <a:lnTo>
                  <a:pt x="86301" y="54821"/>
                </a:lnTo>
                <a:cubicBezTo>
                  <a:pt x="88132" y="57569"/>
                  <a:pt x="87766" y="61206"/>
                  <a:pt x="85437" y="63535"/>
                </a:cubicBezTo>
                <a:lnTo>
                  <a:pt x="80413" y="68559"/>
                </a:lnTo>
                <a:cubicBezTo>
                  <a:pt x="78084" y="70888"/>
                  <a:pt x="74447" y="71254"/>
                  <a:pt x="71699" y="69423"/>
                </a:cubicBezTo>
                <a:lnTo>
                  <a:pt x="62541" y="63326"/>
                </a:lnTo>
                <a:cubicBezTo>
                  <a:pt x="60055" y="64346"/>
                  <a:pt x="57412" y="65079"/>
                  <a:pt x="54716" y="65445"/>
                </a:cubicBezTo>
                <a:lnTo>
                  <a:pt x="49849" y="75284"/>
                </a:lnTo>
                <a:cubicBezTo>
                  <a:pt x="48384" y="78241"/>
                  <a:pt x="45034" y="79733"/>
                  <a:pt x="41868" y="78895"/>
                </a:cubicBezTo>
                <a:lnTo>
                  <a:pt x="35012" y="77064"/>
                </a:lnTo>
                <a:cubicBezTo>
                  <a:pt x="31820" y="76200"/>
                  <a:pt x="29700" y="73217"/>
                  <a:pt x="29910" y="69946"/>
                </a:cubicBezTo>
                <a:lnTo>
                  <a:pt x="30616" y="58982"/>
                </a:lnTo>
                <a:cubicBezTo>
                  <a:pt x="28444" y="57307"/>
                  <a:pt x="26534" y="55371"/>
                  <a:pt x="24885" y="53225"/>
                </a:cubicBezTo>
                <a:lnTo>
                  <a:pt x="13895" y="53931"/>
                </a:lnTo>
                <a:cubicBezTo>
                  <a:pt x="10624" y="54141"/>
                  <a:pt x="7641" y="51995"/>
                  <a:pt x="6777" y="48829"/>
                </a:cubicBezTo>
                <a:lnTo>
                  <a:pt x="4946" y="41973"/>
                </a:lnTo>
                <a:cubicBezTo>
                  <a:pt x="4108" y="38807"/>
                  <a:pt x="5600" y="35457"/>
                  <a:pt x="8557" y="33992"/>
                </a:cubicBezTo>
                <a:lnTo>
                  <a:pt x="18422" y="29125"/>
                </a:lnTo>
                <a:cubicBezTo>
                  <a:pt x="18605" y="27790"/>
                  <a:pt x="18867" y="26482"/>
                  <a:pt x="19207" y="25147"/>
                </a:cubicBezTo>
                <a:cubicBezTo>
                  <a:pt x="19573" y="23813"/>
                  <a:pt x="19992" y="22530"/>
                  <a:pt x="20515" y="21300"/>
                </a:cubicBezTo>
                <a:lnTo>
                  <a:pt x="14418" y="12168"/>
                </a:lnTo>
                <a:cubicBezTo>
                  <a:pt x="12587" y="9420"/>
                  <a:pt x="12953" y="5783"/>
                  <a:pt x="15282" y="3454"/>
                </a:cubicBezTo>
                <a:lnTo>
                  <a:pt x="20306" y="-1570"/>
                </a:lnTo>
                <a:cubicBezTo>
                  <a:pt x="22635" y="-3899"/>
                  <a:pt x="26272" y="-4265"/>
                  <a:pt x="29020" y="-2434"/>
                </a:cubicBezTo>
                <a:lnTo>
                  <a:pt x="38179" y="3663"/>
                </a:lnTo>
                <a:cubicBezTo>
                  <a:pt x="40664" y="2643"/>
                  <a:pt x="43307" y="1910"/>
                  <a:pt x="46003" y="1544"/>
                </a:cubicBezTo>
                <a:lnTo>
                  <a:pt x="50870" y="-8295"/>
                </a:lnTo>
                <a:cubicBezTo>
                  <a:pt x="52335" y="-11252"/>
                  <a:pt x="55658" y="-12744"/>
                  <a:pt x="58851" y="-11906"/>
                </a:cubicBezTo>
                <a:close/>
                <a:moveTo>
                  <a:pt x="50346" y="21981"/>
                </a:moveTo>
                <a:cubicBezTo>
                  <a:pt x="43992" y="21981"/>
                  <a:pt x="38833" y="27140"/>
                  <a:pt x="38833" y="33495"/>
                </a:cubicBezTo>
                <a:cubicBezTo>
                  <a:pt x="38833" y="39849"/>
                  <a:pt x="43992" y="45008"/>
                  <a:pt x="50346" y="45008"/>
                </a:cubicBezTo>
                <a:cubicBezTo>
                  <a:pt x="56701" y="45008"/>
                  <a:pt x="61860" y="39849"/>
                  <a:pt x="61860" y="33495"/>
                </a:cubicBezTo>
                <a:cubicBezTo>
                  <a:pt x="61860" y="27140"/>
                  <a:pt x="56701" y="21981"/>
                  <a:pt x="50346" y="21981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2" name="Text 39"/>
          <p:cNvSpPr/>
          <p:nvPr/>
        </p:nvSpPr>
        <p:spPr>
          <a:xfrm>
            <a:off x="7603253" y="3456006"/>
            <a:ext cx="421193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Proceso de Agregación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435780" y="3723962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lnTo>
                  <a:pt x="83736" y="0"/>
                </a:lnTo>
                <a:cubicBezTo>
                  <a:pt x="129952" y="0"/>
                  <a:pt x="167473" y="37521"/>
                  <a:pt x="167473" y="83736"/>
                </a:cubicBezTo>
                <a:lnTo>
                  <a:pt x="167473" y="83736"/>
                </a:lnTo>
                <a:cubicBezTo>
                  <a:pt x="167473" y="129952"/>
                  <a:pt x="129952" y="167473"/>
                  <a:pt x="83736" y="167473"/>
                </a:cubicBezTo>
                <a:lnTo>
                  <a:pt x="83736" y="167473"/>
                </a:lnTo>
                <a:cubicBezTo>
                  <a:pt x="37521" y="167473"/>
                  <a:pt x="0" y="129952"/>
                  <a:pt x="0" y="83736"/>
                </a:cubicBezTo>
                <a:lnTo>
                  <a:pt x="0" y="83736"/>
                </a:lnTo>
                <a:cubicBezTo>
                  <a:pt x="0" y="37521"/>
                  <a:pt x="37521" y="0"/>
                  <a:pt x="83736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4" name="Text 41"/>
          <p:cNvSpPr/>
          <p:nvPr/>
        </p:nvSpPr>
        <p:spPr>
          <a:xfrm>
            <a:off x="7503502" y="3740709"/>
            <a:ext cx="83736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670242" y="3723962"/>
            <a:ext cx="170822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Agrupación: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 fecha (t_pickup)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35780" y="3924929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lnTo>
                  <a:pt x="83736" y="0"/>
                </a:lnTo>
                <a:cubicBezTo>
                  <a:pt x="129952" y="0"/>
                  <a:pt x="167473" y="37521"/>
                  <a:pt x="167473" y="83736"/>
                </a:cubicBezTo>
                <a:lnTo>
                  <a:pt x="167473" y="83736"/>
                </a:lnTo>
                <a:cubicBezTo>
                  <a:pt x="167473" y="129952"/>
                  <a:pt x="129952" y="167473"/>
                  <a:pt x="83736" y="167473"/>
                </a:cubicBezTo>
                <a:lnTo>
                  <a:pt x="83736" y="167473"/>
                </a:lnTo>
                <a:cubicBezTo>
                  <a:pt x="37521" y="167473"/>
                  <a:pt x="0" y="129952"/>
                  <a:pt x="0" y="83736"/>
                </a:cubicBezTo>
                <a:lnTo>
                  <a:pt x="0" y="83736"/>
                </a:lnTo>
                <a:cubicBezTo>
                  <a:pt x="0" y="37521"/>
                  <a:pt x="37521" y="0"/>
                  <a:pt x="83736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7" name="Text 44"/>
          <p:cNvSpPr/>
          <p:nvPr/>
        </p:nvSpPr>
        <p:spPr>
          <a:xfrm>
            <a:off x="7493872" y="3941676"/>
            <a:ext cx="10048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670242" y="3924929"/>
            <a:ext cx="194268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Agregación: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Suma de ingresos totales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435780" y="4125896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lnTo>
                  <a:pt x="83736" y="0"/>
                </a:lnTo>
                <a:cubicBezTo>
                  <a:pt x="129952" y="0"/>
                  <a:pt x="167473" y="37521"/>
                  <a:pt x="167473" y="83736"/>
                </a:cubicBezTo>
                <a:lnTo>
                  <a:pt x="167473" y="83736"/>
                </a:lnTo>
                <a:cubicBezTo>
                  <a:pt x="167473" y="129952"/>
                  <a:pt x="129952" y="167473"/>
                  <a:pt x="83736" y="167473"/>
                </a:cubicBezTo>
                <a:lnTo>
                  <a:pt x="83736" y="167473"/>
                </a:lnTo>
                <a:cubicBezTo>
                  <a:pt x="37521" y="167473"/>
                  <a:pt x="0" y="129952"/>
                  <a:pt x="0" y="83736"/>
                </a:cubicBezTo>
                <a:lnTo>
                  <a:pt x="0" y="83736"/>
                </a:lnTo>
                <a:cubicBezTo>
                  <a:pt x="0" y="37521"/>
                  <a:pt x="37521" y="0"/>
                  <a:pt x="83736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0" name="Text 47"/>
          <p:cNvSpPr/>
          <p:nvPr/>
        </p:nvSpPr>
        <p:spPr>
          <a:xfrm>
            <a:off x="7492617" y="4142643"/>
            <a:ext cx="10048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670242" y="4125896"/>
            <a:ext cx="130628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Índice: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Time series diaria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435780" y="4326863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0"/>
                </a:moveTo>
                <a:lnTo>
                  <a:pt x="83736" y="0"/>
                </a:lnTo>
                <a:cubicBezTo>
                  <a:pt x="129952" y="0"/>
                  <a:pt x="167473" y="37521"/>
                  <a:pt x="167473" y="83736"/>
                </a:cubicBezTo>
                <a:lnTo>
                  <a:pt x="167473" y="83736"/>
                </a:lnTo>
                <a:cubicBezTo>
                  <a:pt x="167473" y="129952"/>
                  <a:pt x="129952" y="167473"/>
                  <a:pt x="83736" y="167473"/>
                </a:cubicBezTo>
                <a:lnTo>
                  <a:pt x="83736" y="167473"/>
                </a:lnTo>
                <a:cubicBezTo>
                  <a:pt x="37521" y="167473"/>
                  <a:pt x="0" y="129952"/>
                  <a:pt x="0" y="83736"/>
                </a:cubicBezTo>
                <a:lnTo>
                  <a:pt x="0" y="83736"/>
                </a:lnTo>
                <a:cubicBezTo>
                  <a:pt x="0" y="37521"/>
                  <a:pt x="37521" y="0"/>
                  <a:pt x="83736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3" name="Text 50"/>
          <p:cNvSpPr/>
          <p:nvPr/>
        </p:nvSpPr>
        <p:spPr>
          <a:xfrm>
            <a:off x="7493977" y="4343610"/>
            <a:ext cx="100484" cy="13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1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670242" y="4326863"/>
            <a:ext cx="156586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Validación:</a:t>
            </a:r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 values = 0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328598" y="4702004"/>
            <a:ext cx="4530132" cy="1641231"/>
          </a:xfrm>
          <a:custGeom>
            <a:avLst/>
            <a:gdLst/>
            <a:ahLst/>
            <a:cxnLst/>
            <a:rect l="l" t="t" r="r" b="b"/>
            <a:pathLst>
              <a:path w="4530132" h="1641231">
                <a:moveTo>
                  <a:pt x="66995" y="0"/>
                </a:moveTo>
                <a:lnTo>
                  <a:pt x="4463137" y="0"/>
                </a:lnTo>
                <a:cubicBezTo>
                  <a:pt x="4500137" y="0"/>
                  <a:pt x="4530132" y="29995"/>
                  <a:pt x="4530132" y="66995"/>
                </a:cubicBezTo>
                <a:lnTo>
                  <a:pt x="4530132" y="1574236"/>
                </a:lnTo>
                <a:cubicBezTo>
                  <a:pt x="4530132" y="1611236"/>
                  <a:pt x="4500137" y="1641231"/>
                  <a:pt x="4463137" y="1641231"/>
                </a:cubicBezTo>
                <a:lnTo>
                  <a:pt x="66995" y="1641231"/>
                </a:lnTo>
                <a:cubicBezTo>
                  <a:pt x="29995" y="1641231"/>
                  <a:pt x="0" y="1611236"/>
                  <a:pt x="0" y="1574236"/>
                </a:cubicBezTo>
                <a:lnTo>
                  <a:pt x="0" y="66995"/>
                </a:lnTo>
                <a:cubicBezTo>
                  <a:pt x="0" y="30019"/>
                  <a:pt x="30019" y="0"/>
                  <a:pt x="6699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7429081" y="4802487"/>
            <a:ext cx="439615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Finales para Modelo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7429081" y="5070443"/>
            <a:ext cx="4329165" cy="267956"/>
          </a:xfrm>
          <a:custGeom>
            <a:avLst/>
            <a:gdLst/>
            <a:ahLst/>
            <a:cxnLst/>
            <a:rect l="l" t="t" r="r" b="b"/>
            <a:pathLst>
              <a:path w="4329165" h="267956">
                <a:moveTo>
                  <a:pt x="33495" y="0"/>
                </a:moveTo>
                <a:lnTo>
                  <a:pt x="4295670" y="0"/>
                </a:lnTo>
                <a:cubicBezTo>
                  <a:pt x="4314169" y="0"/>
                  <a:pt x="4329165" y="14996"/>
                  <a:pt x="4329165" y="33495"/>
                </a:cubicBezTo>
                <a:lnTo>
                  <a:pt x="4329165" y="234462"/>
                </a:lnTo>
                <a:cubicBezTo>
                  <a:pt x="4329165" y="252960"/>
                  <a:pt x="4314169" y="267956"/>
                  <a:pt x="4295670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479323" y="5120685"/>
            <a:ext cx="100483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Puntos temporales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1373688" y="5120685"/>
            <a:ext cx="39356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 días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429081" y="5371894"/>
            <a:ext cx="4329165" cy="267956"/>
          </a:xfrm>
          <a:custGeom>
            <a:avLst/>
            <a:gdLst/>
            <a:ahLst/>
            <a:cxnLst/>
            <a:rect l="l" t="t" r="r" b="b"/>
            <a:pathLst>
              <a:path w="4329165" h="267956">
                <a:moveTo>
                  <a:pt x="33495" y="0"/>
                </a:moveTo>
                <a:lnTo>
                  <a:pt x="4295670" y="0"/>
                </a:lnTo>
                <a:cubicBezTo>
                  <a:pt x="4314169" y="0"/>
                  <a:pt x="4329165" y="14996"/>
                  <a:pt x="4329165" y="33495"/>
                </a:cubicBezTo>
                <a:lnTo>
                  <a:pt x="4329165" y="234462"/>
                </a:lnTo>
                <a:cubicBezTo>
                  <a:pt x="4329165" y="252960"/>
                  <a:pt x="4314169" y="267956"/>
                  <a:pt x="4295670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7479323" y="5422136"/>
            <a:ext cx="61127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Frecuencia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1412102" y="5422136"/>
            <a:ext cx="351692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Diaria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7429081" y="5673344"/>
            <a:ext cx="4329165" cy="267956"/>
          </a:xfrm>
          <a:custGeom>
            <a:avLst/>
            <a:gdLst/>
            <a:ahLst/>
            <a:cxnLst/>
            <a:rect l="l" t="t" r="r" b="b"/>
            <a:pathLst>
              <a:path w="4329165" h="267956">
                <a:moveTo>
                  <a:pt x="33495" y="0"/>
                </a:moveTo>
                <a:lnTo>
                  <a:pt x="4295670" y="0"/>
                </a:lnTo>
                <a:cubicBezTo>
                  <a:pt x="4314169" y="0"/>
                  <a:pt x="4329165" y="14996"/>
                  <a:pt x="4329165" y="33495"/>
                </a:cubicBezTo>
                <a:lnTo>
                  <a:pt x="4329165" y="234462"/>
                </a:lnTo>
                <a:cubicBezTo>
                  <a:pt x="4329165" y="252960"/>
                  <a:pt x="4314169" y="267956"/>
                  <a:pt x="4295670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7479323" y="5723586"/>
            <a:ext cx="376813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Rango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11330982" y="5723586"/>
            <a:ext cx="435429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1-31 dic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429081" y="5974795"/>
            <a:ext cx="4329165" cy="267956"/>
          </a:xfrm>
          <a:custGeom>
            <a:avLst/>
            <a:gdLst/>
            <a:ahLst/>
            <a:cxnLst/>
            <a:rect l="l" t="t" r="r" b="b"/>
            <a:pathLst>
              <a:path w="4329165" h="267956">
                <a:moveTo>
                  <a:pt x="33495" y="0"/>
                </a:moveTo>
                <a:lnTo>
                  <a:pt x="4295670" y="0"/>
                </a:lnTo>
                <a:cubicBezTo>
                  <a:pt x="4314169" y="0"/>
                  <a:pt x="4329165" y="14996"/>
                  <a:pt x="4329165" y="33495"/>
                </a:cubicBezTo>
                <a:lnTo>
                  <a:pt x="4329165" y="234462"/>
                </a:lnTo>
                <a:cubicBezTo>
                  <a:pt x="4329165" y="252960"/>
                  <a:pt x="4314169" y="267956"/>
                  <a:pt x="4295670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7479323" y="6025037"/>
            <a:ext cx="711758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Granularidad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1225265" y="6025037"/>
            <a:ext cx="535912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Agregada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334945" y="7057399"/>
            <a:ext cx="11522110" cy="408633"/>
          </a:xfrm>
          <a:custGeom>
            <a:avLst/>
            <a:gdLst/>
            <a:ahLst/>
            <a:cxnLst/>
            <a:rect l="l" t="t" r="r" b="b"/>
            <a:pathLst>
              <a:path w="11522110" h="408633">
                <a:moveTo>
                  <a:pt x="13398" y="0"/>
                </a:moveTo>
                <a:lnTo>
                  <a:pt x="11508712" y="0"/>
                </a:lnTo>
                <a:cubicBezTo>
                  <a:pt x="11516111" y="0"/>
                  <a:pt x="11522110" y="5998"/>
                  <a:pt x="11522110" y="13398"/>
                </a:cubicBezTo>
                <a:lnTo>
                  <a:pt x="11522110" y="341646"/>
                </a:lnTo>
                <a:cubicBezTo>
                  <a:pt x="11522110" y="378642"/>
                  <a:pt x="11492119" y="408633"/>
                  <a:pt x="11455123" y="408633"/>
                </a:cubicBezTo>
                <a:lnTo>
                  <a:pt x="66987" y="408633"/>
                </a:lnTo>
                <a:cubicBezTo>
                  <a:pt x="30016" y="408633"/>
                  <a:pt x="0" y="378617"/>
                  <a:pt x="0" y="341646"/>
                </a:cubicBezTo>
                <a:lnTo>
                  <a:pt x="0" y="13398"/>
                </a:lnTo>
                <a:cubicBezTo>
                  <a:pt x="0" y="6003"/>
                  <a:pt x="6003" y="0"/>
                  <a:pt x="13398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334945" y="7057399"/>
            <a:ext cx="11522110" cy="13398"/>
          </a:xfrm>
          <a:custGeom>
            <a:avLst/>
            <a:gdLst/>
            <a:ahLst/>
            <a:cxnLst/>
            <a:rect l="l" t="t" r="r" b="b"/>
            <a:pathLst>
              <a:path w="11522110" h="13398">
                <a:moveTo>
                  <a:pt x="13398" y="0"/>
                </a:moveTo>
                <a:lnTo>
                  <a:pt x="11508712" y="0"/>
                </a:lnTo>
                <a:cubicBezTo>
                  <a:pt x="11516111" y="0"/>
                  <a:pt x="11522110" y="5998"/>
                  <a:pt x="11522110" y="13398"/>
                </a:cubicBezTo>
                <a:lnTo>
                  <a:pt x="11522110" y="13398"/>
                </a:lnTo>
                <a:lnTo>
                  <a:pt x="0" y="13398"/>
                </a:lnTo>
                <a:lnTo>
                  <a:pt x="0" y="13398"/>
                </a:lnTo>
                <a:cubicBezTo>
                  <a:pt x="0" y="6003"/>
                  <a:pt x="6003" y="0"/>
                  <a:pt x="13398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1" name="Shape 68"/>
          <p:cNvSpPr/>
          <p:nvPr/>
        </p:nvSpPr>
        <p:spPr>
          <a:xfrm>
            <a:off x="452176" y="7191375"/>
            <a:ext cx="133978" cy="133978"/>
          </a:xfrm>
          <a:custGeom>
            <a:avLst/>
            <a:gdLst/>
            <a:ahLst/>
            <a:cxnLst/>
            <a:rect l="l" t="t" r="r" b="b"/>
            <a:pathLst>
              <a:path w="133978" h="133978">
                <a:moveTo>
                  <a:pt x="131518" y="72903"/>
                </a:moveTo>
                <a:cubicBezTo>
                  <a:pt x="134789" y="69632"/>
                  <a:pt x="134789" y="64320"/>
                  <a:pt x="131518" y="61049"/>
                </a:cubicBezTo>
                <a:lnTo>
                  <a:pt x="89650" y="19181"/>
                </a:lnTo>
                <a:cubicBezTo>
                  <a:pt x="86379" y="15910"/>
                  <a:pt x="81067" y="15910"/>
                  <a:pt x="77796" y="19181"/>
                </a:cubicBezTo>
                <a:cubicBezTo>
                  <a:pt x="74525" y="22452"/>
                  <a:pt x="74525" y="27764"/>
                  <a:pt x="77796" y="31035"/>
                </a:cubicBezTo>
                <a:lnTo>
                  <a:pt x="105377" y="58615"/>
                </a:lnTo>
                <a:lnTo>
                  <a:pt x="8374" y="58615"/>
                </a:lnTo>
                <a:cubicBezTo>
                  <a:pt x="3742" y="58615"/>
                  <a:pt x="0" y="62357"/>
                  <a:pt x="0" y="66989"/>
                </a:cubicBezTo>
                <a:cubicBezTo>
                  <a:pt x="0" y="71621"/>
                  <a:pt x="3742" y="75363"/>
                  <a:pt x="8374" y="75363"/>
                </a:cubicBezTo>
                <a:lnTo>
                  <a:pt x="105377" y="75363"/>
                </a:lnTo>
                <a:lnTo>
                  <a:pt x="77796" y="102943"/>
                </a:lnTo>
                <a:cubicBezTo>
                  <a:pt x="74525" y="106214"/>
                  <a:pt x="74525" y="111526"/>
                  <a:pt x="77796" y="114797"/>
                </a:cubicBezTo>
                <a:cubicBezTo>
                  <a:pt x="81067" y="118068"/>
                  <a:pt x="86379" y="118068"/>
                  <a:pt x="89650" y="114797"/>
                </a:cubicBezTo>
                <a:lnTo>
                  <a:pt x="131518" y="72929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2" name="Text 69"/>
          <p:cNvSpPr/>
          <p:nvPr/>
        </p:nvSpPr>
        <p:spPr>
          <a:xfrm>
            <a:off x="647070" y="7164582"/>
            <a:ext cx="1117649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Próximo paso:</a:t>
            </a:r>
            <a:pPr>
              <a:lnSpc>
                <a:spcPct val="130000"/>
              </a:lnSpc>
            </a:pPr>
            <a:r>
              <a:rPr lang="en-US" sz="1055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Entrenar modelo Prophet con esta serie temporal para generar forecast multi-mes con bandas de confianza.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512" y="433815"/>
            <a:ext cx="361512" cy="361512"/>
          </a:xfrm>
          <a:custGeom>
            <a:avLst/>
            <a:gdLst/>
            <a:ahLst/>
            <a:cxnLst/>
            <a:rect l="l" t="t" r="r" b="b"/>
            <a:pathLst>
              <a:path w="361512" h="361512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63188" y="533231"/>
            <a:ext cx="162681" cy="162681"/>
          </a:xfrm>
          <a:custGeom>
            <a:avLst/>
            <a:gdLst/>
            <a:ahLst/>
            <a:cxnLst/>
            <a:rect l="l" t="t" r="r" b="b"/>
            <a:pathLst>
              <a:path w="162681" h="162681">
                <a:moveTo>
                  <a:pt x="38128" y="17793"/>
                </a:moveTo>
                <a:cubicBezTo>
                  <a:pt x="38128" y="7975"/>
                  <a:pt x="46103" y="0"/>
                  <a:pt x="55921" y="0"/>
                </a:cubicBezTo>
                <a:lnTo>
                  <a:pt x="63547" y="0"/>
                </a:lnTo>
                <a:cubicBezTo>
                  <a:pt x="69171" y="0"/>
                  <a:pt x="73715" y="4544"/>
                  <a:pt x="73715" y="10168"/>
                </a:cubicBezTo>
                <a:lnTo>
                  <a:pt x="73715" y="152513"/>
                </a:lnTo>
                <a:cubicBezTo>
                  <a:pt x="73715" y="158137"/>
                  <a:pt x="69171" y="162681"/>
                  <a:pt x="63547" y="162681"/>
                </a:cubicBezTo>
                <a:lnTo>
                  <a:pt x="53380" y="162681"/>
                </a:lnTo>
                <a:cubicBezTo>
                  <a:pt x="43911" y="162681"/>
                  <a:pt x="35936" y="156199"/>
                  <a:pt x="33680" y="147429"/>
                </a:cubicBezTo>
                <a:cubicBezTo>
                  <a:pt x="33458" y="147429"/>
                  <a:pt x="33267" y="147429"/>
                  <a:pt x="33044" y="147429"/>
                </a:cubicBezTo>
                <a:cubicBezTo>
                  <a:pt x="19001" y="147429"/>
                  <a:pt x="7626" y="136054"/>
                  <a:pt x="7626" y="122010"/>
                </a:cubicBezTo>
                <a:cubicBezTo>
                  <a:pt x="7626" y="116291"/>
                  <a:pt x="9532" y="111017"/>
                  <a:pt x="12709" y="106759"/>
                </a:cubicBezTo>
                <a:cubicBezTo>
                  <a:pt x="6545" y="102120"/>
                  <a:pt x="2542" y="94749"/>
                  <a:pt x="2542" y="86424"/>
                </a:cubicBezTo>
                <a:cubicBezTo>
                  <a:pt x="2542" y="76606"/>
                  <a:pt x="8134" y="68059"/>
                  <a:pt x="16268" y="63833"/>
                </a:cubicBezTo>
                <a:cubicBezTo>
                  <a:pt x="14012" y="60020"/>
                  <a:pt x="12709" y="55572"/>
                  <a:pt x="12709" y="50838"/>
                </a:cubicBezTo>
                <a:cubicBezTo>
                  <a:pt x="12709" y="36794"/>
                  <a:pt x="24084" y="25419"/>
                  <a:pt x="38128" y="25419"/>
                </a:cubicBezTo>
                <a:lnTo>
                  <a:pt x="38128" y="17793"/>
                </a:lnTo>
                <a:close/>
                <a:moveTo>
                  <a:pt x="124552" y="17793"/>
                </a:moveTo>
                <a:lnTo>
                  <a:pt x="124552" y="25419"/>
                </a:lnTo>
                <a:cubicBezTo>
                  <a:pt x="138596" y="25419"/>
                  <a:pt x="149971" y="36794"/>
                  <a:pt x="149971" y="50838"/>
                </a:cubicBezTo>
                <a:cubicBezTo>
                  <a:pt x="149971" y="55604"/>
                  <a:pt x="148668" y="60052"/>
                  <a:pt x="146412" y="63833"/>
                </a:cubicBezTo>
                <a:cubicBezTo>
                  <a:pt x="154578" y="68059"/>
                  <a:pt x="160139" y="76574"/>
                  <a:pt x="160139" y="86424"/>
                </a:cubicBezTo>
                <a:cubicBezTo>
                  <a:pt x="160139" y="94749"/>
                  <a:pt x="156135" y="102120"/>
                  <a:pt x="149971" y="106759"/>
                </a:cubicBezTo>
                <a:cubicBezTo>
                  <a:pt x="153148" y="111017"/>
                  <a:pt x="155055" y="116291"/>
                  <a:pt x="155055" y="122010"/>
                </a:cubicBezTo>
                <a:cubicBezTo>
                  <a:pt x="155055" y="136054"/>
                  <a:pt x="143680" y="147429"/>
                  <a:pt x="129636" y="147429"/>
                </a:cubicBezTo>
                <a:cubicBezTo>
                  <a:pt x="129414" y="147429"/>
                  <a:pt x="129223" y="147429"/>
                  <a:pt x="129001" y="147429"/>
                </a:cubicBezTo>
                <a:cubicBezTo>
                  <a:pt x="126745" y="156199"/>
                  <a:pt x="118769" y="162681"/>
                  <a:pt x="109301" y="162681"/>
                </a:cubicBezTo>
                <a:lnTo>
                  <a:pt x="99133" y="162681"/>
                </a:lnTo>
                <a:cubicBezTo>
                  <a:pt x="93510" y="162681"/>
                  <a:pt x="88966" y="158137"/>
                  <a:pt x="88966" y="152513"/>
                </a:cubicBezTo>
                <a:lnTo>
                  <a:pt x="88966" y="10168"/>
                </a:lnTo>
                <a:cubicBezTo>
                  <a:pt x="88966" y="4544"/>
                  <a:pt x="93510" y="0"/>
                  <a:pt x="99133" y="0"/>
                </a:cubicBezTo>
                <a:lnTo>
                  <a:pt x="106759" y="0"/>
                </a:lnTo>
                <a:cubicBezTo>
                  <a:pt x="116577" y="0"/>
                  <a:pt x="124552" y="7975"/>
                  <a:pt x="124552" y="17793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831478" y="361512"/>
            <a:ext cx="5693818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spc="50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1478" y="542268"/>
            <a:ext cx="5766120" cy="325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 Predictivo Prophet: Forecast Multi-mes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512" y="939932"/>
            <a:ext cx="723024" cy="36151"/>
          </a:xfrm>
          <a:custGeom>
            <a:avLst/>
            <a:gdLst/>
            <a:ahLst/>
            <a:cxnLst/>
            <a:rect l="l" t="t" r="r" b="b"/>
            <a:pathLst>
              <a:path w="723024" h="36151">
                <a:moveTo>
                  <a:pt x="0" y="0"/>
                </a:moveTo>
                <a:lnTo>
                  <a:pt x="723024" y="0"/>
                </a:lnTo>
                <a:lnTo>
                  <a:pt x="723024" y="36151"/>
                </a:lnTo>
                <a:lnTo>
                  <a:pt x="0" y="36151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79588" y="1120688"/>
            <a:ext cx="7582719" cy="2385981"/>
          </a:xfrm>
          <a:custGeom>
            <a:avLst/>
            <a:gdLst/>
            <a:ahLst/>
            <a:cxnLst/>
            <a:rect l="l" t="t" r="r" b="b"/>
            <a:pathLst>
              <a:path w="7582719" h="2385981">
                <a:moveTo>
                  <a:pt x="36151" y="0"/>
                </a:moveTo>
                <a:lnTo>
                  <a:pt x="7510424" y="0"/>
                </a:lnTo>
                <a:cubicBezTo>
                  <a:pt x="7550351" y="0"/>
                  <a:pt x="7582719" y="32368"/>
                  <a:pt x="7582719" y="72295"/>
                </a:cubicBezTo>
                <a:lnTo>
                  <a:pt x="7582719" y="2313686"/>
                </a:lnTo>
                <a:cubicBezTo>
                  <a:pt x="7582719" y="2353613"/>
                  <a:pt x="7550351" y="2385981"/>
                  <a:pt x="7510424" y="2385981"/>
                </a:cubicBezTo>
                <a:lnTo>
                  <a:pt x="36151" y="2385981"/>
                </a:lnTo>
                <a:cubicBezTo>
                  <a:pt x="16185" y="2385981"/>
                  <a:pt x="0" y="2369795"/>
                  <a:pt x="0" y="2349830"/>
                </a:cubicBezTo>
                <a:lnTo>
                  <a:pt x="0" y="36151"/>
                </a:lnTo>
                <a:cubicBezTo>
                  <a:pt x="0" y="16199"/>
                  <a:pt x="16199" y="0"/>
                  <a:pt x="3615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9588" y="1120688"/>
            <a:ext cx="36151" cy="2385981"/>
          </a:xfrm>
          <a:custGeom>
            <a:avLst/>
            <a:gdLst/>
            <a:ahLst/>
            <a:cxnLst/>
            <a:rect l="l" t="t" r="r" b="b"/>
            <a:pathLst>
              <a:path w="36151" h="2385981">
                <a:moveTo>
                  <a:pt x="36151" y="0"/>
                </a:moveTo>
                <a:lnTo>
                  <a:pt x="36151" y="0"/>
                </a:lnTo>
                <a:lnTo>
                  <a:pt x="36151" y="2385981"/>
                </a:lnTo>
                <a:lnTo>
                  <a:pt x="36151" y="2385981"/>
                </a:lnTo>
                <a:cubicBezTo>
                  <a:pt x="16185" y="2385981"/>
                  <a:pt x="0" y="2369795"/>
                  <a:pt x="0" y="2349830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506117" y="1229142"/>
            <a:ext cx="742907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1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Prophet: 90 Días con Bandas de Confianza</a:t>
            </a:r>
            <a:endParaRPr lang="en-US" sz="1600" dirty="0"/>
          </a:p>
        </p:txBody>
      </p:sp>
      <p:pic>
        <p:nvPicPr>
          <p:cNvPr id="10" name="Image 0" descr="https://kimi-img.moonshot.cn/pub/slides/26-01-16-00:54:51-d5khnmtjqedc3dg8h2ig.png">    </p:cNvPr>
          <p:cNvPicPr>
            <a:picLocks noChangeAspect="1"/>
          </p:cNvPicPr>
          <p:nvPr/>
        </p:nvPicPr>
        <p:blipFill>
          <a:blip r:embed="rId1"/>
          <a:srcRect l="0" r="0" t="39" b="39"/>
          <a:stretch/>
        </p:blipFill>
        <p:spPr>
          <a:xfrm>
            <a:off x="506117" y="1554503"/>
            <a:ext cx="6931997" cy="1626805"/>
          </a:xfrm>
          <a:prstGeom prst="roundRect">
            <a:avLst>
              <a:gd name="adj" fmla="val 0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506117" y="3217459"/>
            <a:ext cx="7411001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Interpretación: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Línea central = predicción puntual. Banda sombra = intervalo confianza 95%. Ancho de banda refleja incertidumbre.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9588" y="3615122"/>
            <a:ext cx="3723576" cy="2512510"/>
          </a:xfrm>
          <a:custGeom>
            <a:avLst/>
            <a:gdLst/>
            <a:ahLst/>
            <a:cxnLst/>
            <a:rect l="l" t="t" r="r" b="b"/>
            <a:pathLst>
              <a:path w="3723576" h="2512510">
                <a:moveTo>
                  <a:pt x="36151" y="0"/>
                </a:moveTo>
                <a:lnTo>
                  <a:pt x="3651266" y="0"/>
                </a:lnTo>
                <a:cubicBezTo>
                  <a:pt x="3691202" y="0"/>
                  <a:pt x="3723576" y="32374"/>
                  <a:pt x="3723576" y="72310"/>
                </a:cubicBezTo>
                <a:lnTo>
                  <a:pt x="3723576" y="2440200"/>
                </a:lnTo>
                <a:cubicBezTo>
                  <a:pt x="3723576" y="2480136"/>
                  <a:pt x="3691202" y="2512510"/>
                  <a:pt x="3651266" y="2512510"/>
                </a:cubicBezTo>
                <a:lnTo>
                  <a:pt x="36151" y="2512510"/>
                </a:lnTo>
                <a:cubicBezTo>
                  <a:pt x="16185" y="2512510"/>
                  <a:pt x="0" y="2496325"/>
                  <a:pt x="0" y="24763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79588" y="3615122"/>
            <a:ext cx="36151" cy="2512510"/>
          </a:xfrm>
          <a:custGeom>
            <a:avLst/>
            <a:gdLst/>
            <a:ahLst/>
            <a:cxnLst/>
            <a:rect l="l" t="t" r="r" b="b"/>
            <a:pathLst>
              <a:path w="36151" h="2512510">
                <a:moveTo>
                  <a:pt x="36151" y="0"/>
                </a:moveTo>
                <a:lnTo>
                  <a:pt x="36151" y="0"/>
                </a:lnTo>
                <a:lnTo>
                  <a:pt x="36151" y="2512510"/>
                </a:lnTo>
                <a:lnTo>
                  <a:pt x="36151" y="2512510"/>
                </a:lnTo>
                <a:cubicBezTo>
                  <a:pt x="16185" y="2512510"/>
                  <a:pt x="0" y="2496325"/>
                  <a:pt x="0" y="24763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4" name="Text 11"/>
          <p:cNvSpPr/>
          <p:nvPr/>
        </p:nvSpPr>
        <p:spPr>
          <a:xfrm>
            <a:off x="506117" y="3723576"/>
            <a:ext cx="356089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del Modelo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6117" y="4012786"/>
            <a:ext cx="3488593" cy="542268"/>
          </a:xfrm>
          <a:custGeom>
            <a:avLst/>
            <a:gdLst/>
            <a:ahLst/>
            <a:cxnLst/>
            <a:rect l="l" t="t" r="r" b="b"/>
            <a:pathLst>
              <a:path w="3488593" h="542268">
                <a:moveTo>
                  <a:pt x="36153" y="0"/>
                </a:moveTo>
                <a:lnTo>
                  <a:pt x="3452440" y="0"/>
                </a:lnTo>
                <a:cubicBezTo>
                  <a:pt x="3472407" y="0"/>
                  <a:pt x="3488593" y="16186"/>
                  <a:pt x="3488593" y="36153"/>
                </a:cubicBezTo>
                <a:lnTo>
                  <a:pt x="3488593" y="506115"/>
                </a:lnTo>
                <a:cubicBezTo>
                  <a:pt x="3488593" y="526082"/>
                  <a:pt x="3472407" y="542268"/>
                  <a:pt x="3452440" y="542268"/>
                </a:cubicBezTo>
                <a:lnTo>
                  <a:pt x="36153" y="542268"/>
                </a:lnTo>
                <a:cubicBezTo>
                  <a:pt x="16200" y="542268"/>
                  <a:pt x="0" y="526069"/>
                  <a:pt x="0" y="506115"/>
                </a:cubicBezTo>
                <a:lnTo>
                  <a:pt x="0" y="36153"/>
                </a:lnTo>
                <a:cubicBezTo>
                  <a:pt x="0" y="16200"/>
                  <a:pt x="16200" y="0"/>
                  <a:pt x="361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78420" y="4085088"/>
            <a:ext cx="3398215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 (Error Abs. Medio)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8420" y="4229578"/>
            <a:ext cx="343436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$42.3k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6117" y="4627242"/>
            <a:ext cx="3488593" cy="542268"/>
          </a:xfrm>
          <a:custGeom>
            <a:avLst/>
            <a:gdLst/>
            <a:ahLst/>
            <a:cxnLst/>
            <a:rect l="l" t="t" r="r" b="b"/>
            <a:pathLst>
              <a:path w="3488593" h="542268">
                <a:moveTo>
                  <a:pt x="36153" y="0"/>
                </a:moveTo>
                <a:lnTo>
                  <a:pt x="3452440" y="0"/>
                </a:lnTo>
                <a:cubicBezTo>
                  <a:pt x="3472407" y="0"/>
                  <a:pt x="3488593" y="16186"/>
                  <a:pt x="3488593" y="36153"/>
                </a:cubicBezTo>
                <a:lnTo>
                  <a:pt x="3488593" y="506115"/>
                </a:lnTo>
                <a:cubicBezTo>
                  <a:pt x="3488593" y="526082"/>
                  <a:pt x="3472407" y="542268"/>
                  <a:pt x="3452440" y="542268"/>
                </a:cubicBezTo>
                <a:lnTo>
                  <a:pt x="36153" y="542268"/>
                </a:lnTo>
                <a:cubicBezTo>
                  <a:pt x="16200" y="542268"/>
                  <a:pt x="0" y="526069"/>
                  <a:pt x="0" y="506115"/>
                </a:cubicBezTo>
                <a:lnTo>
                  <a:pt x="0" y="36153"/>
                </a:lnTo>
                <a:cubicBezTo>
                  <a:pt x="0" y="16200"/>
                  <a:pt x="16200" y="0"/>
                  <a:pt x="3615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78420" y="4699544"/>
            <a:ext cx="3398215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MAPE (Error %)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8420" y="4844039"/>
            <a:ext cx="343436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9732" y="5245317"/>
            <a:ext cx="3486785" cy="549499"/>
          </a:xfrm>
          <a:custGeom>
            <a:avLst/>
            <a:gdLst/>
            <a:ahLst/>
            <a:cxnLst/>
            <a:rect l="l" t="t" r="r" b="b"/>
            <a:pathLst>
              <a:path w="3486785" h="549499">
                <a:moveTo>
                  <a:pt x="36152" y="0"/>
                </a:moveTo>
                <a:lnTo>
                  <a:pt x="3450634" y="0"/>
                </a:lnTo>
                <a:cubicBezTo>
                  <a:pt x="3470600" y="0"/>
                  <a:pt x="3486785" y="16186"/>
                  <a:pt x="3486785" y="36152"/>
                </a:cubicBezTo>
                <a:lnTo>
                  <a:pt x="3486785" y="513347"/>
                </a:lnTo>
                <a:cubicBezTo>
                  <a:pt x="3486785" y="533313"/>
                  <a:pt x="3470600" y="549499"/>
                  <a:pt x="3450634" y="549499"/>
                </a:cubicBezTo>
                <a:lnTo>
                  <a:pt x="36152" y="549499"/>
                </a:lnTo>
                <a:cubicBezTo>
                  <a:pt x="16186" y="549499"/>
                  <a:pt x="0" y="533313"/>
                  <a:pt x="0" y="513347"/>
                </a:cubicBezTo>
                <a:lnTo>
                  <a:pt x="0" y="36152"/>
                </a:lnTo>
                <a:cubicBezTo>
                  <a:pt x="0" y="16186"/>
                  <a:pt x="16186" y="0"/>
                  <a:pt x="36152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650" y="5321233"/>
            <a:ext cx="3389177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85650" y="5465723"/>
            <a:ext cx="3425328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97.7%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33647" y="3615122"/>
            <a:ext cx="3723576" cy="2512510"/>
          </a:xfrm>
          <a:custGeom>
            <a:avLst/>
            <a:gdLst/>
            <a:ahLst/>
            <a:cxnLst/>
            <a:rect l="l" t="t" r="r" b="b"/>
            <a:pathLst>
              <a:path w="3723576" h="2512510">
                <a:moveTo>
                  <a:pt x="36151" y="0"/>
                </a:moveTo>
                <a:lnTo>
                  <a:pt x="3651266" y="0"/>
                </a:lnTo>
                <a:cubicBezTo>
                  <a:pt x="3691202" y="0"/>
                  <a:pt x="3723576" y="32374"/>
                  <a:pt x="3723576" y="72310"/>
                </a:cubicBezTo>
                <a:lnTo>
                  <a:pt x="3723576" y="2440200"/>
                </a:lnTo>
                <a:cubicBezTo>
                  <a:pt x="3723576" y="2480136"/>
                  <a:pt x="3691202" y="2512510"/>
                  <a:pt x="3651266" y="2512510"/>
                </a:cubicBezTo>
                <a:lnTo>
                  <a:pt x="36151" y="2512510"/>
                </a:lnTo>
                <a:cubicBezTo>
                  <a:pt x="16185" y="2512510"/>
                  <a:pt x="0" y="2496325"/>
                  <a:pt x="0" y="24763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233647" y="3615122"/>
            <a:ext cx="36151" cy="2512510"/>
          </a:xfrm>
          <a:custGeom>
            <a:avLst/>
            <a:gdLst/>
            <a:ahLst/>
            <a:cxnLst/>
            <a:rect l="l" t="t" r="r" b="b"/>
            <a:pathLst>
              <a:path w="36151" h="2512510">
                <a:moveTo>
                  <a:pt x="36151" y="0"/>
                </a:moveTo>
                <a:lnTo>
                  <a:pt x="36151" y="0"/>
                </a:lnTo>
                <a:lnTo>
                  <a:pt x="36151" y="2512510"/>
                </a:lnTo>
                <a:lnTo>
                  <a:pt x="36151" y="2512510"/>
                </a:lnTo>
                <a:cubicBezTo>
                  <a:pt x="16185" y="2512510"/>
                  <a:pt x="0" y="2496325"/>
                  <a:pt x="0" y="24763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6" name="Text 23"/>
          <p:cNvSpPr/>
          <p:nvPr/>
        </p:nvSpPr>
        <p:spPr>
          <a:xfrm>
            <a:off x="4360176" y="3723576"/>
            <a:ext cx="3560895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 Clave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60176" y="4012786"/>
            <a:ext cx="3488593" cy="686873"/>
          </a:xfrm>
          <a:custGeom>
            <a:avLst/>
            <a:gdLst/>
            <a:ahLst/>
            <a:cxnLst/>
            <a:rect l="l" t="t" r="r" b="b"/>
            <a:pathLst>
              <a:path w="3488593" h="686873">
                <a:moveTo>
                  <a:pt x="36150" y="0"/>
                </a:moveTo>
                <a:lnTo>
                  <a:pt x="3452443" y="0"/>
                </a:lnTo>
                <a:cubicBezTo>
                  <a:pt x="3472408" y="0"/>
                  <a:pt x="3488593" y="16185"/>
                  <a:pt x="3488593" y="36150"/>
                </a:cubicBezTo>
                <a:lnTo>
                  <a:pt x="3488593" y="650723"/>
                </a:lnTo>
                <a:cubicBezTo>
                  <a:pt x="3488593" y="670688"/>
                  <a:pt x="3472408" y="686873"/>
                  <a:pt x="3452443" y="686873"/>
                </a:cubicBezTo>
                <a:lnTo>
                  <a:pt x="36150" y="686873"/>
                </a:lnTo>
                <a:cubicBezTo>
                  <a:pt x="16185" y="686873"/>
                  <a:pt x="0" y="670688"/>
                  <a:pt x="0" y="650723"/>
                </a:cubicBezTo>
                <a:lnTo>
                  <a:pt x="0" y="36150"/>
                </a:lnTo>
                <a:cubicBezTo>
                  <a:pt x="0" y="16198"/>
                  <a:pt x="16198" y="0"/>
                  <a:pt x="3615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432479" y="4085088"/>
            <a:ext cx="3398215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Próximos 30 días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32479" y="4229578"/>
            <a:ext cx="343436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$54.8M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432479" y="4482637"/>
            <a:ext cx="3398215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proyectado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360176" y="4771736"/>
            <a:ext cx="3488593" cy="686873"/>
          </a:xfrm>
          <a:custGeom>
            <a:avLst/>
            <a:gdLst/>
            <a:ahLst/>
            <a:cxnLst/>
            <a:rect l="l" t="t" r="r" b="b"/>
            <a:pathLst>
              <a:path w="3488593" h="686873">
                <a:moveTo>
                  <a:pt x="36150" y="0"/>
                </a:moveTo>
                <a:lnTo>
                  <a:pt x="3452443" y="0"/>
                </a:lnTo>
                <a:cubicBezTo>
                  <a:pt x="3472408" y="0"/>
                  <a:pt x="3488593" y="16185"/>
                  <a:pt x="3488593" y="36150"/>
                </a:cubicBezTo>
                <a:lnTo>
                  <a:pt x="3488593" y="650723"/>
                </a:lnTo>
                <a:cubicBezTo>
                  <a:pt x="3488593" y="670688"/>
                  <a:pt x="3472408" y="686873"/>
                  <a:pt x="3452443" y="686873"/>
                </a:cubicBezTo>
                <a:lnTo>
                  <a:pt x="36150" y="686873"/>
                </a:lnTo>
                <a:cubicBezTo>
                  <a:pt x="16185" y="686873"/>
                  <a:pt x="0" y="670688"/>
                  <a:pt x="0" y="650723"/>
                </a:cubicBezTo>
                <a:lnTo>
                  <a:pt x="0" y="36150"/>
                </a:lnTo>
                <a:cubicBezTo>
                  <a:pt x="0" y="16198"/>
                  <a:pt x="16198" y="0"/>
                  <a:pt x="36150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432479" y="4844039"/>
            <a:ext cx="3398215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Crecimiento esperado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432479" y="4988529"/>
            <a:ext cx="3434366" cy="253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3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+2.1%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432479" y="5241588"/>
            <a:ext cx="3398215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período actual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363792" y="5534298"/>
            <a:ext cx="3486785" cy="477196"/>
          </a:xfrm>
          <a:custGeom>
            <a:avLst/>
            <a:gdLst/>
            <a:ahLst/>
            <a:cxnLst/>
            <a:rect l="l" t="t" r="r" b="b"/>
            <a:pathLst>
              <a:path w="3486785" h="477196">
                <a:moveTo>
                  <a:pt x="36152" y="0"/>
                </a:moveTo>
                <a:lnTo>
                  <a:pt x="3450633" y="0"/>
                </a:lnTo>
                <a:cubicBezTo>
                  <a:pt x="3470599" y="0"/>
                  <a:pt x="3486785" y="16186"/>
                  <a:pt x="3486785" y="36152"/>
                </a:cubicBezTo>
                <a:lnTo>
                  <a:pt x="3486785" y="441044"/>
                </a:lnTo>
                <a:cubicBezTo>
                  <a:pt x="3486785" y="461010"/>
                  <a:pt x="3470599" y="477196"/>
                  <a:pt x="3450633" y="477196"/>
                </a:cubicBezTo>
                <a:lnTo>
                  <a:pt x="36152" y="477196"/>
                </a:lnTo>
                <a:cubicBezTo>
                  <a:pt x="16186" y="477196"/>
                  <a:pt x="0" y="461010"/>
                  <a:pt x="0" y="441044"/>
                </a:cubicBezTo>
                <a:lnTo>
                  <a:pt x="0" y="36152"/>
                </a:lnTo>
                <a:cubicBezTo>
                  <a:pt x="0" y="16186"/>
                  <a:pt x="16186" y="0"/>
                  <a:pt x="36152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39709" y="5610218"/>
            <a:ext cx="3389177" cy="144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54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Rango confianza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439709" y="5754708"/>
            <a:ext cx="3398215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±$3.2M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109397" y="1124303"/>
            <a:ext cx="3721768" cy="1344826"/>
          </a:xfrm>
          <a:custGeom>
            <a:avLst/>
            <a:gdLst/>
            <a:ahLst/>
            <a:cxnLst/>
            <a:rect l="l" t="t" r="r" b="b"/>
            <a:pathLst>
              <a:path w="3721768" h="1344826">
                <a:moveTo>
                  <a:pt x="72298" y="0"/>
                </a:moveTo>
                <a:lnTo>
                  <a:pt x="3649471" y="0"/>
                </a:lnTo>
                <a:cubicBezTo>
                  <a:pt x="3689400" y="0"/>
                  <a:pt x="3721768" y="32369"/>
                  <a:pt x="3721768" y="72298"/>
                </a:cubicBezTo>
                <a:lnTo>
                  <a:pt x="3721768" y="1272528"/>
                </a:lnTo>
                <a:cubicBezTo>
                  <a:pt x="3721768" y="1312457"/>
                  <a:pt x="3689400" y="1344826"/>
                  <a:pt x="3649471" y="1344826"/>
                </a:cubicBezTo>
                <a:lnTo>
                  <a:pt x="72298" y="1344826"/>
                </a:lnTo>
                <a:cubicBezTo>
                  <a:pt x="32369" y="1344826"/>
                  <a:pt x="0" y="1312457"/>
                  <a:pt x="0" y="1272528"/>
                </a:cubicBezTo>
                <a:lnTo>
                  <a:pt x="0" y="72298"/>
                </a:lnTo>
                <a:cubicBezTo>
                  <a:pt x="0" y="32396"/>
                  <a:pt x="32396" y="0"/>
                  <a:pt x="72298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30504" y="1272521"/>
            <a:ext cx="162681" cy="144605"/>
          </a:xfrm>
          <a:custGeom>
            <a:avLst/>
            <a:gdLst/>
            <a:ahLst/>
            <a:cxnLst/>
            <a:rect l="l" t="t" r="r" b="b"/>
            <a:pathLst>
              <a:path w="162681" h="144605">
                <a:moveTo>
                  <a:pt x="87413" y="-5338"/>
                </a:moveTo>
                <a:cubicBezTo>
                  <a:pt x="86255" y="-7597"/>
                  <a:pt x="83910" y="-9038"/>
                  <a:pt x="81368" y="-9038"/>
                </a:cubicBezTo>
                <a:cubicBezTo>
                  <a:pt x="78827" y="-9038"/>
                  <a:pt x="76482" y="-7597"/>
                  <a:pt x="75324" y="-5338"/>
                </a:cubicBezTo>
                <a:lnTo>
                  <a:pt x="54538" y="35389"/>
                </a:lnTo>
                <a:lnTo>
                  <a:pt x="9377" y="42562"/>
                </a:lnTo>
                <a:cubicBezTo>
                  <a:pt x="6863" y="42958"/>
                  <a:pt x="4773" y="44737"/>
                  <a:pt x="3982" y="47166"/>
                </a:cubicBezTo>
                <a:cubicBezTo>
                  <a:pt x="3191" y="49595"/>
                  <a:pt x="3841" y="52250"/>
                  <a:pt x="5620" y="54057"/>
                </a:cubicBezTo>
                <a:lnTo>
                  <a:pt x="37931" y="86396"/>
                </a:lnTo>
                <a:lnTo>
                  <a:pt x="30813" y="131557"/>
                </a:lnTo>
                <a:cubicBezTo>
                  <a:pt x="30418" y="134070"/>
                  <a:pt x="31463" y="136612"/>
                  <a:pt x="33525" y="138109"/>
                </a:cubicBezTo>
                <a:cubicBezTo>
                  <a:pt x="35586" y="139606"/>
                  <a:pt x="38298" y="139832"/>
                  <a:pt x="40585" y="138674"/>
                </a:cubicBezTo>
                <a:lnTo>
                  <a:pt x="81368" y="117943"/>
                </a:lnTo>
                <a:lnTo>
                  <a:pt x="122123" y="138674"/>
                </a:lnTo>
                <a:cubicBezTo>
                  <a:pt x="124383" y="139832"/>
                  <a:pt x="127122" y="139606"/>
                  <a:pt x="129184" y="138109"/>
                </a:cubicBezTo>
                <a:cubicBezTo>
                  <a:pt x="131246" y="136612"/>
                  <a:pt x="132291" y="134098"/>
                  <a:pt x="131895" y="131557"/>
                </a:cubicBezTo>
                <a:lnTo>
                  <a:pt x="124750" y="86396"/>
                </a:lnTo>
                <a:lnTo>
                  <a:pt x="157060" y="54057"/>
                </a:lnTo>
                <a:cubicBezTo>
                  <a:pt x="158868" y="52250"/>
                  <a:pt x="159489" y="49595"/>
                  <a:pt x="158698" y="47166"/>
                </a:cubicBezTo>
                <a:cubicBezTo>
                  <a:pt x="157907" y="44737"/>
                  <a:pt x="155846" y="42958"/>
                  <a:pt x="153304" y="42562"/>
                </a:cubicBezTo>
                <a:lnTo>
                  <a:pt x="108171" y="35389"/>
                </a:lnTo>
                <a:lnTo>
                  <a:pt x="87413" y="-5338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0" name="Text 37"/>
          <p:cNvSpPr/>
          <p:nvPr/>
        </p:nvSpPr>
        <p:spPr>
          <a:xfrm>
            <a:off x="8402222" y="1236370"/>
            <a:ext cx="3389177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¿Por Qué Prophet?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47450" y="1561731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2" name="Text 39"/>
          <p:cNvSpPr/>
          <p:nvPr/>
        </p:nvSpPr>
        <p:spPr>
          <a:xfrm>
            <a:off x="8451930" y="1525580"/>
            <a:ext cx="2738455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Interpretabilidad: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Componentes descomponibles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247450" y="1778638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4" name="Text 41"/>
          <p:cNvSpPr/>
          <p:nvPr/>
        </p:nvSpPr>
        <p:spPr>
          <a:xfrm>
            <a:off x="8451930" y="1742487"/>
            <a:ext cx="2232338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Estabilidad: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Robusto con datos faltantes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47450" y="1995546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6" name="Text 43"/>
          <p:cNvSpPr/>
          <p:nvPr/>
        </p:nvSpPr>
        <p:spPr>
          <a:xfrm>
            <a:off x="8451930" y="1959395"/>
            <a:ext cx="2846909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Estacionalidad: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Captura patrones automáticamente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47450" y="2212453"/>
            <a:ext cx="110713" cy="126529"/>
          </a:xfrm>
          <a:custGeom>
            <a:avLst/>
            <a:gdLst/>
            <a:ahLst/>
            <a:cxnLst/>
            <a:rect l="l" t="t" r="r" b="b"/>
            <a:pathLst>
              <a:path w="110713" h="126529">
                <a:moveTo>
                  <a:pt x="107451" y="17324"/>
                </a:moveTo>
                <a:cubicBezTo>
                  <a:pt x="110985" y="19894"/>
                  <a:pt x="111776" y="24836"/>
                  <a:pt x="109206" y="28370"/>
                </a:cubicBezTo>
                <a:lnTo>
                  <a:pt x="45941" y="115359"/>
                </a:lnTo>
                <a:cubicBezTo>
                  <a:pt x="44582" y="117237"/>
                  <a:pt x="42481" y="118399"/>
                  <a:pt x="40158" y="118596"/>
                </a:cubicBezTo>
                <a:cubicBezTo>
                  <a:pt x="37835" y="118794"/>
                  <a:pt x="35586" y="117929"/>
                  <a:pt x="33955" y="116298"/>
                </a:cubicBezTo>
                <a:lnTo>
                  <a:pt x="2323" y="84666"/>
                </a:lnTo>
                <a:cubicBezTo>
                  <a:pt x="-766" y="81577"/>
                  <a:pt x="-766" y="76560"/>
                  <a:pt x="2323" y="73471"/>
                </a:cubicBezTo>
                <a:cubicBezTo>
                  <a:pt x="5412" y="70382"/>
                  <a:pt x="10429" y="70382"/>
                  <a:pt x="13518" y="73471"/>
                </a:cubicBezTo>
                <a:lnTo>
                  <a:pt x="38601" y="98554"/>
                </a:lnTo>
                <a:lnTo>
                  <a:pt x="96429" y="19054"/>
                </a:lnTo>
                <a:cubicBezTo>
                  <a:pt x="98999" y="15520"/>
                  <a:pt x="103942" y="14729"/>
                  <a:pt x="107476" y="1729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8" name="Text 45"/>
          <p:cNvSpPr/>
          <p:nvPr/>
        </p:nvSpPr>
        <p:spPr>
          <a:xfrm>
            <a:off x="8451930" y="2176302"/>
            <a:ext cx="2132922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Intervalos: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Incertidumbre cuantificada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105782" y="2581198"/>
            <a:ext cx="3723576" cy="1771410"/>
          </a:xfrm>
          <a:custGeom>
            <a:avLst/>
            <a:gdLst/>
            <a:ahLst/>
            <a:cxnLst/>
            <a:rect l="l" t="t" r="r" b="b"/>
            <a:pathLst>
              <a:path w="3723576" h="1771410">
                <a:moveTo>
                  <a:pt x="72309" y="0"/>
                </a:moveTo>
                <a:lnTo>
                  <a:pt x="3651267" y="0"/>
                </a:lnTo>
                <a:cubicBezTo>
                  <a:pt x="3691202" y="0"/>
                  <a:pt x="3723576" y="32374"/>
                  <a:pt x="3723576" y="72309"/>
                </a:cubicBezTo>
                <a:lnTo>
                  <a:pt x="3723576" y="1699101"/>
                </a:lnTo>
                <a:cubicBezTo>
                  <a:pt x="3723576" y="1739036"/>
                  <a:pt x="3691202" y="1771410"/>
                  <a:pt x="3651267" y="1771410"/>
                </a:cubicBezTo>
                <a:lnTo>
                  <a:pt x="72309" y="1771410"/>
                </a:lnTo>
                <a:cubicBezTo>
                  <a:pt x="32401" y="1771410"/>
                  <a:pt x="0" y="1739009"/>
                  <a:pt x="0" y="1699101"/>
                </a:cubicBezTo>
                <a:lnTo>
                  <a:pt x="0" y="72309"/>
                </a:lnTo>
                <a:cubicBezTo>
                  <a:pt x="0" y="32401"/>
                  <a:pt x="32401" y="0"/>
                  <a:pt x="72309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8214236" y="2689652"/>
            <a:ext cx="357897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Hiperparámetros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14236" y="2978862"/>
            <a:ext cx="3506669" cy="289210"/>
          </a:xfrm>
          <a:custGeom>
            <a:avLst/>
            <a:gdLst/>
            <a:ahLst/>
            <a:cxnLst/>
            <a:rect l="l" t="t" r="r" b="b"/>
            <a:pathLst>
              <a:path w="3506669" h="289210">
                <a:moveTo>
                  <a:pt x="36151" y="0"/>
                </a:moveTo>
                <a:lnTo>
                  <a:pt x="3470517" y="0"/>
                </a:lnTo>
                <a:cubicBezTo>
                  <a:pt x="3490483" y="0"/>
                  <a:pt x="3506669" y="16185"/>
                  <a:pt x="3506669" y="36151"/>
                </a:cubicBezTo>
                <a:lnTo>
                  <a:pt x="3506669" y="253059"/>
                </a:lnTo>
                <a:cubicBezTo>
                  <a:pt x="3506669" y="273024"/>
                  <a:pt x="3490483" y="289210"/>
                  <a:pt x="3470517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8268463" y="3033089"/>
            <a:ext cx="1048385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seasonality_mode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937440" y="3033089"/>
            <a:ext cx="795327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multiplicative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14236" y="3304223"/>
            <a:ext cx="3506669" cy="289210"/>
          </a:xfrm>
          <a:custGeom>
            <a:avLst/>
            <a:gdLst/>
            <a:ahLst/>
            <a:cxnLst/>
            <a:rect l="l" t="t" r="r" b="b"/>
            <a:pathLst>
              <a:path w="3506669" h="289210">
                <a:moveTo>
                  <a:pt x="36151" y="0"/>
                </a:moveTo>
                <a:lnTo>
                  <a:pt x="3470517" y="0"/>
                </a:lnTo>
                <a:cubicBezTo>
                  <a:pt x="3490483" y="0"/>
                  <a:pt x="3506669" y="16185"/>
                  <a:pt x="3506669" y="36151"/>
                </a:cubicBezTo>
                <a:lnTo>
                  <a:pt x="3506669" y="253059"/>
                </a:lnTo>
                <a:cubicBezTo>
                  <a:pt x="3506669" y="273024"/>
                  <a:pt x="3490483" y="289210"/>
                  <a:pt x="3470517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8268463" y="3358450"/>
            <a:ext cx="1066461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yearly_seasonality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395543" y="3358450"/>
            <a:ext cx="334399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214236" y="3629584"/>
            <a:ext cx="3506669" cy="289210"/>
          </a:xfrm>
          <a:custGeom>
            <a:avLst/>
            <a:gdLst/>
            <a:ahLst/>
            <a:cxnLst/>
            <a:rect l="l" t="t" r="r" b="b"/>
            <a:pathLst>
              <a:path w="3506669" h="289210">
                <a:moveTo>
                  <a:pt x="36151" y="0"/>
                </a:moveTo>
                <a:lnTo>
                  <a:pt x="3470517" y="0"/>
                </a:lnTo>
                <a:cubicBezTo>
                  <a:pt x="3490483" y="0"/>
                  <a:pt x="3506669" y="16185"/>
                  <a:pt x="3506669" y="36151"/>
                </a:cubicBezTo>
                <a:lnTo>
                  <a:pt x="3506669" y="253059"/>
                </a:lnTo>
                <a:cubicBezTo>
                  <a:pt x="3506669" y="273024"/>
                  <a:pt x="3490483" y="289210"/>
                  <a:pt x="3470517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8268463" y="3683811"/>
            <a:ext cx="1120688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weekly_seasonality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1423674" y="3683811"/>
            <a:ext cx="307285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214236" y="3954945"/>
            <a:ext cx="3506669" cy="289210"/>
          </a:xfrm>
          <a:custGeom>
            <a:avLst/>
            <a:gdLst/>
            <a:ahLst/>
            <a:cxnLst/>
            <a:rect l="l" t="t" r="r" b="b"/>
            <a:pathLst>
              <a:path w="3506669" h="289210">
                <a:moveTo>
                  <a:pt x="36151" y="0"/>
                </a:moveTo>
                <a:lnTo>
                  <a:pt x="3470517" y="0"/>
                </a:lnTo>
                <a:cubicBezTo>
                  <a:pt x="3490483" y="0"/>
                  <a:pt x="3506669" y="16185"/>
                  <a:pt x="3506669" y="36151"/>
                </a:cubicBezTo>
                <a:lnTo>
                  <a:pt x="3506669" y="253059"/>
                </a:lnTo>
                <a:cubicBezTo>
                  <a:pt x="3506669" y="273024"/>
                  <a:pt x="3490483" y="289210"/>
                  <a:pt x="3470517" y="289210"/>
                </a:cubicBezTo>
                <a:lnTo>
                  <a:pt x="36151" y="289210"/>
                </a:lnTo>
                <a:cubicBezTo>
                  <a:pt x="16185" y="289210"/>
                  <a:pt x="0" y="273024"/>
                  <a:pt x="0" y="253059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8268463" y="4009172"/>
            <a:ext cx="849554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interval_width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1420850" y="4009172"/>
            <a:ext cx="316323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0.95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123858" y="4461062"/>
            <a:ext cx="3705500" cy="1301444"/>
          </a:xfrm>
          <a:custGeom>
            <a:avLst/>
            <a:gdLst/>
            <a:ahLst/>
            <a:cxnLst/>
            <a:rect l="l" t="t" r="r" b="b"/>
            <a:pathLst>
              <a:path w="3705500" h="1301444">
                <a:moveTo>
                  <a:pt x="36151" y="0"/>
                </a:moveTo>
                <a:lnTo>
                  <a:pt x="3633192" y="0"/>
                </a:lnTo>
                <a:cubicBezTo>
                  <a:pt x="3673127" y="0"/>
                  <a:pt x="3705500" y="32373"/>
                  <a:pt x="3705500" y="72308"/>
                </a:cubicBezTo>
                <a:lnTo>
                  <a:pt x="3705500" y="1229136"/>
                </a:lnTo>
                <a:cubicBezTo>
                  <a:pt x="3705500" y="1269071"/>
                  <a:pt x="3673127" y="1301444"/>
                  <a:pt x="3633192" y="1301444"/>
                </a:cubicBezTo>
                <a:lnTo>
                  <a:pt x="36151" y="1301444"/>
                </a:lnTo>
                <a:cubicBezTo>
                  <a:pt x="16185" y="1301444"/>
                  <a:pt x="0" y="1285259"/>
                  <a:pt x="0" y="1265293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8123858" y="4461062"/>
            <a:ext cx="36151" cy="1301444"/>
          </a:xfrm>
          <a:custGeom>
            <a:avLst/>
            <a:gdLst/>
            <a:ahLst/>
            <a:cxnLst/>
            <a:rect l="l" t="t" r="r" b="b"/>
            <a:pathLst>
              <a:path w="36151" h="1301444">
                <a:moveTo>
                  <a:pt x="36151" y="0"/>
                </a:moveTo>
                <a:lnTo>
                  <a:pt x="36151" y="0"/>
                </a:lnTo>
                <a:lnTo>
                  <a:pt x="36151" y="1301444"/>
                </a:lnTo>
                <a:lnTo>
                  <a:pt x="36151" y="1301444"/>
                </a:lnTo>
                <a:cubicBezTo>
                  <a:pt x="16185" y="1301444"/>
                  <a:pt x="0" y="1285259"/>
                  <a:pt x="0" y="1265293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5" name="Shape 62"/>
          <p:cNvSpPr/>
          <p:nvPr/>
        </p:nvSpPr>
        <p:spPr>
          <a:xfrm>
            <a:off x="8268463" y="4605667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72302" y="0"/>
                </a:moveTo>
                <a:cubicBezTo>
                  <a:pt x="73602" y="0"/>
                  <a:pt x="74901" y="282"/>
                  <a:pt x="76087" y="819"/>
                </a:cubicBezTo>
                <a:lnTo>
                  <a:pt x="129297" y="23385"/>
                </a:lnTo>
                <a:cubicBezTo>
                  <a:pt x="135511" y="26012"/>
                  <a:pt x="140142" y="32141"/>
                  <a:pt x="140114" y="39540"/>
                </a:cubicBezTo>
                <a:cubicBezTo>
                  <a:pt x="139973" y="67558"/>
                  <a:pt x="128450" y="118819"/>
                  <a:pt x="79787" y="142119"/>
                </a:cubicBezTo>
                <a:cubicBezTo>
                  <a:pt x="75070" y="144379"/>
                  <a:pt x="69591" y="144379"/>
                  <a:pt x="64874" y="142119"/>
                </a:cubicBezTo>
                <a:cubicBezTo>
                  <a:pt x="16183" y="118819"/>
                  <a:pt x="4688" y="67558"/>
                  <a:pt x="4547" y="39540"/>
                </a:cubicBezTo>
                <a:cubicBezTo>
                  <a:pt x="4519" y="32141"/>
                  <a:pt x="9151" y="26012"/>
                  <a:pt x="15364" y="23385"/>
                </a:cubicBezTo>
                <a:lnTo>
                  <a:pt x="68546" y="819"/>
                </a:lnTo>
                <a:cubicBezTo>
                  <a:pt x="69732" y="282"/>
                  <a:pt x="71003" y="0"/>
                  <a:pt x="72302" y="0"/>
                </a:cubicBezTo>
                <a:close/>
                <a:moveTo>
                  <a:pt x="72302" y="18866"/>
                </a:moveTo>
                <a:lnTo>
                  <a:pt x="72302" y="125654"/>
                </a:lnTo>
                <a:cubicBezTo>
                  <a:pt x="111278" y="106787"/>
                  <a:pt x="121756" y="64987"/>
                  <a:pt x="122010" y="39964"/>
                </a:cubicBezTo>
                <a:lnTo>
                  <a:pt x="72302" y="18895"/>
                </a:lnTo>
                <a:lnTo>
                  <a:pt x="72302" y="18895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6" name="Text 63"/>
          <p:cNvSpPr/>
          <p:nvPr/>
        </p:nvSpPr>
        <p:spPr>
          <a:xfrm>
            <a:off x="8431143" y="4569515"/>
            <a:ext cx="3362064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Gestión de Riesgo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8250387" y="4931028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8" name="Text 65"/>
          <p:cNvSpPr/>
          <p:nvPr/>
        </p:nvSpPr>
        <p:spPr>
          <a:xfrm>
            <a:off x="8393749" y="4858725"/>
            <a:ext cx="3398215" cy="36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Bandas de confianza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comunican incertidumbre explícitamente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250387" y="5328691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0" name="Text 67"/>
          <p:cNvSpPr/>
          <p:nvPr/>
        </p:nvSpPr>
        <p:spPr>
          <a:xfrm>
            <a:off x="8394992" y="5256389"/>
            <a:ext cx="3190345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conservador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prioriza estabilidad sobre overfitting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250387" y="5545599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2" name="Text 69"/>
          <p:cNvSpPr/>
          <p:nvPr/>
        </p:nvSpPr>
        <p:spPr>
          <a:xfrm>
            <a:off x="8394992" y="5473296"/>
            <a:ext cx="2376943" cy="18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Validación temporal</a:t>
            </a:r>
            <a:pPr>
              <a:lnSpc>
                <a:spcPct val="120000"/>
              </a:lnSpc>
            </a:pPr>
            <a:r>
              <a:rPr lang="en-US" sz="99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previene data leakage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361512" y="6239137"/>
            <a:ext cx="11468976" cy="441045"/>
          </a:xfrm>
          <a:custGeom>
            <a:avLst/>
            <a:gdLst/>
            <a:ahLst/>
            <a:cxnLst/>
            <a:rect l="l" t="t" r="r" b="b"/>
            <a:pathLst>
              <a:path w="11468976" h="441045">
                <a:moveTo>
                  <a:pt x="14460" y="0"/>
                </a:moveTo>
                <a:lnTo>
                  <a:pt x="11454515" y="0"/>
                </a:lnTo>
                <a:cubicBezTo>
                  <a:pt x="11462501" y="0"/>
                  <a:pt x="11468976" y="6474"/>
                  <a:pt x="11468976" y="14460"/>
                </a:cubicBezTo>
                <a:lnTo>
                  <a:pt x="11468976" y="368744"/>
                </a:lnTo>
                <a:cubicBezTo>
                  <a:pt x="11468976" y="408675"/>
                  <a:pt x="11436606" y="441045"/>
                  <a:pt x="11396675" y="441045"/>
                </a:cubicBezTo>
                <a:lnTo>
                  <a:pt x="72300" y="441045"/>
                </a:lnTo>
                <a:cubicBezTo>
                  <a:pt x="32397" y="441045"/>
                  <a:pt x="0" y="408648"/>
                  <a:pt x="0" y="368744"/>
                </a:cubicBezTo>
                <a:lnTo>
                  <a:pt x="0" y="14460"/>
                </a:lnTo>
                <a:cubicBezTo>
                  <a:pt x="0" y="6480"/>
                  <a:pt x="6480" y="0"/>
                  <a:pt x="14460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61512" y="6239137"/>
            <a:ext cx="11468976" cy="14460"/>
          </a:xfrm>
          <a:custGeom>
            <a:avLst/>
            <a:gdLst/>
            <a:ahLst/>
            <a:cxnLst/>
            <a:rect l="l" t="t" r="r" b="b"/>
            <a:pathLst>
              <a:path w="11468976" h="14460">
                <a:moveTo>
                  <a:pt x="14460" y="0"/>
                </a:moveTo>
                <a:lnTo>
                  <a:pt x="11454515" y="0"/>
                </a:lnTo>
                <a:cubicBezTo>
                  <a:pt x="11462501" y="0"/>
                  <a:pt x="11468976" y="6474"/>
                  <a:pt x="11468976" y="14460"/>
                </a:cubicBezTo>
                <a:lnTo>
                  <a:pt x="11468976" y="14460"/>
                </a:lnTo>
                <a:lnTo>
                  <a:pt x="0" y="14460"/>
                </a:lnTo>
                <a:lnTo>
                  <a:pt x="0" y="14460"/>
                </a:lnTo>
                <a:cubicBezTo>
                  <a:pt x="0" y="6480"/>
                  <a:pt x="6480" y="0"/>
                  <a:pt x="1446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5" name="Shape 72"/>
          <p:cNvSpPr/>
          <p:nvPr/>
        </p:nvSpPr>
        <p:spPr>
          <a:xfrm>
            <a:off x="488042" y="6383740"/>
            <a:ext cx="144605" cy="144605"/>
          </a:xfrm>
          <a:custGeom>
            <a:avLst/>
            <a:gdLst/>
            <a:ahLst/>
            <a:cxnLst/>
            <a:rect l="l" t="t" r="r" b="b"/>
            <a:pathLst>
              <a:path w="144605" h="144605">
                <a:moveTo>
                  <a:pt x="141950" y="78685"/>
                </a:moveTo>
                <a:cubicBezTo>
                  <a:pt x="145480" y="75155"/>
                  <a:pt x="145480" y="69422"/>
                  <a:pt x="141950" y="65891"/>
                </a:cubicBezTo>
                <a:lnTo>
                  <a:pt x="96761" y="20702"/>
                </a:lnTo>
                <a:cubicBezTo>
                  <a:pt x="93231" y="17172"/>
                  <a:pt x="87497" y="17172"/>
                  <a:pt x="83967" y="20702"/>
                </a:cubicBezTo>
                <a:cubicBezTo>
                  <a:pt x="80436" y="24233"/>
                  <a:pt x="80436" y="29966"/>
                  <a:pt x="83967" y="33496"/>
                </a:cubicBezTo>
                <a:lnTo>
                  <a:pt x="113735" y="63265"/>
                </a:lnTo>
                <a:lnTo>
                  <a:pt x="9038" y="63265"/>
                </a:lnTo>
                <a:cubicBezTo>
                  <a:pt x="4039" y="63265"/>
                  <a:pt x="0" y="67303"/>
                  <a:pt x="0" y="72302"/>
                </a:cubicBezTo>
                <a:cubicBezTo>
                  <a:pt x="0" y="77301"/>
                  <a:pt x="4039" y="81340"/>
                  <a:pt x="9038" y="81340"/>
                </a:cubicBezTo>
                <a:lnTo>
                  <a:pt x="113735" y="81340"/>
                </a:lnTo>
                <a:lnTo>
                  <a:pt x="83967" y="111109"/>
                </a:lnTo>
                <a:cubicBezTo>
                  <a:pt x="80436" y="114639"/>
                  <a:pt x="80436" y="120372"/>
                  <a:pt x="83967" y="123903"/>
                </a:cubicBezTo>
                <a:cubicBezTo>
                  <a:pt x="87497" y="127433"/>
                  <a:pt x="93231" y="127433"/>
                  <a:pt x="96761" y="123903"/>
                </a:cubicBezTo>
                <a:lnTo>
                  <a:pt x="141950" y="78714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6" name="Text 73"/>
          <p:cNvSpPr/>
          <p:nvPr/>
        </p:nvSpPr>
        <p:spPr>
          <a:xfrm>
            <a:off x="702175" y="6354818"/>
            <a:ext cx="11092161" cy="216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Resultado:</a:t>
            </a:r>
            <a:pPr>
              <a:lnSpc>
                <a:spcPct val="130000"/>
              </a:lnSpc>
            </a:pPr>
            <a:r>
              <a:rPr lang="en-US" sz="1139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Modelo con 97.7% de precisión listo para integración en simulador interactivo y dashboard ejecutivo.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849" y="421019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49525" y="517502"/>
            <a:ext cx="157882" cy="157882"/>
          </a:xfrm>
          <a:custGeom>
            <a:avLst/>
            <a:gdLst/>
            <a:ahLst/>
            <a:cxnLst/>
            <a:rect l="l" t="t" r="r" b="b"/>
            <a:pathLst>
              <a:path w="157882" h="157882">
                <a:moveTo>
                  <a:pt x="9868" y="19735"/>
                </a:moveTo>
                <a:cubicBezTo>
                  <a:pt x="4410" y="19735"/>
                  <a:pt x="0" y="24145"/>
                  <a:pt x="0" y="29603"/>
                </a:cubicBezTo>
                <a:cubicBezTo>
                  <a:pt x="0" y="35061"/>
                  <a:pt x="4410" y="39471"/>
                  <a:pt x="9868" y="39471"/>
                </a:cubicBezTo>
                <a:lnTo>
                  <a:pt x="36603" y="39471"/>
                </a:lnTo>
                <a:cubicBezTo>
                  <a:pt x="40396" y="48197"/>
                  <a:pt x="49091" y="54272"/>
                  <a:pt x="59206" y="54272"/>
                </a:cubicBezTo>
                <a:cubicBezTo>
                  <a:pt x="69320" y="54272"/>
                  <a:pt x="78016" y="48197"/>
                  <a:pt x="81809" y="39471"/>
                </a:cubicBezTo>
                <a:lnTo>
                  <a:pt x="148014" y="39471"/>
                </a:lnTo>
                <a:cubicBezTo>
                  <a:pt x="153472" y="39471"/>
                  <a:pt x="157882" y="35061"/>
                  <a:pt x="157882" y="29603"/>
                </a:cubicBezTo>
                <a:cubicBezTo>
                  <a:pt x="157882" y="24145"/>
                  <a:pt x="153472" y="19735"/>
                  <a:pt x="148014" y="19735"/>
                </a:cubicBezTo>
                <a:lnTo>
                  <a:pt x="81809" y="19735"/>
                </a:lnTo>
                <a:cubicBezTo>
                  <a:pt x="78016" y="11009"/>
                  <a:pt x="69320" y="4934"/>
                  <a:pt x="59206" y="4934"/>
                </a:cubicBezTo>
                <a:cubicBezTo>
                  <a:pt x="49091" y="4934"/>
                  <a:pt x="40396" y="11009"/>
                  <a:pt x="36603" y="19735"/>
                </a:cubicBezTo>
                <a:lnTo>
                  <a:pt x="9868" y="19735"/>
                </a:lnTo>
                <a:close/>
                <a:moveTo>
                  <a:pt x="9868" y="69073"/>
                </a:moveTo>
                <a:cubicBezTo>
                  <a:pt x="4410" y="69073"/>
                  <a:pt x="0" y="73483"/>
                  <a:pt x="0" y="78941"/>
                </a:cubicBezTo>
                <a:cubicBezTo>
                  <a:pt x="0" y="84399"/>
                  <a:pt x="4410" y="88809"/>
                  <a:pt x="9868" y="88809"/>
                </a:cubicBezTo>
                <a:lnTo>
                  <a:pt x="85941" y="88809"/>
                </a:lnTo>
                <a:cubicBezTo>
                  <a:pt x="89734" y="97535"/>
                  <a:pt x="98430" y="103610"/>
                  <a:pt x="108544" y="103610"/>
                </a:cubicBezTo>
                <a:cubicBezTo>
                  <a:pt x="118658" y="103610"/>
                  <a:pt x="127354" y="97535"/>
                  <a:pt x="131147" y="88809"/>
                </a:cubicBezTo>
                <a:lnTo>
                  <a:pt x="148014" y="88809"/>
                </a:lnTo>
                <a:cubicBezTo>
                  <a:pt x="153472" y="88809"/>
                  <a:pt x="157882" y="84399"/>
                  <a:pt x="157882" y="78941"/>
                </a:cubicBezTo>
                <a:cubicBezTo>
                  <a:pt x="157882" y="73483"/>
                  <a:pt x="153472" y="69073"/>
                  <a:pt x="148014" y="69073"/>
                </a:cubicBezTo>
                <a:lnTo>
                  <a:pt x="131147" y="69073"/>
                </a:lnTo>
                <a:cubicBezTo>
                  <a:pt x="127354" y="60347"/>
                  <a:pt x="118658" y="54272"/>
                  <a:pt x="108544" y="54272"/>
                </a:cubicBezTo>
                <a:cubicBezTo>
                  <a:pt x="98430" y="54272"/>
                  <a:pt x="89734" y="60347"/>
                  <a:pt x="85941" y="69073"/>
                </a:cubicBezTo>
                <a:lnTo>
                  <a:pt x="9868" y="69073"/>
                </a:lnTo>
                <a:close/>
                <a:moveTo>
                  <a:pt x="9868" y="118412"/>
                </a:moveTo>
                <a:cubicBezTo>
                  <a:pt x="4410" y="118412"/>
                  <a:pt x="0" y="122821"/>
                  <a:pt x="0" y="128279"/>
                </a:cubicBezTo>
                <a:cubicBezTo>
                  <a:pt x="0" y="133737"/>
                  <a:pt x="4410" y="138147"/>
                  <a:pt x="9868" y="138147"/>
                </a:cubicBezTo>
                <a:lnTo>
                  <a:pt x="26735" y="138147"/>
                </a:lnTo>
                <a:cubicBezTo>
                  <a:pt x="30528" y="146873"/>
                  <a:pt x="39224" y="152948"/>
                  <a:pt x="49338" y="152948"/>
                </a:cubicBezTo>
                <a:cubicBezTo>
                  <a:pt x="59452" y="152948"/>
                  <a:pt x="68148" y="146873"/>
                  <a:pt x="71941" y="138147"/>
                </a:cubicBezTo>
                <a:lnTo>
                  <a:pt x="148014" y="138147"/>
                </a:lnTo>
                <a:cubicBezTo>
                  <a:pt x="153472" y="138147"/>
                  <a:pt x="157882" y="133737"/>
                  <a:pt x="157882" y="128279"/>
                </a:cubicBezTo>
                <a:cubicBezTo>
                  <a:pt x="157882" y="122821"/>
                  <a:pt x="153472" y="118412"/>
                  <a:pt x="148014" y="118412"/>
                </a:cubicBezTo>
                <a:lnTo>
                  <a:pt x="71941" y="118412"/>
                </a:lnTo>
                <a:cubicBezTo>
                  <a:pt x="68148" y="109685"/>
                  <a:pt x="59452" y="103610"/>
                  <a:pt x="49338" y="103610"/>
                </a:cubicBezTo>
                <a:cubicBezTo>
                  <a:pt x="39224" y="103610"/>
                  <a:pt x="30528" y="109685"/>
                  <a:pt x="26735" y="118412"/>
                </a:cubicBezTo>
                <a:lnTo>
                  <a:pt x="9868" y="118412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806953" y="350849"/>
            <a:ext cx="528904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spc="48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6953" y="526273"/>
            <a:ext cx="5359217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Simulador Interactivo: Escenarios Qué pasa si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849" y="912207"/>
            <a:ext cx="701698" cy="35085"/>
          </a:xfrm>
          <a:custGeom>
            <a:avLst/>
            <a:gdLst/>
            <a:ahLst/>
            <a:cxnLst/>
            <a:rect l="l" t="t" r="r" b="b"/>
            <a:pathLst>
              <a:path w="701698" h="35085">
                <a:moveTo>
                  <a:pt x="0" y="0"/>
                </a:moveTo>
                <a:lnTo>
                  <a:pt x="701698" y="0"/>
                </a:lnTo>
                <a:lnTo>
                  <a:pt x="701698" y="35085"/>
                </a:lnTo>
                <a:lnTo>
                  <a:pt x="0" y="35085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68391" y="1087632"/>
            <a:ext cx="6824012" cy="2491027"/>
          </a:xfrm>
          <a:custGeom>
            <a:avLst/>
            <a:gdLst/>
            <a:ahLst/>
            <a:cxnLst/>
            <a:rect l="l" t="t" r="r" b="b"/>
            <a:pathLst>
              <a:path w="6824012" h="2491027">
                <a:moveTo>
                  <a:pt x="35085" y="0"/>
                </a:moveTo>
                <a:lnTo>
                  <a:pt x="6753839" y="0"/>
                </a:lnTo>
                <a:cubicBezTo>
                  <a:pt x="6792594" y="0"/>
                  <a:pt x="6824012" y="31417"/>
                  <a:pt x="6824012" y="70172"/>
                </a:cubicBezTo>
                <a:lnTo>
                  <a:pt x="6824012" y="2420855"/>
                </a:lnTo>
                <a:cubicBezTo>
                  <a:pt x="6824012" y="2459610"/>
                  <a:pt x="6792594" y="2491027"/>
                  <a:pt x="6753839" y="2491027"/>
                </a:cubicBezTo>
                <a:lnTo>
                  <a:pt x="35085" y="2491027"/>
                </a:lnTo>
                <a:cubicBezTo>
                  <a:pt x="15708" y="2491027"/>
                  <a:pt x="0" y="2475319"/>
                  <a:pt x="0" y="245594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8391" y="1087632"/>
            <a:ext cx="35085" cy="2491027"/>
          </a:xfrm>
          <a:custGeom>
            <a:avLst/>
            <a:gdLst/>
            <a:ahLst/>
            <a:cxnLst/>
            <a:rect l="l" t="t" r="r" b="b"/>
            <a:pathLst>
              <a:path w="35085" h="2491027">
                <a:moveTo>
                  <a:pt x="35085" y="0"/>
                </a:moveTo>
                <a:lnTo>
                  <a:pt x="35085" y="0"/>
                </a:lnTo>
                <a:lnTo>
                  <a:pt x="35085" y="2491027"/>
                </a:lnTo>
                <a:lnTo>
                  <a:pt x="35085" y="2491027"/>
                </a:lnTo>
                <a:cubicBezTo>
                  <a:pt x="15708" y="2491027"/>
                  <a:pt x="0" y="2475319"/>
                  <a:pt x="0" y="245594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491188" y="1192886"/>
            <a:ext cx="667490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de Variables Operativas en Ingresos Proyectados</a:t>
            </a:r>
            <a:endParaRPr lang="en-US" sz="1600" dirty="0"/>
          </a:p>
        </p:txBody>
      </p:sp>
      <p:pic>
        <p:nvPicPr>
          <p:cNvPr id="10" name="Image 0" descr="https://kimi-img.moonshot.cn/pub/slides/26-01-16-00:54:52-d5khnn4432e7d5cp8uv0.png">    </p:cNvPr>
          <p:cNvPicPr>
            <a:picLocks noChangeAspect="1"/>
          </p:cNvPicPr>
          <p:nvPr/>
        </p:nvPicPr>
        <p:blipFill>
          <a:blip r:embed="rId1"/>
          <a:srcRect l="0" r="0" t="29" b="29"/>
          <a:stretch/>
        </p:blipFill>
        <p:spPr>
          <a:xfrm>
            <a:off x="491188" y="1508650"/>
            <a:ext cx="6017059" cy="1578820"/>
          </a:xfrm>
          <a:prstGeom prst="roundRect">
            <a:avLst>
              <a:gd name="adj" fmla="val 0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491188" y="3122555"/>
            <a:ext cx="6657358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Demostración: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Gráfico muestra cómo cambios en demanda (±15%) y ticket promedio (±10%) afectan ingresos proyectados en próximos 90 días.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8391" y="3683914"/>
            <a:ext cx="2192806" cy="2227891"/>
          </a:xfrm>
          <a:custGeom>
            <a:avLst/>
            <a:gdLst/>
            <a:ahLst/>
            <a:cxnLst/>
            <a:rect l="l" t="t" r="r" b="b"/>
            <a:pathLst>
              <a:path w="2192806" h="2227891">
                <a:moveTo>
                  <a:pt x="35085" y="0"/>
                </a:moveTo>
                <a:lnTo>
                  <a:pt x="2122636" y="0"/>
                </a:lnTo>
                <a:cubicBezTo>
                  <a:pt x="2161390" y="0"/>
                  <a:pt x="2192806" y="31416"/>
                  <a:pt x="2192806" y="70170"/>
                </a:cubicBezTo>
                <a:lnTo>
                  <a:pt x="2192806" y="2157721"/>
                </a:lnTo>
                <a:cubicBezTo>
                  <a:pt x="2192806" y="2196475"/>
                  <a:pt x="2161390" y="2227891"/>
                  <a:pt x="2122636" y="2227891"/>
                </a:cubicBezTo>
                <a:lnTo>
                  <a:pt x="35085" y="2227891"/>
                </a:lnTo>
                <a:cubicBezTo>
                  <a:pt x="15708" y="2227891"/>
                  <a:pt x="0" y="2212183"/>
                  <a:pt x="0" y="219280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68391" y="3683914"/>
            <a:ext cx="35085" cy="2227891"/>
          </a:xfrm>
          <a:custGeom>
            <a:avLst/>
            <a:gdLst/>
            <a:ahLst/>
            <a:cxnLst/>
            <a:rect l="l" t="t" r="r" b="b"/>
            <a:pathLst>
              <a:path w="35085" h="2227891">
                <a:moveTo>
                  <a:pt x="35085" y="0"/>
                </a:moveTo>
                <a:lnTo>
                  <a:pt x="35085" y="0"/>
                </a:lnTo>
                <a:lnTo>
                  <a:pt x="35085" y="2227891"/>
                </a:lnTo>
                <a:lnTo>
                  <a:pt x="35085" y="2227891"/>
                </a:lnTo>
                <a:cubicBezTo>
                  <a:pt x="15708" y="2227891"/>
                  <a:pt x="0" y="2212183"/>
                  <a:pt x="0" y="219280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4" name="Shape 11"/>
          <p:cNvSpPr/>
          <p:nvPr/>
        </p:nvSpPr>
        <p:spPr>
          <a:xfrm>
            <a:off x="508731" y="3824253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17542" y="17542"/>
                </a:moveTo>
                <a:cubicBezTo>
                  <a:pt x="17542" y="12691"/>
                  <a:pt x="13623" y="8771"/>
                  <a:pt x="8771" y="8771"/>
                </a:cubicBezTo>
                <a:cubicBezTo>
                  <a:pt x="3920" y="8771"/>
                  <a:pt x="0" y="12691"/>
                  <a:pt x="0" y="17542"/>
                </a:cubicBezTo>
                <a:lnTo>
                  <a:pt x="0" y="109640"/>
                </a:lnTo>
                <a:cubicBezTo>
                  <a:pt x="0" y="121756"/>
                  <a:pt x="9813" y="131568"/>
                  <a:pt x="21928" y="131568"/>
                </a:cubicBezTo>
                <a:lnTo>
                  <a:pt x="131568" y="131568"/>
                </a:lnTo>
                <a:cubicBezTo>
                  <a:pt x="136420" y="131568"/>
                  <a:pt x="140340" y="127649"/>
                  <a:pt x="140340" y="122797"/>
                </a:cubicBezTo>
                <a:cubicBezTo>
                  <a:pt x="140340" y="117946"/>
                  <a:pt x="136420" y="114026"/>
                  <a:pt x="131568" y="114026"/>
                </a:cubicBezTo>
                <a:lnTo>
                  <a:pt x="21928" y="114026"/>
                </a:lnTo>
                <a:cubicBezTo>
                  <a:pt x="19516" y="114026"/>
                  <a:pt x="17542" y="112052"/>
                  <a:pt x="17542" y="109640"/>
                </a:cubicBezTo>
                <a:lnTo>
                  <a:pt x="17542" y="17542"/>
                </a:lnTo>
                <a:close/>
                <a:moveTo>
                  <a:pt x="128992" y="41280"/>
                </a:moveTo>
                <a:cubicBezTo>
                  <a:pt x="132418" y="37853"/>
                  <a:pt x="132418" y="32289"/>
                  <a:pt x="128992" y="28863"/>
                </a:cubicBezTo>
                <a:cubicBezTo>
                  <a:pt x="125566" y="25437"/>
                  <a:pt x="120001" y="25437"/>
                  <a:pt x="116575" y="28863"/>
                </a:cubicBezTo>
                <a:lnTo>
                  <a:pt x="87712" y="57753"/>
                </a:lnTo>
                <a:lnTo>
                  <a:pt x="71979" y="42047"/>
                </a:lnTo>
                <a:cubicBezTo>
                  <a:pt x="68553" y="38621"/>
                  <a:pt x="62988" y="38621"/>
                  <a:pt x="59562" y="42047"/>
                </a:cubicBezTo>
                <a:lnTo>
                  <a:pt x="33248" y="68361"/>
                </a:lnTo>
                <a:cubicBezTo>
                  <a:pt x="29822" y="71787"/>
                  <a:pt x="29822" y="77351"/>
                  <a:pt x="33248" y="80777"/>
                </a:cubicBezTo>
                <a:cubicBezTo>
                  <a:pt x="36675" y="84204"/>
                  <a:pt x="42239" y="84204"/>
                  <a:pt x="45665" y="80777"/>
                </a:cubicBezTo>
                <a:lnTo>
                  <a:pt x="65784" y="60658"/>
                </a:lnTo>
                <a:lnTo>
                  <a:pt x="81518" y="76392"/>
                </a:lnTo>
                <a:cubicBezTo>
                  <a:pt x="84944" y="79818"/>
                  <a:pt x="90508" y="79818"/>
                  <a:pt x="93934" y="76392"/>
                </a:cubicBezTo>
                <a:lnTo>
                  <a:pt x="129019" y="41307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5" name="Text 12"/>
          <p:cNvSpPr/>
          <p:nvPr/>
        </p:nvSpPr>
        <p:spPr>
          <a:xfrm>
            <a:off x="666613" y="3789168"/>
            <a:ext cx="185949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Escenario Optimista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91188" y="4069847"/>
            <a:ext cx="1964754" cy="526273"/>
          </a:xfrm>
          <a:custGeom>
            <a:avLst/>
            <a:gdLst/>
            <a:ahLst/>
            <a:cxnLst/>
            <a:rect l="l" t="t" r="r" b="b"/>
            <a:pathLst>
              <a:path w="1964754" h="526273">
                <a:moveTo>
                  <a:pt x="35087" y="0"/>
                </a:moveTo>
                <a:lnTo>
                  <a:pt x="1929667" y="0"/>
                </a:lnTo>
                <a:cubicBezTo>
                  <a:pt x="1949045" y="0"/>
                  <a:pt x="1964754" y="15709"/>
                  <a:pt x="1964754" y="35087"/>
                </a:cubicBezTo>
                <a:lnTo>
                  <a:pt x="1964754" y="491187"/>
                </a:lnTo>
                <a:cubicBezTo>
                  <a:pt x="1964754" y="510565"/>
                  <a:pt x="1949045" y="526273"/>
                  <a:pt x="1929667" y="526273"/>
                </a:cubicBezTo>
                <a:lnTo>
                  <a:pt x="35087" y="526273"/>
                </a:lnTo>
                <a:cubicBezTo>
                  <a:pt x="15709" y="526273"/>
                  <a:pt x="0" y="510565"/>
                  <a:pt x="0" y="491187"/>
                </a:cubicBezTo>
                <a:lnTo>
                  <a:pt x="0" y="35087"/>
                </a:lnTo>
                <a:cubicBezTo>
                  <a:pt x="0" y="15722"/>
                  <a:pt x="15722" y="0"/>
                  <a:pt x="3508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61358" y="4140017"/>
            <a:ext cx="187704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demanda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61358" y="4280245"/>
            <a:ext cx="19121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1188" y="4666179"/>
            <a:ext cx="1964754" cy="526273"/>
          </a:xfrm>
          <a:custGeom>
            <a:avLst/>
            <a:gdLst/>
            <a:ahLst/>
            <a:cxnLst/>
            <a:rect l="l" t="t" r="r" b="b"/>
            <a:pathLst>
              <a:path w="1964754" h="526273">
                <a:moveTo>
                  <a:pt x="35087" y="0"/>
                </a:moveTo>
                <a:lnTo>
                  <a:pt x="1929667" y="0"/>
                </a:lnTo>
                <a:cubicBezTo>
                  <a:pt x="1949045" y="0"/>
                  <a:pt x="1964754" y="15709"/>
                  <a:pt x="1964754" y="35087"/>
                </a:cubicBezTo>
                <a:lnTo>
                  <a:pt x="1964754" y="491187"/>
                </a:lnTo>
                <a:cubicBezTo>
                  <a:pt x="1964754" y="510565"/>
                  <a:pt x="1949045" y="526273"/>
                  <a:pt x="1929667" y="526273"/>
                </a:cubicBezTo>
                <a:lnTo>
                  <a:pt x="35087" y="526273"/>
                </a:lnTo>
                <a:cubicBezTo>
                  <a:pt x="15709" y="526273"/>
                  <a:pt x="0" y="510565"/>
                  <a:pt x="0" y="491187"/>
                </a:cubicBezTo>
                <a:lnTo>
                  <a:pt x="0" y="35087"/>
                </a:lnTo>
                <a:cubicBezTo>
                  <a:pt x="0" y="15722"/>
                  <a:pt x="15722" y="0"/>
                  <a:pt x="3508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61358" y="4736349"/>
            <a:ext cx="187704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ticket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61358" y="4876582"/>
            <a:ext cx="19121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+10%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94697" y="5266024"/>
            <a:ext cx="1954228" cy="533290"/>
          </a:xfrm>
          <a:custGeom>
            <a:avLst/>
            <a:gdLst/>
            <a:ahLst/>
            <a:cxnLst/>
            <a:rect l="l" t="t" r="r" b="b"/>
            <a:pathLst>
              <a:path w="1954228" h="533290">
                <a:moveTo>
                  <a:pt x="35085" y="0"/>
                </a:moveTo>
                <a:lnTo>
                  <a:pt x="1919143" y="0"/>
                </a:lnTo>
                <a:cubicBezTo>
                  <a:pt x="1938520" y="0"/>
                  <a:pt x="1954228" y="15708"/>
                  <a:pt x="1954228" y="35085"/>
                </a:cubicBezTo>
                <a:lnTo>
                  <a:pt x="1954228" y="498205"/>
                </a:lnTo>
                <a:cubicBezTo>
                  <a:pt x="1954228" y="517582"/>
                  <a:pt x="1938520" y="533290"/>
                  <a:pt x="1919143" y="533290"/>
                </a:cubicBezTo>
                <a:lnTo>
                  <a:pt x="35085" y="533290"/>
                </a:lnTo>
                <a:cubicBezTo>
                  <a:pt x="15708" y="533290"/>
                  <a:pt x="0" y="517582"/>
                  <a:pt x="0" y="49820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375" y="5339700"/>
            <a:ext cx="185949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ingresos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68375" y="5479933"/>
            <a:ext cx="189458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+26.5%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683117" y="3683914"/>
            <a:ext cx="2192806" cy="2227891"/>
          </a:xfrm>
          <a:custGeom>
            <a:avLst/>
            <a:gdLst/>
            <a:ahLst/>
            <a:cxnLst/>
            <a:rect l="l" t="t" r="r" b="b"/>
            <a:pathLst>
              <a:path w="2192806" h="2227891">
                <a:moveTo>
                  <a:pt x="35085" y="0"/>
                </a:moveTo>
                <a:lnTo>
                  <a:pt x="2122636" y="0"/>
                </a:lnTo>
                <a:cubicBezTo>
                  <a:pt x="2161390" y="0"/>
                  <a:pt x="2192806" y="31416"/>
                  <a:pt x="2192806" y="70170"/>
                </a:cubicBezTo>
                <a:lnTo>
                  <a:pt x="2192806" y="2157721"/>
                </a:lnTo>
                <a:cubicBezTo>
                  <a:pt x="2192806" y="2196475"/>
                  <a:pt x="2161390" y="2227891"/>
                  <a:pt x="2122636" y="2227891"/>
                </a:cubicBezTo>
                <a:lnTo>
                  <a:pt x="35085" y="2227891"/>
                </a:lnTo>
                <a:cubicBezTo>
                  <a:pt x="15708" y="2227891"/>
                  <a:pt x="0" y="2212183"/>
                  <a:pt x="0" y="219280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83117" y="3683914"/>
            <a:ext cx="35085" cy="2227891"/>
          </a:xfrm>
          <a:custGeom>
            <a:avLst/>
            <a:gdLst/>
            <a:ahLst/>
            <a:cxnLst/>
            <a:rect l="l" t="t" r="r" b="b"/>
            <a:pathLst>
              <a:path w="35085" h="2227891">
                <a:moveTo>
                  <a:pt x="35085" y="0"/>
                </a:moveTo>
                <a:lnTo>
                  <a:pt x="35085" y="0"/>
                </a:lnTo>
                <a:lnTo>
                  <a:pt x="35085" y="2227891"/>
                </a:lnTo>
                <a:lnTo>
                  <a:pt x="35085" y="2227891"/>
                </a:lnTo>
                <a:cubicBezTo>
                  <a:pt x="15708" y="2227891"/>
                  <a:pt x="0" y="2212183"/>
                  <a:pt x="0" y="219280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7" name="Shape 24"/>
          <p:cNvSpPr/>
          <p:nvPr/>
        </p:nvSpPr>
        <p:spPr>
          <a:xfrm>
            <a:off x="2805914" y="3824253"/>
            <a:ext cx="175424" cy="140340"/>
          </a:xfrm>
          <a:custGeom>
            <a:avLst/>
            <a:gdLst/>
            <a:ahLst/>
            <a:cxnLst/>
            <a:rect l="l" t="t" r="r" b="b"/>
            <a:pathLst>
              <a:path w="175424" h="140340">
                <a:moveTo>
                  <a:pt x="105255" y="8771"/>
                </a:moveTo>
                <a:lnTo>
                  <a:pt x="140340" y="8771"/>
                </a:lnTo>
                <a:cubicBezTo>
                  <a:pt x="145191" y="8771"/>
                  <a:pt x="149111" y="12691"/>
                  <a:pt x="149111" y="17542"/>
                </a:cubicBezTo>
                <a:cubicBezTo>
                  <a:pt x="149111" y="22394"/>
                  <a:pt x="145191" y="26314"/>
                  <a:pt x="140340" y="26314"/>
                </a:cubicBezTo>
                <a:lnTo>
                  <a:pt x="109202" y="26314"/>
                </a:lnTo>
                <a:cubicBezTo>
                  <a:pt x="107776" y="33385"/>
                  <a:pt x="102925" y="39224"/>
                  <a:pt x="96483" y="42020"/>
                </a:cubicBezTo>
                <a:lnTo>
                  <a:pt x="96483" y="122797"/>
                </a:lnTo>
                <a:lnTo>
                  <a:pt x="140340" y="122797"/>
                </a:lnTo>
                <a:cubicBezTo>
                  <a:pt x="145191" y="122797"/>
                  <a:pt x="149111" y="126717"/>
                  <a:pt x="149111" y="131568"/>
                </a:cubicBezTo>
                <a:cubicBezTo>
                  <a:pt x="149111" y="136420"/>
                  <a:pt x="145191" y="140340"/>
                  <a:pt x="140340" y="140340"/>
                </a:cubicBezTo>
                <a:lnTo>
                  <a:pt x="35085" y="140340"/>
                </a:lnTo>
                <a:cubicBezTo>
                  <a:pt x="30233" y="140340"/>
                  <a:pt x="26314" y="136420"/>
                  <a:pt x="26314" y="131568"/>
                </a:cubicBezTo>
                <a:cubicBezTo>
                  <a:pt x="26314" y="126717"/>
                  <a:pt x="30233" y="122797"/>
                  <a:pt x="35085" y="122797"/>
                </a:cubicBezTo>
                <a:lnTo>
                  <a:pt x="78941" y="122797"/>
                </a:lnTo>
                <a:lnTo>
                  <a:pt x="78941" y="42020"/>
                </a:lnTo>
                <a:cubicBezTo>
                  <a:pt x="72500" y="39196"/>
                  <a:pt x="67648" y="33358"/>
                  <a:pt x="66223" y="26314"/>
                </a:cubicBezTo>
                <a:lnTo>
                  <a:pt x="35085" y="26314"/>
                </a:lnTo>
                <a:cubicBezTo>
                  <a:pt x="30233" y="26314"/>
                  <a:pt x="26314" y="22394"/>
                  <a:pt x="26314" y="17542"/>
                </a:cubicBezTo>
                <a:cubicBezTo>
                  <a:pt x="26314" y="12691"/>
                  <a:pt x="30233" y="8771"/>
                  <a:pt x="35085" y="8771"/>
                </a:cubicBezTo>
                <a:lnTo>
                  <a:pt x="70170" y="8771"/>
                </a:lnTo>
                <a:cubicBezTo>
                  <a:pt x="74172" y="3454"/>
                  <a:pt x="80531" y="0"/>
                  <a:pt x="87712" y="0"/>
                </a:cubicBezTo>
                <a:cubicBezTo>
                  <a:pt x="94894" y="0"/>
                  <a:pt x="101253" y="3454"/>
                  <a:pt x="105255" y="8771"/>
                </a:cubicBezTo>
                <a:close/>
                <a:moveTo>
                  <a:pt x="120495" y="87712"/>
                </a:moveTo>
                <a:lnTo>
                  <a:pt x="160184" y="87712"/>
                </a:lnTo>
                <a:lnTo>
                  <a:pt x="140340" y="53669"/>
                </a:lnTo>
                <a:lnTo>
                  <a:pt x="120495" y="87712"/>
                </a:lnTo>
                <a:close/>
                <a:moveTo>
                  <a:pt x="140340" y="114026"/>
                </a:moveTo>
                <a:cubicBezTo>
                  <a:pt x="123099" y="114026"/>
                  <a:pt x="108763" y="104706"/>
                  <a:pt x="105803" y="92399"/>
                </a:cubicBezTo>
                <a:cubicBezTo>
                  <a:pt x="105090" y="89384"/>
                  <a:pt x="106077" y="86287"/>
                  <a:pt x="107639" y="83601"/>
                </a:cubicBezTo>
                <a:lnTo>
                  <a:pt x="133734" y="38867"/>
                </a:lnTo>
                <a:cubicBezTo>
                  <a:pt x="135104" y="36510"/>
                  <a:pt x="137626" y="35085"/>
                  <a:pt x="140340" y="35085"/>
                </a:cubicBezTo>
                <a:cubicBezTo>
                  <a:pt x="143053" y="35085"/>
                  <a:pt x="145575" y="36538"/>
                  <a:pt x="146945" y="38867"/>
                </a:cubicBezTo>
                <a:lnTo>
                  <a:pt x="173040" y="83601"/>
                </a:lnTo>
                <a:cubicBezTo>
                  <a:pt x="174602" y="86287"/>
                  <a:pt x="175589" y="89384"/>
                  <a:pt x="174876" y="92399"/>
                </a:cubicBezTo>
                <a:cubicBezTo>
                  <a:pt x="171916" y="104679"/>
                  <a:pt x="157581" y="114026"/>
                  <a:pt x="140340" y="114026"/>
                </a:cubicBezTo>
                <a:close/>
                <a:moveTo>
                  <a:pt x="34756" y="53669"/>
                </a:moveTo>
                <a:lnTo>
                  <a:pt x="14911" y="87712"/>
                </a:lnTo>
                <a:lnTo>
                  <a:pt x="54628" y="87712"/>
                </a:lnTo>
                <a:lnTo>
                  <a:pt x="34756" y="53669"/>
                </a:lnTo>
                <a:close/>
                <a:moveTo>
                  <a:pt x="247" y="92399"/>
                </a:moveTo>
                <a:cubicBezTo>
                  <a:pt x="-466" y="89384"/>
                  <a:pt x="521" y="86287"/>
                  <a:pt x="2083" y="83601"/>
                </a:cubicBezTo>
                <a:lnTo>
                  <a:pt x="28178" y="38867"/>
                </a:lnTo>
                <a:cubicBezTo>
                  <a:pt x="29548" y="36510"/>
                  <a:pt x="32070" y="35085"/>
                  <a:pt x="34783" y="35085"/>
                </a:cubicBezTo>
                <a:cubicBezTo>
                  <a:pt x="37497" y="35085"/>
                  <a:pt x="40019" y="36538"/>
                  <a:pt x="41389" y="38867"/>
                </a:cubicBezTo>
                <a:lnTo>
                  <a:pt x="67484" y="83601"/>
                </a:lnTo>
                <a:cubicBezTo>
                  <a:pt x="69046" y="86287"/>
                  <a:pt x="70033" y="89384"/>
                  <a:pt x="69320" y="92399"/>
                </a:cubicBezTo>
                <a:cubicBezTo>
                  <a:pt x="66360" y="104679"/>
                  <a:pt x="52024" y="114026"/>
                  <a:pt x="34783" y="114026"/>
                </a:cubicBezTo>
                <a:cubicBezTo>
                  <a:pt x="17542" y="114026"/>
                  <a:pt x="3207" y="104706"/>
                  <a:pt x="247" y="9239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8" name="Text 25"/>
          <p:cNvSpPr/>
          <p:nvPr/>
        </p:nvSpPr>
        <p:spPr>
          <a:xfrm>
            <a:off x="2981339" y="3789168"/>
            <a:ext cx="185949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Escenario Base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805914" y="4069847"/>
            <a:ext cx="1964754" cy="526273"/>
          </a:xfrm>
          <a:custGeom>
            <a:avLst/>
            <a:gdLst/>
            <a:ahLst/>
            <a:cxnLst/>
            <a:rect l="l" t="t" r="r" b="b"/>
            <a:pathLst>
              <a:path w="1964754" h="526273">
                <a:moveTo>
                  <a:pt x="35087" y="0"/>
                </a:moveTo>
                <a:lnTo>
                  <a:pt x="1929667" y="0"/>
                </a:lnTo>
                <a:cubicBezTo>
                  <a:pt x="1949045" y="0"/>
                  <a:pt x="1964754" y="15709"/>
                  <a:pt x="1964754" y="35087"/>
                </a:cubicBezTo>
                <a:lnTo>
                  <a:pt x="1964754" y="491187"/>
                </a:lnTo>
                <a:cubicBezTo>
                  <a:pt x="1964754" y="510565"/>
                  <a:pt x="1949045" y="526273"/>
                  <a:pt x="1929667" y="526273"/>
                </a:cubicBezTo>
                <a:lnTo>
                  <a:pt x="35087" y="526273"/>
                </a:lnTo>
                <a:cubicBezTo>
                  <a:pt x="15709" y="526273"/>
                  <a:pt x="0" y="510565"/>
                  <a:pt x="0" y="491187"/>
                </a:cubicBezTo>
                <a:lnTo>
                  <a:pt x="0" y="35087"/>
                </a:lnTo>
                <a:cubicBezTo>
                  <a:pt x="0" y="15722"/>
                  <a:pt x="15722" y="0"/>
                  <a:pt x="3508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2876084" y="4140017"/>
            <a:ext cx="187704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demanda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876084" y="4280245"/>
            <a:ext cx="19121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805914" y="4666179"/>
            <a:ext cx="1964754" cy="526273"/>
          </a:xfrm>
          <a:custGeom>
            <a:avLst/>
            <a:gdLst/>
            <a:ahLst/>
            <a:cxnLst/>
            <a:rect l="l" t="t" r="r" b="b"/>
            <a:pathLst>
              <a:path w="1964754" h="526273">
                <a:moveTo>
                  <a:pt x="35087" y="0"/>
                </a:moveTo>
                <a:lnTo>
                  <a:pt x="1929667" y="0"/>
                </a:lnTo>
                <a:cubicBezTo>
                  <a:pt x="1949045" y="0"/>
                  <a:pt x="1964754" y="15709"/>
                  <a:pt x="1964754" y="35087"/>
                </a:cubicBezTo>
                <a:lnTo>
                  <a:pt x="1964754" y="491187"/>
                </a:lnTo>
                <a:cubicBezTo>
                  <a:pt x="1964754" y="510565"/>
                  <a:pt x="1949045" y="526273"/>
                  <a:pt x="1929667" y="526273"/>
                </a:cubicBezTo>
                <a:lnTo>
                  <a:pt x="35087" y="526273"/>
                </a:lnTo>
                <a:cubicBezTo>
                  <a:pt x="15709" y="526273"/>
                  <a:pt x="0" y="510565"/>
                  <a:pt x="0" y="491187"/>
                </a:cubicBezTo>
                <a:lnTo>
                  <a:pt x="0" y="35087"/>
                </a:lnTo>
                <a:cubicBezTo>
                  <a:pt x="0" y="15722"/>
                  <a:pt x="15722" y="0"/>
                  <a:pt x="3508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2876084" y="4736349"/>
            <a:ext cx="187704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ticket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876084" y="4876582"/>
            <a:ext cx="19121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809423" y="5266024"/>
            <a:ext cx="1954228" cy="533290"/>
          </a:xfrm>
          <a:custGeom>
            <a:avLst/>
            <a:gdLst/>
            <a:ahLst/>
            <a:cxnLst/>
            <a:rect l="l" t="t" r="r" b="b"/>
            <a:pathLst>
              <a:path w="1954228" h="533290">
                <a:moveTo>
                  <a:pt x="35085" y="0"/>
                </a:moveTo>
                <a:lnTo>
                  <a:pt x="1919143" y="0"/>
                </a:lnTo>
                <a:cubicBezTo>
                  <a:pt x="1938520" y="0"/>
                  <a:pt x="1954228" y="15708"/>
                  <a:pt x="1954228" y="35085"/>
                </a:cubicBezTo>
                <a:lnTo>
                  <a:pt x="1954228" y="498205"/>
                </a:lnTo>
                <a:cubicBezTo>
                  <a:pt x="1954228" y="517582"/>
                  <a:pt x="1938520" y="533290"/>
                  <a:pt x="1919143" y="533290"/>
                </a:cubicBezTo>
                <a:lnTo>
                  <a:pt x="35085" y="533290"/>
                </a:lnTo>
                <a:cubicBezTo>
                  <a:pt x="15708" y="533290"/>
                  <a:pt x="0" y="517582"/>
                  <a:pt x="0" y="49820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883101" y="5339700"/>
            <a:ext cx="185949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Ingresos base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883101" y="5479933"/>
            <a:ext cx="189458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$54.8M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997953" y="3683914"/>
            <a:ext cx="2192806" cy="2227891"/>
          </a:xfrm>
          <a:custGeom>
            <a:avLst/>
            <a:gdLst/>
            <a:ahLst/>
            <a:cxnLst/>
            <a:rect l="l" t="t" r="r" b="b"/>
            <a:pathLst>
              <a:path w="2192806" h="2227891">
                <a:moveTo>
                  <a:pt x="35085" y="0"/>
                </a:moveTo>
                <a:lnTo>
                  <a:pt x="2122636" y="0"/>
                </a:lnTo>
                <a:cubicBezTo>
                  <a:pt x="2161390" y="0"/>
                  <a:pt x="2192806" y="31416"/>
                  <a:pt x="2192806" y="70170"/>
                </a:cubicBezTo>
                <a:lnTo>
                  <a:pt x="2192806" y="2157721"/>
                </a:lnTo>
                <a:cubicBezTo>
                  <a:pt x="2192806" y="2196475"/>
                  <a:pt x="2161390" y="2227891"/>
                  <a:pt x="2122636" y="2227891"/>
                </a:cubicBezTo>
                <a:lnTo>
                  <a:pt x="35085" y="2227891"/>
                </a:lnTo>
                <a:cubicBezTo>
                  <a:pt x="15708" y="2227891"/>
                  <a:pt x="0" y="2212183"/>
                  <a:pt x="0" y="219280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997953" y="3683914"/>
            <a:ext cx="35085" cy="2227891"/>
          </a:xfrm>
          <a:custGeom>
            <a:avLst/>
            <a:gdLst/>
            <a:ahLst/>
            <a:cxnLst/>
            <a:rect l="l" t="t" r="r" b="b"/>
            <a:pathLst>
              <a:path w="35085" h="2227891">
                <a:moveTo>
                  <a:pt x="35085" y="0"/>
                </a:moveTo>
                <a:lnTo>
                  <a:pt x="35085" y="0"/>
                </a:lnTo>
                <a:lnTo>
                  <a:pt x="35085" y="2227891"/>
                </a:lnTo>
                <a:lnTo>
                  <a:pt x="35085" y="2227891"/>
                </a:lnTo>
                <a:cubicBezTo>
                  <a:pt x="15708" y="2227891"/>
                  <a:pt x="0" y="2212183"/>
                  <a:pt x="0" y="219280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0" name="Shape 37"/>
          <p:cNvSpPr/>
          <p:nvPr/>
        </p:nvSpPr>
        <p:spPr>
          <a:xfrm>
            <a:off x="5138292" y="3824253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18063" y="62632"/>
                </a:moveTo>
                <a:cubicBezTo>
                  <a:pt x="21709" y="37141"/>
                  <a:pt x="43664" y="17542"/>
                  <a:pt x="70170" y="17542"/>
                </a:cubicBezTo>
                <a:cubicBezTo>
                  <a:pt x="84697" y="17542"/>
                  <a:pt x="97854" y="23436"/>
                  <a:pt x="107393" y="32947"/>
                </a:cubicBezTo>
                <a:cubicBezTo>
                  <a:pt x="107447" y="33002"/>
                  <a:pt x="107502" y="33057"/>
                  <a:pt x="107557" y="33111"/>
                </a:cubicBezTo>
                <a:lnTo>
                  <a:pt x="109640" y="35085"/>
                </a:lnTo>
                <a:lnTo>
                  <a:pt x="96511" y="35085"/>
                </a:lnTo>
                <a:cubicBezTo>
                  <a:pt x="91659" y="35085"/>
                  <a:pt x="87740" y="39005"/>
                  <a:pt x="87740" y="43856"/>
                </a:cubicBezTo>
                <a:cubicBezTo>
                  <a:pt x="87740" y="48708"/>
                  <a:pt x="91659" y="52627"/>
                  <a:pt x="96511" y="52627"/>
                </a:cubicBezTo>
                <a:lnTo>
                  <a:pt x="131596" y="52627"/>
                </a:lnTo>
                <a:cubicBezTo>
                  <a:pt x="136447" y="52627"/>
                  <a:pt x="140367" y="48708"/>
                  <a:pt x="140367" y="43856"/>
                </a:cubicBezTo>
                <a:lnTo>
                  <a:pt x="140367" y="8771"/>
                </a:lnTo>
                <a:cubicBezTo>
                  <a:pt x="140367" y="3920"/>
                  <a:pt x="136447" y="0"/>
                  <a:pt x="131596" y="0"/>
                </a:cubicBezTo>
                <a:cubicBezTo>
                  <a:pt x="126744" y="0"/>
                  <a:pt x="122825" y="3920"/>
                  <a:pt x="122825" y="8771"/>
                </a:cubicBezTo>
                <a:lnTo>
                  <a:pt x="122825" y="23408"/>
                </a:lnTo>
                <a:lnTo>
                  <a:pt x="119727" y="20475"/>
                </a:lnTo>
                <a:cubicBezTo>
                  <a:pt x="107036" y="7839"/>
                  <a:pt x="89494" y="0"/>
                  <a:pt x="70170" y="0"/>
                </a:cubicBezTo>
                <a:cubicBezTo>
                  <a:pt x="34811" y="0"/>
                  <a:pt x="5564" y="26149"/>
                  <a:pt x="713" y="60165"/>
                </a:cubicBezTo>
                <a:cubicBezTo>
                  <a:pt x="27" y="64962"/>
                  <a:pt x="3344" y="69402"/>
                  <a:pt x="8141" y="70088"/>
                </a:cubicBezTo>
                <a:cubicBezTo>
                  <a:pt x="12938" y="70773"/>
                  <a:pt x="17378" y="67429"/>
                  <a:pt x="18063" y="62659"/>
                </a:cubicBezTo>
                <a:close/>
                <a:moveTo>
                  <a:pt x="139627" y="80174"/>
                </a:moveTo>
                <a:cubicBezTo>
                  <a:pt x="140312" y="75378"/>
                  <a:pt x="136968" y="70937"/>
                  <a:pt x="132199" y="70252"/>
                </a:cubicBezTo>
                <a:cubicBezTo>
                  <a:pt x="127429" y="69567"/>
                  <a:pt x="122962" y="72911"/>
                  <a:pt x="122276" y="77680"/>
                </a:cubicBezTo>
                <a:cubicBezTo>
                  <a:pt x="118631" y="103172"/>
                  <a:pt x="96675" y="122770"/>
                  <a:pt x="70170" y="122770"/>
                </a:cubicBezTo>
                <a:cubicBezTo>
                  <a:pt x="55642" y="122770"/>
                  <a:pt x="42486" y="116877"/>
                  <a:pt x="32947" y="107365"/>
                </a:cubicBezTo>
                <a:cubicBezTo>
                  <a:pt x="32892" y="107310"/>
                  <a:pt x="32837" y="107256"/>
                  <a:pt x="32782" y="107201"/>
                </a:cubicBezTo>
                <a:lnTo>
                  <a:pt x="30699" y="105227"/>
                </a:lnTo>
                <a:lnTo>
                  <a:pt x="43829" y="105227"/>
                </a:lnTo>
                <a:cubicBezTo>
                  <a:pt x="48680" y="105227"/>
                  <a:pt x="52600" y="101308"/>
                  <a:pt x="52600" y="96456"/>
                </a:cubicBezTo>
                <a:cubicBezTo>
                  <a:pt x="52600" y="91604"/>
                  <a:pt x="48680" y="87685"/>
                  <a:pt x="43829" y="87685"/>
                </a:cubicBezTo>
                <a:lnTo>
                  <a:pt x="8771" y="87712"/>
                </a:lnTo>
                <a:cubicBezTo>
                  <a:pt x="6441" y="87712"/>
                  <a:pt x="4194" y="88644"/>
                  <a:pt x="2549" y="90316"/>
                </a:cubicBezTo>
                <a:cubicBezTo>
                  <a:pt x="905" y="91988"/>
                  <a:pt x="-27" y="94208"/>
                  <a:pt x="0" y="96566"/>
                </a:cubicBezTo>
                <a:lnTo>
                  <a:pt x="274" y="131376"/>
                </a:lnTo>
                <a:cubicBezTo>
                  <a:pt x="302" y="136228"/>
                  <a:pt x="4276" y="140120"/>
                  <a:pt x="9128" y="140065"/>
                </a:cubicBezTo>
                <a:cubicBezTo>
                  <a:pt x="13979" y="140011"/>
                  <a:pt x="17871" y="136064"/>
                  <a:pt x="17817" y="131212"/>
                </a:cubicBezTo>
                <a:lnTo>
                  <a:pt x="17707" y="117096"/>
                </a:lnTo>
                <a:lnTo>
                  <a:pt x="20640" y="119864"/>
                </a:lnTo>
                <a:cubicBezTo>
                  <a:pt x="33331" y="132500"/>
                  <a:pt x="50846" y="140340"/>
                  <a:pt x="70170" y="140340"/>
                </a:cubicBezTo>
                <a:cubicBezTo>
                  <a:pt x="105529" y="140340"/>
                  <a:pt x="134775" y="114190"/>
                  <a:pt x="139627" y="80174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1" name="Text 38"/>
          <p:cNvSpPr/>
          <p:nvPr/>
        </p:nvSpPr>
        <p:spPr>
          <a:xfrm>
            <a:off x="5296174" y="3789168"/>
            <a:ext cx="185949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Escenario Conservador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120750" y="4069847"/>
            <a:ext cx="1964754" cy="526273"/>
          </a:xfrm>
          <a:custGeom>
            <a:avLst/>
            <a:gdLst/>
            <a:ahLst/>
            <a:cxnLst/>
            <a:rect l="l" t="t" r="r" b="b"/>
            <a:pathLst>
              <a:path w="1964754" h="526273">
                <a:moveTo>
                  <a:pt x="35087" y="0"/>
                </a:moveTo>
                <a:lnTo>
                  <a:pt x="1929667" y="0"/>
                </a:lnTo>
                <a:cubicBezTo>
                  <a:pt x="1949045" y="0"/>
                  <a:pt x="1964754" y="15709"/>
                  <a:pt x="1964754" y="35087"/>
                </a:cubicBezTo>
                <a:lnTo>
                  <a:pt x="1964754" y="491187"/>
                </a:lnTo>
                <a:cubicBezTo>
                  <a:pt x="1964754" y="510565"/>
                  <a:pt x="1949045" y="526273"/>
                  <a:pt x="1929667" y="526273"/>
                </a:cubicBezTo>
                <a:lnTo>
                  <a:pt x="35087" y="526273"/>
                </a:lnTo>
                <a:cubicBezTo>
                  <a:pt x="15709" y="526273"/>
                  <a:pt x="0" y="510565"/>
                  <a:pt x="0" y="491187"/>
                </a:cubicBezTo>
                <a:lnTo>
                  <a:pt x="0" y="35087"/>
                </a:lnTo>
                <a:cubicBezTo>
                  <a:pt x="0" y="15722"/>
                  <a:pt x="15722" y="0"/>
                  <a:pt x="3508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190919" y="4140017"/>
            <a:ext cx="187704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demanda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190919" y="4280245"/>
            <a:ext cx="19121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-10%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120750" y="4666179"/>
            <a:ext cx="1964754" cy="526273"/>
          </a:xfrm>
          <a:custGeom>
            <a:avLst/>
            <a:gdLst/>
            <a:ahLst/>
            <a:cxnLst/>
            <a:rect l="l" t="t" r="r" b="b"/>
            <a:pathLst>
              <a:path w="1964754" h="526273">
                <a:moveTo>
                  <a:pt x="35087" y="0"/>
                </a:moveTo>
                <a:lnTo>
                  <a:pt x="1929667" y="0"/>
                </a:lnTo>
                <a:cubicBezTo>
                  <a:pt x="1949045" y="0"/>
                  <a:pt x="1964754" y="15709"/>
                  <a:pt x="1964754" y="35087"/>
                </a:cubicBezTo>
                <a:lnTo>
                  <a:pt x="1964754" y="491187"/>
                </a:lnTo>
                <a:cubicBezTo>
                  <a:pt x="1964754" y="510565"/>
                  <a:pt x="1949045" y="526273"/>
                  <a:pt x="1929667" y="526273"/>
                </a:cubicBezTo>
                <a:lnTo>
                  <a:pt x="35087" y="526273"/>
                </a:lnTo>
                <a:cubicBezTo>
                  <a:pt x="15709" y="526273"/>
                  <a:pt x="0" y="510565"/>
                  <a:pt x="0" y="491187"/>
                </a:cubicBezTo>
                <a:lnTo>
                  <a:pt x="0" y="35087"/>
                </a:lnTo>
                <a:cubicBezTo>
                  <a:pt x="0" y="15722"/>
                  <a:pt x="15722" y="0"/>
                  <a:pt x="35087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5190919" y="4736349"/>
            <a:ext cx="187704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ticket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190919" y="4876582"/>
            <a:ext cx="191212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-5%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124258" y="5266024"/>
            <a:ext cx="1954228" cy="533290"/>
          </a:xfrm>
          <a:custGeom>
            <a:avLst/>
            <a:gdLst/>
            <a:ahLst/>
            <a:cxnLst/>
            <a:rect l="l" t="t" r="r" b="b"/>
            <a:pathLst>
              <a:path w="1954228" h="533290">
                <a:moveTo>
                  <a:pt x="35085" y="0"/>
                </a:moveTo>
                <a:lnTo>
                  <a:pt x="1919143" y="0"/>
                </a:lnTo>
                <a:cubicBezTo>
                  <a:pt x="1938520" y="0"/>
                  <a:pt x="1954228" y="15708"/>
                  <a:pt x="1954228" y="35085"/>
                </a:cubicBezTo>
                <a:lnTo>
                  <a:pt x="1954228" y="498205"/>
                </a:lnTo>
                <a:cubicBezTo>
                  <a:pt x="1954228" y="517582"/>
                  <a:pt x="1938520" y="533290"/>
                  <a:pt x="1919143" y="533290"/>
                </a:cubicBezTo>
                <a:lnTo>
                  <a:pt x="35085" y="533290"/>
                </a:lnTo>
                <a:cubicBezTo>
                  <a:pt x="15708" y="533290"/>
                  <a:pt x="0" y="517582"/>
                  <a:pt x="0" y="49820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97936" y="5339700"/>
            <a:ext cx="185949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 ingresos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197936" y="5479933"/>
            <a:ext cx="189458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-14.5%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333839" y="1091140"/>
            <a:ext cx="4506654" cy="2208594"/>
          </a:xfrm>
          <a:custGeom>
            <a:avLst/>
            <a:gdLst/>
            <a:ahLst/>
            <a:cxnLst/>
            <a:rect l="l" t="t" r="r" b="b"/>
            <a:pathLst>
              <a:path w="4506654" h="2208594">
                <a:moveTo>
                  <a:pt x="70167" y="0"/>
                </a:moveTo>
                <a:lnTo>
                  <a:pt x="4436487" y="0"/>
                </a:lnTo>
                <a:cubicBezTo>
                  <a:pt x="4475240" y="0"/>
                  <a:pt x="4506654" y="31415"/>
                  <a:pt x="4506654" y="70167"/>
                </a:cubicBezTo>
                <a:lnTo>
                  <a:pt x="4506654" y="2138427"/>
                </a:lnTo>
                <a:cubicBezTo>
                  <a:pt x="4506654" y="2177179"/>
                  <a:pt x="4475240" y="2208594"/>
                  <a:pt x="4436487" y="2208594"/>
                </a:cubicBezTo>
                <a:lnTo>
                  <a:pt x="70167" y="2208594"/>
                </a:lnTo>
                <a:cubicBezTo>
                  <a:pt x="31415" y="2208594"/>
                  <a:pt x="0" y="2177179"/>
                  <a:pt x="0" y="2138427"/>
                </a:cubicBezTo>
                <a:lnTo>
                  <a:pt x="0" y="70167"/>
                </a:lnTo>
                <a:cubicBezTo>
                  <a:pt x="0" y="31441"/>
                  <a:pt x="31441" y="0"/>
                  <a:pt x="70167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442602" y="1234986"/>
            <a:ext cx="175424" cy="140340"/>
          </a:xfrm>
          <a:custGeom>
            <a:avLst/>
            <a:gdLst/>
            <a:ahLst/>
            <a:cxnLst/>
            <a:rect l="l" t="t" r="r" b="b"/>
            <a:pathLst>
              <a:path w="175424" h="140340">
                <a:moveTo>
                  <a:pt x="113998" y="57698"/>
                </a:moveTo>
                <a:cubicBezTo>
                  <a:pt x="117343" y="56794"/>
                  <a:pt x="120851" y="58383"/>
                  <a:pt x="122359" y="61481"/>
                </a:cubicBezTo>
                <a:lnTo>
                  <a:pt x="127457" y="71787"/>
                </a:lnTo>
                <a:cubicBezTo>
                  <a:pt x="130280" y="72171"/>
                  <a:pt x="133048" y="72938"/>
                  <a:pt x="135652" y="74007"/>
                </a:cubicBezTo>
                <a:lnTo>
                  <a:pt x="145246" y="67621"/>
                </a:lnTo>
                <a:cubicBezTo>
                  <a:pt x="148124" y="65702"/>
                  <a:pt x="151934" y="66086"/>
                  <a:pt x="154374" y="68525"/>
                </a:cubicBezTo>
                <a:lnTo>
                  <a:pt x="159636" y="73788"/>
                </a:lnTo>
                <a:cubicBezTo>
                  <a:pt x="162076" y="76227"/>
                  <a:pt x="162459" y="80065"/>
                  <a:pt x="160541" y="82915"/>
                </a:cubicBezTo>
                <a:lnTo>
                  <a:pt x="154154" y="92482"/>
                </a:lnTo>
                <a:cubicBezTo>
                  <a:pt x="154675" y="93770"/>
                  <a:pt x="155141" y="95113"/>
                  <a:pt x="155525" y="96511"/>
                </a:cubicBezTo>
                <a:cubicBezTo>
                  <a:pt x="155908" y="97909"/>
                  <a:pt x="156155" y="99279"/>
                  <a:pt x="156347" y="100677"/>
                </a:cubicBezTo>
                <a:lnTo>
                  <a:pt x="166681" y="105775"/>
                </a:lnTo>
                <a:cubicBezTo>
                  <a:pt x="169778" y="107310"/>
                  <a:pt x="171368" y="110819"/>
                  <a:pt x="170463" y="114136"/>
                </a:cubicBezTo>
                <a:lnTo>
                  <a:pt x="168545" y="121317"/>
                </a:lnTo>
                <a:cubicBezTo>
                  <a:pt x="167640" y="124634"/>
                  <a:pt x="164543" y="126881"/>
                  <a:pt x="161089" y="126662"/>
                </a:cubicBezTo>
                <a:lnTo>
                  <a:pt x="149577" y="125922"/>
                </a:lnTo>
                <a:cubicBezTo>
                  <a:pt x="147850" y="128142"/>
                  <a:pt x="145849" y="130198"/>
                  <a:pt x="143574" y="131952"/>
                </a:cubicBezTo>
                <a:lnTo>
                  <a:pt x="144314" y="143437"/>
                </a:lnTo>
                <a:cubicBezTo>
                  <a:pt x="144533" y="146891"/>
                  <a:pt x="142286" y="150015"/>
                  <a:pt x="138969" y="150892"/>
                </a:cubicBezTo>
                <a:lnTo>
                  <a:pt x="131788" y="152811"/>
                </a:lnTo>
                <a:cubicBezTo>
                  <a:pt x="128444" y="153716"/>
                  <a:pt x="124963" y="152126"/>
                  <a:pt x="123428" y="149029"/>
                </a:cubicBezTo>
                <a:lnTo>
                  <a:pt x="118329" y="138722"/>
                </a:lnTo>
                <a:cubicBezTo>
                  <a:pt x="115506" y="138339"/>
                  <a:pt x="112738" y="137571"/>
                  <a:pt x="110134" y="136502"/>
                </a:cubicBezTo>
                <a:lnTo>
                  <a:pt x="100540" y="142889"/>
                </a:lnTo>
                <a:cubicBezTo>
                  <a:pt x="97662" y="144807"/>
                  <a:pt x="93852" y="144424"/>
                  <a:pt x="91413" y="141984"/>
                </a:cubicBezTo>
                <a:lnTo>
                  <a:pt x="86150" y="136721"/>
                </a:lnTo>
                <a:cubicBezTo>
                  <a:pt x="83710" y="134282"/>
                  <a:pt x="83327" y="130472"/>
                  <a:pt x="85245" y="127594"/>
                </a:cubicBezTo>
                <a:lnTo>
                  <a:pt x="91632" y="118000"/>
                </a:lnTo>
                <a:cubicBezTo>
                  <a:pt x="91111" y="116712"/>
                  <a:pt x="90645" y="115369"/>
                  <a:pt x="90261" y="113971"/>
                </a:cubicBezTo>
                <a:cubicBezTo>
                  <a:pt x="89878" y="112573"/>
                  <a:pt x="89631" y="111175"/>
                  <a:pt x="89439" y="109805"/>
                </a:cubicBezTo>
                <a:lnTo>
                  <a:pt x="79105" y="104706"/>
                </a:lnTo>
                <a:cubicBezTo>
                  <a:pt x="76008" y="103172"/>
                  <a:pt x="74446" y="99663"/>
                  <a:pt x="75323" y="96346"/>
                </a:cubicBezTo>
                <a:lnTo>
                  <a:pt x="77242" y="89165"/>
                </a:lnTo>
                <a:cubicBezTo>
                  <a:pt x="78146" y="85848"/>
                  <a:pt x="81243" y="83601"/>
                  <a:pt x="84697" y="83820"/>
                </a:cubicBezTo>
                <a:lnTo>
                  <a:pt x="96182" y="84560"/>
                </a:lnTo>
                <a:cubicBezTo>
                  <a:pt x="97909" y="82340"/>
                  <a:pt x="99910" y="80284"/>
                  <a:pt x="102185" y="78530"/>
                </a:cubicBezTo>
                <a:lnTo>
                  <a:pt x="101445" y="67072"/>
                </a:lnTo>
                <a:cubicBezTo>
                  <a:pt x="101225" y="63619"/>
                  <a:pt x="103473" y="60494"/>
                  <a:pt x="106790" y="59617"/>
                </a:cubicBezTo>
                <a:lnTo>
                  <a:pt x="113971" y="57698"/>
                </a:lnTo>
                <a:close/>
                <a:moveTo>
                  <a:pt x="122907" y="93194"/>
                </a:moveTo>
                <a:cubicBezTo>
                  <a:pt x="116250" y="93202"/>
                  <a:pt x="110852" y="98612"/>
                  <a:pt x="110860" y="105268"/>
                </a:cubicBezTo>
                <a:cubicBezTo>
                  <a:pt x="110868" y="111925"/>
                  <a:pt x="116278" y="117323"/>
                  <a:pt x="122934" y="117315"/>
                </a:cubicBezTo>
                <a:cubicBezTo>
                  <a:pt x="129591" y="117308"/>
                  <a:pt x="134988" y="111897"/>
                  <a:pt x="134981" y="105241"/>
                </a:cubicBezTo>
                <a:cubicBezTo>
                  <a:pt x="134973" y="98585"/>
                  <a:pt x="129563" y="93187"/>
                  <a:pt x="122907" y="93194"/>
                </a:cubicBezTo>
                <a:close/>
                <a:moveTo>
                  <a:pt x="61645" y="-12472"/>
                </a:moveTo>
                <a:lnTo>
                  <a:pt x="68827" y="-10553"/>
                </a:lnTo>
                <a:cubicBezTo>
                  <a:pt x="72143" y="-9648"/>
                  <a:pt x="74391" y="-6524"/>
                  <a:pt x="74172" y="-3097"/>
                </a:cubicBezTo>
                <a:lnTo>
                  <a:pt x="73432" y="8360"/>
                </a:lnTo>
                <a:cubicBezTo>
                  <a:pt x="75707" y="10114"/>
                  <a:pt x="77708" y="12143"/>
                  <a:pt x="79434" y="14390"/>
                </a:cubicBezTo>
                <a:lnTo>
                  <a:pt x="90947" y="13650"/>
                </a:lnTo>
                <a:cubicBezTo>
                  <a:pt x="94373" y="13431"/>
                  <a:pt x="97498" y="15679"/>
                  <a:pt x="98402" y="18995"/>
                </a:cubicBezTo>
                <a:lnTo>
                  <a:pt x="100321" y="26177"/>
                </a:lnTo>
                <a:cubicBezTo>
                  <a:pt x="101198" y="29493"/>
                  <a:pt x="99636" y="33002"/>
                  <a:pt x="96538" y="34537"/>
                </a:cubicBezTo>
                <a:lnTo>
                  <a:pt x="86205" y="39635"/>
                </a:lnTo>
                <a:cubicBezTo>
                  <a:pt x="86013" y="41033"/>
                  <a:pt x="85739" y="42431"/>
                  <a:pt x="85382" y="43801"/>
                </a:cubicBezTo>
                <a:cubicBezTo>
                  <a:pt x="85026" y="45172"/>
                  <a:pt x="84533" y="46542"/>
                  <a:pt x="84012" y="47831"/>
                </a:cubicBezTo>
                <a:lnTo>
                  <a:pt x="90398" y="57424"/>
                </a:lnTo>
                <a:cubicBezTo>
                  <a:pt x="92317" y="60302"/>
                  <a:pt x="91933" y="64112"/>
                  <a:pt x="89494" y="66552"/>
                </a:cubicBezTo>
                <a:lnTo>
                  <a:pt x="84231" y="71814"/>
                </a:lnTo>
                <a:cubicBezTo>
                  <a:pt x="81792" y="74254"/>
                  <a:pt x="77982" y="74638"/>
                  <a:pt x="75104" y="72719"/>
                </a:cubicBezTo>
                <a:lnTo>
                  <a:pt x="65510" y="66332"/>
                </a:lnTo>
                <a:cubicBezTo>
                  <a:pt x="62906" y="67401"/>
                  <a:pt x="60138" y="68169"/>
                  <a:pt x="57314" y="68553"/>
                </a:cubicBezTo>
                <a:lnTo>
                  <a:pt x="52216" y="78859"/>
                </a:lnTo>
                <a:cubicBezTo>
                  <a:pt x="50681" y="81956"/>
                  <a:pt x="47173" y="83518"/>
                  <a:pt x="43856" y="82641"/>
                </a:cubicBezTo>
                <a:lnTo>
                  <a:pt x="36675" y="80723"/>
                </a:lnTo>
                <a:cubicBezTo>
                  <a:pt x="33331" y="79818"/>
                  <a:pt x="31110" y="76693"/>
                  <a:pt x="31330" y="73267"/>
                </a:cubicBezTo>
                <a:lnTo>
                  <a:pt x="32070" y="61782"/>
                </a:lnTo>
                <a:cubicBezTo>
                  <a:pt x="29795" y="60028"/>
                  <a:pt x="27794" y="58000"/>
                  <a:pt x="26067" y="55752"/>
                </a:cubicBezTo>
                <a:lnTo>
                  <a:pt x="14555" y="56492"/>
                </a:lnTo>
                <a:cubicBezTo>
                  <a:pt x="11128" y="56711"/>
                  <a:pt x="8004" y="54464"/>
                  <a:pt x="7099" y="51147"/>
                </a:cubicBezTo>
                <a:lnTo>
                  <a:pt x="5181" y="43966"/>
                </a:lnTo>
                <a:cubicBezTo>
                  <a:pt x="4303" y="40649"/>
                  <a:pt x="5866" y="37141"/>
                  <a:pt x="8963" y="35606"/>
                </a:cubicBezTo>
                <a:lnTo>
                  <a:pt x="19297" y="30507"/>
                </a:lnTo>
                <a:cubicBezTo>
                  <a:pt x="19489" y="29109"/>
                  <a:pt x="19763" y="27739"/>
                  <a:pt x="20119" y="26341"/>
                </a:cubicBezTo>
                <a:cubicBezTo>
                  <a:pt x="20503" y="24943"/>
                  <a:pt x="20941" y="23600"/>
                  <a:pt x="21489" y="22312"/>
                </a:cubicBezTo>
                <a:lnTo>
                  <a:pt x="15103" y="12746"/>
                </a:lnTo>
                <a:cubicBezTo>
                  <a:pt x="13184" y="9868"/>
                  <a:pt x="13568" y="6058"/>
                  <a:pt x="16007" y="3618"/>
                </a:cubicBezTo>
                <a:lnTo>
                  <a:pt x="21270" y="-1645"/>
                </a:lnTo>
                <a:cubicBezTo>
                  <a:pt x="23710" y="-4084"/>
                  <a:pt x="27520" y="-4468"/>
                  <a:pt x="30398" y="-2549"/>
                </a:cubicBezTo>
                <a:lnTo>
                  <a:pt x="39991" y="3837"/>
                </a:lnTo>
                <a:cubicBezTo>
                  <a:pt x="42595" y="2768"/>
                  <a:pt x="45364" y="2001"/>
                  <a:pt x="48187" y="1617"/>
                </a:cubicBezTo>
                <a:lnTo>
                  <a:pt x="53285" y="-8689"/>
                </a:lnTo>
                <a:cubicBezTo>
                  <a:pt x="54820" y="-11786"/>
                  <a:pt x="58301" y="-13349"/>
                  <a:pt x="61645" y="-12472"/>
                </a:cubicBezTo>
                <a:close/>
                <a:moveTo>
                  <a:pt x="52737" y="23024"/>
                </a:moveTo>
                <a:cubicBezTo>
                  <a:pt x="46081" y="23024"/>
                  <a:pt x="40677" y="28429"/>
                  <a:pt x="40677" y="35085"/>
                </a:cubicBezTo>
                <a:cubicBezTo>
                  <a:pt x="40677" y="41741"/>
                  <a:pt x="46081" y="47145"/>
                  <a:pt x="52737" y="47145"/>
                </a:cubicBezTo>
                <a:cubicBezTo>
                  <a:pt x="59393" y="47145"/>
                  <a:pt x="64797" y="41741"/>
                  <a:pt x="64797" y="35085"/>
                </a:cubicBezTo>
                <a:cubicBezTo>
                  <a:pt x="64797" y="28429"/>
                  <a:pt x="59393" y="23024"/>
                  <a:pt x="52737" y="23024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3" name="Text 50"/>
          <p:cNvSpPr/>
          <p:nvPr/>
        </p:nvSpPr>
        <p:spPr>
          <a:xfrm>
            <a:off x="7618027" y="1199902"/>
            <a:ext cx="418387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Controles del Simulador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442602" y="1480581"/>
            <a:ext cx="4289128" cy="491188"/>
          </a:xfrm>
          <a:custGeom>
            <a:avLst/>
            <a:gdLst/>
            <a:ahLst/>
            <a:cxnLst/>
            <a:rect l="l" t="t" r="r" b="b"/>
            <a:pathLst>
              <a:path w="4289128" h="491188">
                <a:moveTo>
                  <a:pt x="35086" y="0"/>
                </a:moveTo>
                <a:lnTo>
                  <a:pt x="4254042" y="0"/>
                </a:lnTo>
                <a:cubicBezTo>
                  <a:pt x="4273420" y="0"/>
                  <a:pt x="4289128" y="15708"/>
                  <a:pt x="4289128" y="35086"/>
                </a:cubicBezTo>
                <a:lnTo>
                  <a:pt x="4289128" y="456103"/>
                </a:lnTo>
                <a:cubicBezTo>
                  <a:pt x="4289128" y="475480"/>
                  <a:pt x="4273420" y="491188"/>
                  <a:pt x="4254042" y="491188"/>
                </a:cubicBezTo>
                <a:lnTo>
                  <a:pt x="35086" y="491188"/>
                </a:lnTo>
                <a:cubicBezTo>
                  <a:pt x="15721" y="491188"/>
                  <a:pt x="0" y="475467"/>
                  <a:pt x="0" y="456103"/>
                </a:cubicBezTo>
                <a:lnTo>
                  <a:pt x="0" y="35086"/>
                </a:lnTo>
                <a:cubicBezTo>
                  <a:pt x="0" y="15721"/>
                  <a:pt x="15721" y="0"/>
                  <a:pt x="35086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7512772" y="1550751"/>
            <a:ext cx="421018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Variación demanda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7512772" y="1761260"/>
            <a:ext cx="315764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-20%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7842131" y="1796238"/>
            <a:ext cx="3490947" cy="70170"/>
          </a:xfrm>
          <a:custGeom>
            <a:avLst/>
            <a:gdLst/>
            <a:ahLst/>
            <a:cxnLst/>
            <a:rect l="l" t="t" r="r" b="b"/>
            <a:pathLst>
              <a:path w="3490947" h="70170">
                <a:moveTo>
                  <a:pt x="35085" y="0"/>
                </a:moveTo>
                <a:lnTo>
                  <a:pt x="3455862" y="0"/>
                </a:lnTo>
                <a:cubicBezTo>
                  <a:pt x="3475239" y="0"/>
                  <a:pt x="3490947" y="15708"/>
                  <a:pt x="3490947" y="35085"/>
                </a:cubicBezTo>
                <a:lnTo>
                  <a:pt x="3490947" y="35085"/>
                </a:lnTo>
                <a:cubicBezTo>
                  <a:pt x="3490947" y="54462"/>
                  <a:pt x="3475239" y="70170"/>
                  <a:pt x="3455862" y="70170"/>
                </a:cubicBezTo>
                <a:lnTo>
                  <a:pt x="35085" y="70170"/>
                </a:lnTo>
                <a:cubicBezTo>
                  <a:pt x="15721" y="70170"/>
                  <a:pt x="0" y="54449"/>
                  <a:pt x="0" y="3508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gradFill rotWithShape="1" flip="none">
            <a:gsLst>
              <a:gs pos="0">
                <a:srgbClr val="F7C873"/>
              </a:gs>
              <a:gs pos="50000">
                <a:srgbClr val="1A1A1A"/>
              </a:gs>
              <a:gs pos="50000">
                <a:srgbClr val="F7C873"/>
              </a:gs>
              <a:gs pos="100000">
                <a:srgbClr val="1A1A1A"/>
              </a:gs>
            </a:gsLst>
            <a:lin ang="0" scaled="1"/>
          </a:gradFill>
          <a:ln/>
        </p:spPr>
      </p:sp>
      <p:sp>
        <p:nvSpPr>
          <p:cNvPr id="58" name="Text 55"/>
          <p:cNvSpPr/>
          <p:nvPr/>
        </p:nvSpPr>
        <p:spPr>
          <a:xfrm>
            <a:off x="11400178" y="1761260"/>
            <a:ext cx="315764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+20%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7442602" y="2041832"/>
            <a:ext cx="4289128" cy="491188"/>
          </a:xfrm>
          <a:custGeom>
            <a:avLst/>
            <a:gdLst/>
            <a:ahLst/>
            <a:cxnLst/>
            <a:rect l="l" t="t" r="r" b="b"/>
            <a:pathLst>
              <a:path w="4289128" h="491188">
                <a:moveTo>
                  <a:pt x="35086" y="0"/>
                </a:moveTo>
                <a:lnTo>
                  <a:pt x="4254042" y="0"/>
                </a:lnTo>
                <a:cubicBezTo>
                  <a:pt x="4273420" y="0"/>
                  <a:pt x="4289128" y="15708"/>
                  <a:pt x="4289128" y="35086"/>
                </a:cubicBezTo>
                <a:lnTo>
                  <a:pt x="4289128" y="456103"/>
                </a:lnTo>
                <a:cubicBezTo>
                  <a:pt x="4289128" y="475480"/>
                  <a:pt x="4273420" y="491188"/>
                  <a:pt x="4254042" y="491188"/>
                </a:cubicBezTo>
                <a:lnTo>
                  <a:pt x="35086" y="491188"/>
                </a:lnTo>
                <a:cubicBezTo>
                  <a:pt x="15721" y="491188"/>
                  <a:pt x="0" y="475467"/>
                  <a:pt x="0" y="456103"/>
                </a:cubicBezTo>
                <a:lnTo>
                  <a:pt x="0" y="35086"/>
                </a:lnTo>
                <a:cubicBezTo>
                  <a:pt x="0" y="15721"/>
                  <a:pt x="15721" y="0"/>
                  <a:pt x="35086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0" name="Text 57"/>
          <p:cNvSpPr/>
          <p:nvPr/>
        </p:nvSpPr>
        <p:spPr>
          <a:xfrm>
            <a:off x="7512772" y="2112002"/>
            <a:ext cx="421018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Cambio ticket promedio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7512772" y="2322511"/>
            <a:ext cx="28067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-15%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810226" y="2357485"/>
            <a:ext cx="3552345" cy="70170"/>
          </a:xfrm>
          <a:custGeom>
            <a:avLst/>
            <a:gdLst/>
            <a:ahLst/>
            <a:cxnLst/>
            <a:rect l="l" t="t" r="r" b="b"/>
            <a:pathLst>
              <a:path w="3552345" h="70170">
                <a:moveTo>
                  <a:pt x="35085" y="0"/>
                </a:moveTo>
                <a:lnTo>
                  <a:pt x="3517260" y="0"/>
                </a:lnTo>
                <a:cubicBezTo>
                  <a:pt x="3536637" y="0"/>
                  <a:pt x="3552345" y="15708"/>
                  <a:pt x="3552345" y="35085"/>
                </a:cubicBezTo>
                <a:lnTo>
                  <a:pt x="3552345" y="35085"/>
                </a:lnTo>
                <a:cubicBezTo>
                  <a:pt x="3552345" y="54462"/>
                  <a:pt x="3536637" y="70170"/>
                  <a:pt x="3517260" y="70170"/>
                </a:cubicBezTo>
                <a:lnTo>
                  <a:pt x="35085" y="70170"/>
                </a:lnTo>
                <a:cubicBezTo>
                  <a:pt x="15721" y="70170"/>
                  <a:pt x="0" y="54449"/>
                  <a:pt x="0" y="3508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gradFill rotWithShape="1" flip="none">
            <a:gsLst>
              <a:gs pos="0">
                <a:srgbClr val="F7C873"/>
              </a:gs>
              <a:gs pos="50000">
                <a:srgbClr val="1A1A1A"/>
              </a:gs>
              <a:gs pos="50000">
                <a:srgbClr val="F7C873"/>
              </a:gs>
              <a:gs pos="100000">
                <a:srgbClr val="1A1A1A"/>
              </a:gs>
            </a:gsLst>
            <a:lin ang="0" scaled="1"/>
          </a:gradFill>
          <a:ln/>
        </p:spPr>
      </p:sp>
      <p:sp>
        <p:nvSpPr>
          <p:cNvPr id="63" name="Text 60"/>
          <p:cNvSpPr/>
          <p:nvPr/>
        </p:nvSpPr>
        <p:spPr>
          <a:xfrm>
            <a:off x="11432084" y="2322511"/>
            <a:ext cx="28067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+15%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442602" y="2603079"/>
            <a:ext cx="4289128" cy="587672"/>
          </a:xfrm>
          <a:custGeom>
            <a:avLst/>
            <a:gdLst/>
            <a:ahLst/>
            <a:cxnLst/>
            <a:rect l="l" t="t" r="r" b="b"/>
            <a:pathLst>
              <a:path w="4289128" h="587672">
                <a:moveTo>
                  <a:pt x="35084" y="0"/>
                </a:moveTo>
                <a:lnTo>
                  <a:pt x="4254044" y="0"/>
                </a:lnTo>
                <a:cubicBezTo>
                  <a:pt x="4273420" y="0"/>
                  <a:pt x="4289128" y="15708"/>
                  <a:pt x="4289128" y="35084"/>
                </a:cubicBezTo>
                <a:lnTo>
                  <a:pt x="4289128" y="552588"/>
                </a:lnTo>
                <a:cubicBezTo>
                  <a:pt x="4289128" y="571964"/>
                  <a:pt x="4273420" y="587672"/>
                  <a:pt x="4254044" y="587672"/>
                </a:cubicBezTo>
                <a:lnTo>
                  <a:pt x="35084" y="587672"/>
                </a:lnTo>
                <a:cubicBezTo>
                  <a:pt x="15708" y="587672"/>
                  <a:pt x="0" y="571964"/>
                  <a:pt x="0" y="552588"/>
                </a:cubicBezTo>
                <a:lnTo>
                  <a:pt x="0" y="35084"/>
                </a:lnTo>
                <a:cubicBezTo>
                  <a:pt x="0" y="15721"/>
                  <a:pt x="15721" y="0"/>
                  <a:pt x="3508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7512772" y="2673249"/>
            <a:ext cx="421018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Eventos especiales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516281" y="2887266"/>
            <a:ext cx="4138263" cy="235069"/>
          </a:xfrm>
          <a:custGeom>
            <a:avLst/>
            <a:gdLst/>
            <a:ahLst/>
            <a:cxnLst/>
            <a:rect l="l" t="t" r="r" b="b"/>
            <a:pathLst>
              <a:path w="4138263" h="235069">
                <a:moveTo>
                  <a:pt x="35084" y="0"/>
                </a:moveTo>
                <a:lnTo>
                  <a:pt x="4103179" y="0"/>
                </a:lnTo>
                <a:cubicBezTo>
                  <a:pt x="4122555" y="0"/>
                  <a:pt x="4138263" y="15708"/>
                  <a:pt x="4138263" y="35084"/>
                </a:cubicBezTo>
                <a:lnTo>
                  <a:pt x="4138263" y="199985"/>
                </a:lnTo>
                <a:cubicBezTo>
                  <a:pt x="4138263" y="219361"/>
                  <a:pt x="4122555" y="235069"/>
                  <a:pt x="4103179" y="235069"/>
                </a:cubicBezTo>
                <a:lnTo>
                  <a:pt x="35084" y="235069"/>
                </a:lnTo>
                <a:cubicBezTo>
                  <a:pt x="15721" y="235069"/>
                  <a:pt x="0" y="219348"/>
                  <a:pt x="0" y="199985"/>
                </a:cubicBezTo>
                <a:lnTo>
                  <a:pt x="0" y="35084"/>
                </a:lnTo>
                <a:cubicBezTo>
                  <a:pt x="0" y="15708"/>
                  <a:pt x="15708" y="0"/>
                  <a:pt x="35084" y="0"/>
                </a:cubicBezTo>
                <a:close/>
              </a:path>
            </a:pathLst>
          </a:custGeom>
          <a:solidFill>
            <a:srgbClr val="1A1A1A"/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0" y="-59987272"/>
            <a:ext cx="6139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Ninguno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0" y="-59987272"/>
            <a:ext cx="6139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Festival (+5%)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0" y="-59987272"/>
            <a:ext cx="6139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 de año (+10%)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0" y="-59987272"/>
            <a:ext cx="6139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Mantenimiento (-5%)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7330331" y="3410031"/>
            <a:ext cx="4508409" cy="1087632"/>
          </a:xfrm>
          <a:custGeom>
            <a:avLst/>
            <a:gdLst/>
            <a:ahLst/>
            <a:cxnLst/>
            <a:rect l="l" t="t" r="r" b="b"/>
            <a:pathLst>
              <a:path w="4508409" h="1087632">
                <a:moveTo>
                  <a:pt x="70174" y="0"/>
                </a:moveTo>
                <a:lnTo>
                  <a:pt x="4438235" y="0"/>
                </a:lnTo>
                <a:cubicBezTo>
                  <a:pt x="4476991" y="0"/>
                  <a:pt x="4508409" y="31418"/>
                  <a:pt x="4508409" y="70174"/>
                </a:cubicBezTo>
                <a:lnTo>
                  <a:pt x="4508409" y="1017458"/>
                </a:lnTo>
                <a:cubicBezTo>
                  <a:pt x="4508409" y="1056214"/>
                  <a:pt x="4476991" y="1087632"/>
                  <a:pt x="4438235" y="1087632"/>
                </a:cubicBezTo>
                <a:lnTo>
                  <a:pt x="70174" y="1087632"/>
                </a:lnTo>
                <a:cubicBezTo>
                  <a:pt x="31418" y="1087632"/>
                  <a:pt x="0" y="1056214"/>
                  <a:pt x="0" y="1017458"/>
                </a:cubicBezTo>
                <a:lnTo>
                  <a:pt x="0" y="70174"/>
                </a:lnTo>
                <a:cubicBezTo>
                  <a:pt x="0" y="31418"/>
                  <a:pt x="31418" y="0"/>
                  <a:pt x="70174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72" name="Text 69"/>
          <p:cNvSpPr/>
          <p:nvPr/>
        </p:nvSpPr>
        <p:spPr>
          <a:xfrm>
            <a:off x="7435585" y="3515286"/>
            <a:ext cx="436806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 del Simulador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7460803" y="3831050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4" name="Text 71"/>
          <p:cNvSpPr/>
          <p:nvPr/>
        </p:nvSpPr>
        <p:spPr>
          <a:xfrm>
            <a:off x="7659252" y="3795965"/>
            <a:ext cx="294713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Planificación: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Evaluar decisiones antes de implementar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7460803" y="4041559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6" name="Text 73"/>
          <p:cNvSpPr/>
          <p:nvPr/>
        </p:nvSpPr>
        <p:spPr>
          <a:xfrm>
            <a:off x="7659252" y="4006475"/>
            <a:ext cx="285941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Sensibilidad: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Identificar variables con mayor impacto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7460803" y="4252069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8" name="Text 75"/>
          <p:cNvSpPr/>
          <p:nvPr/>
        </p:nvSpPr>
        <p:spPr>
          <a:xfrm>
            <a:off x="7659252" y="4216984"/>
            <a:ext cx="285941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Escenarios: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Preparación para múltiples contingencias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7347873" y="4602918"/>
            <a:ext cx="4490866" cy="1719160"/>
          </a:xfrm>
          <a:custGeom>
            <a:avLst/>
            <a:gdLst/>
            <a:ahLst/>
            <a:cxnLst/>
            <a:rect l="l" t="t" r="r" b="b"/>
            <a:pathLst>
              <a:path w="4490866" h="1719160">
                <a:moveTo>
                  <a:pt x="35085" y="0"/>
                </a:moveTo>
                <a:lnTo>
                  <a:pt x="4420690" y="0"/>
                </a:lnTo>
                <a:cubicBezTo>
                  <a:pt x="4459447" y="0"/>
                  <a:pt x="4490866" y="31419"/>
                  <a:pt x="4490866" y="70176"/>
                </a:cubicBezTo>
                <a:lnTo>
                  <a:pt x="4490866" y="1648984"/>
                </a:lnTo>
                <a:cubicBezTo>
                  <a:pt x="4490866" y="1687741"/>
                  <a:pt x="4459447" y="1719160"/>
                  <a:pt x="4420690" y="1719160"/>
                </a:cubicBezTo>
                <a:lnTo>
                  <a:pt x="35085" y="1719160"/>
                </a:lnTo>
                <a:cubicBezTo>
                  <a:pt x="15708" y="1719160"/>
                  <a:pt x="0" y="1703452"/>
                  <a:pt x="0" y="168407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347873" y="4602918"/>
            <a:ext cx="35085" cy="1719160"/>
          </a:xfrm>
          <a:custGeom>
            <a:avLst/>
            <a:gdLst/>
            <a:ahLst/>
            <a:cxnLst/>
            <a:rect l="l" t="t" r="r" b="b"/>
            <a:pathLst>
              <a:path w="35085" h="1719160">
                <a:moveTo>
                  <a:pt x="35085" y="0"/>
                </a:moveTo>
                <a:lnTo>
                  <a:pt x="35085" y="0"/>
                </a:lnTo>
                <a:lnTo>
                  <a:pt x="35085" y="1719160"/>
                </a:lnTo>
                <a:lnTo>
                  <a:pt x="35085" y="1719160"/>
                </a:lnTo>
                <a:cubicBezTo>
                  <a:pt x="15708" y="1719160"/>
                  <a:pt x="0" y="1703452"/>
                  <a:pt x="0" y="168407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81" name="Text 78"/>
          <p:cNvSpPr/>
          <p:nvPr/>
        </p:nvSpPr>
        <p:spPr>
          <a:xfrm>
            <a:off x="7470670" y="4708172"/>
            <a:ext cx="4332984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Uso Recomendado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7470670" y="4988852"/>
            <a:ext cx="4262814" cy="385934"/>
          </a:xfrm>
          <a:custGeom>
            <a:avLst/>
            <a:gdLst/>
            <a:ahLst/>
            <a:cxnLst/>
            <a:rect l="l" t="t" r="r" b="b"/>
            <a:pathLst>
              <a:path w="4262814" h="385934">
                <a:moveTo>
                  <a:pt x="35085" y="0"/>
                </a:moveTo>
                <a:lnTo>
                  <a:pt x="4227729" y="0"/>
                </a:lnTo>
                <a:cubicBezTo>
                  <a:pt x="4247106" y="0"/>
                  <a:pt x="4262814" y="15708"/>
                  <a:pt x="4262814" y="35085"/>
                </a:cubicBezTo>
                <a:lnTo>
                  <a:pt x="4262814" y="350849"/>
                </a:lnTo>
                <a:cubicBezTo>
                  <a:pt x="4262814" y="370226"/>
                  <a:pt x="4247106" y="385934"/>
                  <a:pt x="4227729" y="385934"/>
                </a:cubicBezTo>
                <a:lnTo>
                  <a:pt x="35085" y="385934"/>
                </a:lnTo>
                <a:cubicBezTo>
                  <a:pt x="15708" y="385934"/>
                  <a:pt x="0" y="370226"/>
                  <a:pt x="0" y="35084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3" name="Text 80"/>
          <p:cNvSpPr/>
          <p:nvPr/>
        </p:nvSpPr>
        <p:spPr>
          <a:xfrm>
            <a:off x="7523298" y="5041479"/>
            <a:ext cx="421018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Presupuestación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7523298" y="5181711"/>
            <a:ext cx="421018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Planificación financiera trimestral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7470670" y="5409652"/>
            <a:ext cx="4262814" cy="385934"/>
          </a:xfrm>
          <a:custGeom>
            <a:avLst/>
            <a:gdLst/>
            <a:ahLst/>
            <a:cxnLst/>
            <a:rect l="l" t="t" r="r" b="b"/>
            <a:pathLst>
              <a:path w="4262814" h="385934">
                <a:moveTo>
                  <a:pt x="35085" y="0"/>
                </a:moveTo>
                <a:lnTo>
                  <a:pt x="4227729" y="0"/>
                </a:lnTo>
                <a:cubicBezTo>
                  <a:pt x="4247106" y="0"/>
                  <a:pt x="4262814" y="15708"/>
                  <a:pt x="4262814" y="35085"/>
                </a:cubicBezTo>
                <a:lnTo>
                  <a:pt x="4262814" y="350849"/>
                </a:lnTo>
                <a:cubicBezTo>
                  <a:pt x="4262814" y="370226"/>
                  <a:pt x="4247106" y="385934"/>
                  <a:pt x="4227729" y="385934"/>
                </a:cubicBezTo>
                <a:lnTo>
                  <a:pt x="35085" y="385934"/>
                </a:lnTo>
                <a:cubicBezTo>
                  <a:pt x="15708" y="385934"/>
                  <a:pt x="0" y="370226"/>
                  <a:pt x="0" y="35084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6" name="Text 83"/>
          <p:cNvSpPr/>
          <p:nvPr/>
        </p:nvSpPr>
        <p:spPr>
          <a:xfrm>
            <a:off x="7523298" y="5462279"/>
            <a:ext cx="421018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Capacidad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7523298" y="5602507"/>
            <a:ext cx="421018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Ajuste de flota y turnos</a:t>
            </a:r>
            <a:endParaRPr lang="en-US" sz="1600" dirty="0"/>
          </a:p>
        </p:txBody>
      </p:sp>
      <p:sp>
        <p:nvSpPr>
          <p:cNvPr id="88" name="Shape 85"/>
          <p:cNvSpPr/>
          <p:nvPr/>
        </p:nvSpPr>
        <p:spPr>
          <a:xfrm>
            <a:off x="7470670" y="5830452"/>
            <a:ext cx="4262814" cy="385934"/>
          </a:xfrm>
          <a:custGeom>
            <a:avLst/>
            <a:gdLst/>
            <a:ahLst/>
            <a:cxnLst/>
            <a:rect l="l" t="t" r="r" b="b"/>
            <a:pathLst>
              <a:path w="4262814" h="385934">
                <a:moveTo>
                  <a:pt x="35085" y="0"/>
                </a:moveTo>
                <a:lnTo>
                  <a:pt x="4227729" y="0"/>
                </a:lnTo>
                <a:cubicBezTo>
                  <a:pt x="4247106" y="0"/>
                  <a:pt x="4262814" y="15708"/>
                  <a:pt x="4262814" y="35085"/>
                </a:cubicBezTo>
                <a:lnTo>
                  <a:pt x="4262814" y="350849"/>
                </a:lnTo>
                <a:cubicBezTo>
                  <a:pt x="4262814" y="370226"/>
                  <a:pt x="4247106" y="385934"/>
                  <a:pt x="4227729" y="385934"/>
                </a:cubicBezTo>
                <a:lnTo>
                  <a:pt x="35085" y="385934"/>
                </a:lnTo>
                <a:cubicBezTo>
                  <a:pt x="15708" y="385934"/>
                  <a:pt x="0" y="370226"/>
                  <a:pt x="0" y="35084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9" name="Text 86"/>
          <p:cNvSpPr/>
          <p:nvPr/>
        </p:nvSpPr>
        <p:spPr>
          <a:xfrm>
            <a:off x="7523298" y="5883079"/>
            <a:ext cx="421018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90" name="Text 87"/>
          <p:cNvSpPr/>
          <p:nvPr/>
        </p:nvSpPr>
        <p:spPr>
          <a:xfrm>
            <a:off x="7523298" y="6023308"/>
            <a:ext cx="4210187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Evaluación de promociones</a:t>
            </a:r>
            <a:endParaRPr lang="en-US" sz="1600" dirty="0"/>
          </a:p>
        </p:txBody>
      </p:sp>
      <p:sp>
        <p:nvSpPr>
          <p:cNvPr id="91" name="Shape 88"/>
          <p:cNvSpPr/>
          <p:nvPr/>
        </p:nvSpPr>
        <p:spPr>
          <a:xfrm>
            <a:off x="350849" y="6670842"/>
            <a:ext cx="11490302" cy="428036"/>
          </a:xfrm>
          <a:custGeom>
            <a:avLst/>
            <a:gdLst/>
            <a:ahLst/>
            <a:cxnLst/>
            <a:rect l="l" t="t" r="r" b="b"/>
            <a:pathLst>
              <a:path w="11490302" h="428036">
                <a:moveTo>
                  <a:pt x="14034" y="0"/>
                </a:moveTo>
                <a:lnTo>
                  <a:pt x="11476268" y="0"/>
                </a:lnTo>
                <a:cubicBezTo>
                  <a:pt x="11484019" y="0"/>
                  <a:pt x="11490302" y="6283"/>
                  <a:pt x="11490302" y="14034"/>
                </a:cubicBezTo>
                <a:lnTo>
                  <a:pt x="11490302" y="357868"/>
                </a:lnTo>
                <a:cubicBezTo>
                  <a:pt x="11490302" y="396620"/>
                  <a:pt x="11458887" y="428036"/>
                  <a:pt x="11420134" y="428036"/>
                </a:cubicBezTo>
                <a:lnTo>
                  <a:pt x="70168" y="428036"/>
                </a:lnTo>
                <a:cubicBezTo>
                  <a:pt x="31415" y="428036"/>
                  <a:pt x="0" y="396620"/>
                  <a:pt x="0" y="357868"/>
                </a:cubicBezTo>
                <a:lnTo>
                  <a:pt x="0" y="14034"/>
                </a:lnTo>
                <a:cubicBezTo>
                  <a:pt x="0" y="6283"/>
                  <a:pt x="6283" y="0"/>
                  <a:pt x="14034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350849" y="6670842"/>
            <a:ext cx="11490302" cy="14034"/>
          </a:xfrm>
          <a:custGeom>
            <a:avLst/>
            <a:gdLst/>
            <a:ahLst/>
            <a:cxnLst/>
            <a:rect l="l" t="t" r="r" b="b"/>
            <a:pathLst>
              <a:path w="11490302" h="14034">
                <a:moveTo>
                  <a:pt x="14034" y="0"/>
                </a:moveTo>
                <a:lnTo>
                  <a:pt x="11476268" y="0"/>
                </a:lnTo>
                <a:cubicBezTo>
                  <a:pt x="11484019" y="0"/>
                  <a:pt x="11490302" y="6283"/>
                  <a:pt x="11490302" y="14034"/>
                </a:cubicBezTo>
                <a:lnTo>
                  <a:pt x="11490302" y="14034"/>
                </a:lnTo>
                <a:lnTo>
                  <a:pt x="0" y="14034"/>
                </a:lnTo>
                <a:lnTo>
                  <a:pt x="0" y="14034"/>
                </a:lnTo>
                <a:cubicBezTo>
                  <a:pt x="0" y="6283"/>
                  <a:pt x="6283" y="0"/>
                  <a:pt x="14034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3" name="Shape 90"/>
          <p:cNvSpPr/>
          <p:nvPr/>
        </p:nvSpPr>
        <p:spPr>
          <a:xfrm>
            <a:off x="473646" y="6811184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137763" y="76364"/>
                </a:moveTo>
                <a:cubicBezTo>
                  <a:pt x="141189" y="72938"/>
                  <a:pt x="141189" y="67374"/>
                  <a:pt x="137763" y="63948"/>
                </a:cubicBezTo>
                <a:lnTo>
                  <a:pt x="93907" y="20092"/>
                </a:lnTo>
                <a:cubicBezTo>
                  <a:pt x="90481" y="16665"/>
                  <a:pt x="84916" y="16665"/>
                  <a:pt x="81490" y="20092"/>
                </a:cubicBezTo>
                <a:cubicBezTo>
                  <a:pt x="78064" y="23518"/>
                  <a:pt x="78064" y="29082"/>
                  <a:pt x="81490" y="32508"/>
                </a:cubicBezTo>
                <a:lnTo>
                  <a:pt x="110380" y="61399"/>
                </a:lnTo>
                <a:lnTo>
                  <a:pt x="8771" y="61399"/>
                </a:lnTo>
                <a:cubicBezTo>
                  <a:pt x="3920" y="61399"/>
                  <a:pt x="0" y="65318"/>
                  <a:pt x="0" y="70170"/>
                </a:cubicBezTo>
                <a:cubicBezTo>
                  <a:pt x="0" y="75021"/>
                  <a:pt x="3920" y="78941"/>
                  <a:pt x="8771" y="78941"/>
                </a:cubicBezTo>
                <a:lnTo>
                  <a:pt x="110380" y="78941"/>
                </a:lnTo>
                <a:lnTo>
                  <a:pt x="81490" y="107831"/>
                </a:lnTo>
                <a:cubicBezTo>
                  <a:pt x="78064" y="111257"/>
                  <a:pt x="78064" y="116822"/>
                  <a:pt x="81490" y="120248"/>
                </a:cubicBezTo>
                <a:cubicBezTo>
                  <a:pt x="84916" y="123674"/>
                  <a:pt x="90481" y="123674"/>
                  <a:pt x="93907" y="120248"/>
                </a:cubicBezTo>
                <a:lnTo>
                  <a:pt x="137763" y="76392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4" name="Text 91"/>
          <p:cNvSpPr/>
          <p:nvPr/>
        </p:nvSpPr>
        <p:spPr>
          <a:xfrm>
            <a:off x="679991" y="6783115"/>
            <a:ext cx="1112607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predicción estática a herramienta de planificación dinámica que permite evaluar decisiones antes de implementarlas.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849" y="421019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49525" y="517502"/>
            <a:ext cx="157882" cy="157882"/>
          </a:xfrm>
          <a:custGeom>
            <a:avLst/>
            <a:gdLst/>
            <a:ahLst/>
            <a:cxnLst/>
            <a:rect l="l" t="t" r="r" b="b"/>
            <a:pathLst>
              <a:path w="157882" h="157882">
                <a:moveTo>
                  <a:pt x="108513" y="86342"/>
                </a:moveTo>
                <a:lnTo>
                  <a:pt x="49646" y="86342"/>
                </a:lnTo>
                <a:cubicBezTo>
                  <a:pt x="50541" y="106231"/>
                  <a:pt x="54950" y="124548"/>
                  <a:pt x="61210" y="137962"/>
                </a:cubicBezTo>
                <a:cubicBezTo>
                  <a:pt x="64725" y="145517"/>
                  <a:pt x="68518" y="150851"/>
                  <a:pt x="72034" y="154120"/>
                </a:cubicBezTo>
                <a:cubicBezTo>
                  <a:pt x="75487" y="157358"/>
                  <a:pt x="77862" y="157882"/>
                  <a:pt x="79095" y="157882"/>
                </a:cubicBezTo>
                <a:cubicBezTo>
                  <a:pt x="80329" y="157882"/>
                  <a:pt x="82703" y="157358"/>
                  <a:pt x="86157" y="154120"/>
                </a:cubicBezTo>
                <a:cubicBezTo>
                  <a:pt x="89672" y="150851"/>
                  <a:pt x="93465" y="145486"/>
                  <a:pt x="96980" y="137962"/>
                </a:cubicBezTo>
                <a:cubicBezTo>
                  <a:pt x="103240" y="124548"/>
                  <a:pt x="107650" y="106231"/>
                  <a:pt x="108544" y="86342"/>
                </a:cubicBezTo>
                <a:close/>
                <a:moveTo>
                  <a:pt x="49616" y="71540"/>
                </a:moveTo>
                <a:lnTo>
                  <a:pt x="108482" y="71540"/>
                </a:lnTo>
                <a:cubicBezTo>
                  <a:pt x="107619" y="51651"/>
                  <a:pt x="103209" y="33334"/>
                  <a:pt x="96949" y="19920"/>
                </a:cubicBezTo>
                <a:cubicBezTo>
                  <a:pt x="93434" y="12396"/>
                  <a:pt x="89641" y="7031"/>
                  <a:pt x="86126" y="3762"/>
                </a:cubicBezTo>
                <a:cubicBezTo>
                  <a:pt x="82672" y="524"/>
                  <a:pt x="80298" y="0"/>
                  <a:pt x="79064" y="0"/>
                </a:cubicBezTo>
                <a:cubicBezTo>
                  <a:pt x="77831" y="0"/>
                  <a:pt x="75457" y="524"/>
                  <a:pt x="72003" y="3762"/>
                </a:cubicBezTo>
                <a:cubicBezTo>
                  <a:pt x="68487" y="7031"/>
                  <a:pt x="64695" y="12396"/>
                  <a:pt x="61179" y="19920"/>
                </a:cubicBezTo>
                <a:cubicBezTo>
                  <a:pt x="54920" y="33334"/>
                  <a:pt x="50510" y="51651"/>
                  <a:pt x="49616" y="71540"/>
                </a:cubicBezTo>
                <a:close/>
                <a:moveTo>
                  <a:pt x="34814" y="71540"/>
                </a:moveTo>
                <a:cubicBezTo>
                  <a:pt x="35893" y="45144"/>
                  <a:pt x="42708" y="20630"/>
                  <a:pt x="52668" y="4533"/>
                </a:cubicBezTo>
                <a:cubicBezTo>
                  <a:pt x="24268" y="14586"/>
                  <a:pt x="3361" y="40457"/>
                  <a:pt x="463" y="71540"/>
                </a:cubicBezTo>
                <a:lnTo>
                  <a:pt x="34814" y="71540"/>
                </a:lnTo>
                <a:close/>
                <a:moveTo>
                  <a:pt x="463" y="86342"/>
                </a:moveTo>
                <a:cubicBezTo>
                  <a:pt x="3361" y="117425"/>
                  <a:pt x="24268" y="143296"/>
                  <a:pt x="52668" y="153349"/>
                </a:cubicBezTo>
                <a:cubicBezTo>
                  <a:pt x="42708" y="137253"/>
                  <a:pt x="35893" y="112738"/>
                  <a:pt x="34814" y="86342"/>
                </a:cubicBezTo>
                <a:lnTo>
                  <a:pt x="463" y="86342"/>
                </a:lnTo>
                <a:close/>
                <a:moveTo>
                  <a:pt x="123314" y="86342"/>
                </a:moveTo>
                <a:cubicBezTo>
                  <a:pt x="122235" y="112738"/>
                  <a:pt x="115420" y="137253"/>
                  <a:pt x="105460" y="153349"/>
                </a:cubicBezTo>
                <a:cubicBezTo>
                  <a:pt x="133861" y="143266"/>
                  <a:pt x="154768" y="117425"/>
                  <a:pt x="157666" y="86342"/>
                </a:cubicBezTo>
                <a:lnTo>
                  <a:pt x="123314" y="86342"/>
                </a:lnTo>
                <a:close/>
                <a:moveTo>
                  <a:pt x="157666" y="71540"/>
                </a:moveTo>
                <a:cubicBezTo>
                  <a:pt x="154768" y="40457"/>
                  <a:pt x="133861" y="14586"/>
                  <a:pt x="105460" y="4533"/>
                </a:cubicBezTo>
                <a:cubicBezTo>
                  <a:pt x="115420" y="20630"/>
                  <a:pt x="122235" y="45144"/>
                  <a:pt x="123314" y="71540"/>
                </a:cubicBezTo>
                <a:lnTo>
                  <a:pt x="157666" y="7154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806953" y="350849"/>
            <a:ext cx="468383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spc="48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Fase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6953" y="526273"/>
            <a:ext cx="4754003" cy="31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Interactivo y Aplicación Web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849" y="912207"/>
            <a:ext cx="701698" cy="35085"/>
          </a:xfrm>
          <a:custGeom>
            <a:avLst/>
            <a:gdLst/>
            <a:ahLst/>
            <a:cxnLst/>
            <a:rect l="l" t="t" r="r" b="b"/>
            <a:pathLst>
              <a:path w="701698" h="35085">
                <a:moveTo>
                  <a:pt x="0" y="0"/>
                </a:moveTo>
                <a:lnTo>
                  <a:pt x="701698" y="0"/>
                </a:lnTo>
                <a:lnTo>
                  <a:pt x="701698" y="35085"/>
                </a:lnTo>
                <a:lnTo>
                  <a:pt x="0" y="35085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68391" y="1087632"/>
            <a:ext cx="7595879" cy="3017301"/>
          </a:xfrm>
          <a:custGeom>
            <a:avLst/>
            <a:gdLst/>
            <a:ahLst/>
            <a:cxnLst/>
            <a:rect l="l" t="t" r="r" b="b"/>
            <a:pathLst>
              <a:path w="7595879" h="3017301">
                <a:moveTo>
                  <a:pt x="35085" y="0"/>
                </a:moveTo>
                <a:lnTo>
                  <a:pt x="7525697" y="0"/>
                </a:lnTo>
                <a:cubicBezTo>
                  <a:pt x="7564457" y="0"/>
                  <a:pt x="7595879" y="31422"/>
                  <a:pt x="7595879" y="70182"/>
                </a:cubicBezTo>
                <a:lnTo>
                  <a:pt x="7595879" y="2947118"/>
                </a:lnTo>
                <a:cubicBezTo>
                  <a:pt x="7595879" y="2985879"/>
                  <a:pt x="7564457" y="3017301"/>
                  <a:pt x="7525697" y="3017301"/>
                </a:cubicBezTo>
                <a:lnTo>
                  <a:pt x="35085" y="3017301"/>
                </a:lnTo>
                <a:cubicBezTo>
                  <a:pt x="15708" y="3017301"/>
                  <a:pt x="0" y="3001593"/>
                  <a:pt x="0" y="298221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8391" y="1087632"/>
            <a:ext cx="35085" cy="3017301"/>
          </a:xfrm>
          <a:custGeom>
            <a:avLst/>
            <a:gdLst/>
            <a:ahLst/>
            <a:cxnLst/>
            <a:rect l="l" t="t" r="r" b="b"/>
            <a:pathLst>
              <a:path w="35085" h="3017301">
                <a:moveTo>
                  <a:pt x="35085" y="0"/>
                </a:moveTo>
                <a:lnTo>
                  <a:pt x="35085" y="0"/>
                </a:lnTo>
                <a:lnTo>
                  <a:pt x="35085" y="3017301"/>
                </a:lnTo>
                <a:lnTo>
                  <a:pt x="35085" y="3017301"/>
                </a:lnTo>
                <a:cubicBezTo>
                  <a:pt x="15708" y="3017301"/>
                  <a:pt x="0" y="3001593"/>
                  <a:pt x="0" y="2982216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491188" y="1192886"/>
            <a:ext cx="7446768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del Sistema Completo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1188" y="1508650"/>
            <a:ext cx="7367827" cy="2491027"/>
          </a:xfrm>
          <a:custGeom>
            <a:avLst/>
            <a:gdLst/>
            <a:ahLst/>
            <a:cxnLst/>
            <a:rect l="l" t="t" r="r" b="b"/>
            <a:pathLst>
              <a:path w="7367827" h="2491027">
                <a:moveTo>
                  <a:pt x="35074" y="0"/>
                </a:moveTo>
                <a:lnTo>
                  <a:pt x="7332754" y="0"/>
                </a:lnTo>
                <a:cubicBezTo>
                  <a:pt x="7352124" y="0"/>
                  <a:pt x="7367827" y="15703"/>
                  <a:pt x="7367827" y="35074"/>
                </a:cubicBezTo>
                <a:lnTo>
                  <a:pt x="7367827" y="2455954"/>
                </a:lnTo>
                <a:cubicBezTo>
                  <a:pt x="7367827" y="2475324"/>
                  <a:pt x="7352124" y="2491027"/>
                  <a:pt x="7332754" y="2491027"/>
                </a:cubicBezTo>
                <a:lnTo>
                  <a:pt x="35074" y="2491027"/>
                </a:lnTo>
                <a:cubicBezTo>
                  <a:pt x="15703" y="2491027"/>
                  <a:pt x="0" y="2475324"/>
                  <a:pt x="0" y="2455954"/>
                </a:cubicBezTo>
                <a:lnTo>
                  <a:pt x="0" y="35074"/>
                </a:lnTo>
                <a:cubicBezTo>
                  <a:pt x="0" y="15716"/>
                  <a:pt x="15716" y="0"/>
                  <a:pt x="3507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43845" y="1613905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87474" y="1745473"/>
            <a:ext cx="138147" cy="157882"/>
          </a:xfrm>
          <a:custGeom>
            <a:avLst/>
            <a:gdLst/>
            <a:ahLst/>
            <a:cxnLst/>
            <a:rect l="l" t="t" r="r" b="b"/>
            <a:pathLst>
              <a:path w="138147" h="157882">
                <a:moveTo>
                  <a:pt x="138147" y="63461"/>
                </a:moveTo>
                <a:cubicBezTo>
                  <a:pt x="133583" y="66483"/>
                  <a:pt x="128341" y="68919"/>
                  <a:pt x="122883" y="70862"/>
                </a:cubicBezTo>
                <a:cubicBezTo>
                  <a:pt x="108390" y="76042"/>
                  <a:pt x="89364" y="78941"/>
                  <a:pt x="69073" y="78941"/>
                </a:cubicBezTo>
                <a:cubicBezTo>
                  <a:pt x="48783" y="78941"/>
                  <a:pt x="29726" y="76012"/>
                  <a:pt x="15264" y="70862"/>
                </a:cubicBezTo>
                <a:cubicBezTo>
                  <a:pt x="9837" y="68919"/>
                  <a:pt x="4564" y="66483"/>
                  <a:pt x="0" y="63461"/>
                </a:cubicBezTo>
                <a:lnTo>
                  <a:pt x="0" y="88809"/>
                </a:lnTo>
                <a:cubicBezTo>
                  <a:pt x="0" y="102438"/>
                  <a:pt x="30929" y="113478"/>
                  <a:pt x="69073" y="113478"/>
                </a:cubicBezTo>
                <a:cubicBezTo>
                  <a:pt x="107218" y="113478"/>
                  <a:pt x="138147" y="102438"/>
                  <a:pt x="138147" y="88809"/>
                </a:cubicBezTo>
                <a:lnTo>
                  <a:pt x="138147" y="63461"/>
                </a:lnTo>
                <a:close/>
                <a:moveTo>
                  <a:pt x="138147" y="39471"/>
                </a:moveTo>
                <a:lnTo>
                  <a:pt x="138147" y="24669"/>
                </a:lnTo>
                <a:cubicBezTo>
                  <a:pt x="138147" y="11039"/>
                  <a:pt x="107218" y="0"/>
                  <a:pt x="69073" y="0"/>
                </a:cubicBezTo>
                <a:cubicBezTo>
                  <a:pt x="30929" y="0"/>
                  <a:pt x="0" y="11039"/>
                  <a:pt x="0" y="24669"/>
                </a:cubicBezTo>
                <a:lnTo>
                  <a:pt x="0" y="39471"/>
                </a:lnTo>
                <a:cubicBezTo>
                  <a:pt x="0" y="53100"/>
                  <a:pt x="30929" y="64140"/>
                  <a:pt x="69073" y="64140"/>
                </a:cubicBezTo>
                <a:cubicBezTo>
                  <a:pt x="107218" y="64140"/>
                  <a:pt x="138147" y="53100"/>
                  <a:pt x="138147" y="39471"/>
                </a:cubicBezTo>
                <a:close/>
                <a:moveTo>
                  <a:pt x="122883" y="120200"/>
                </a:moveTo>
                <a:cubicBezTo>
                  <a:pt x="108421" y="125350"/>
                  <a:pt x="89395" y="128279"/>
                  <a:pt x="69073" y="128279"/>
                </a:cubicBezTo>
                <a:cubicBezTo>
                  <a:pt x="48752" y="128279"/>
                  <a:pt x="29726" y="125350"/>
                  <a:pt x="15264" y="120200"/>
                </a:cubicBezTo>
                <a:cubicBezTo>
                  <a:pt x="9837" y="118257"/>
                  <a:pt x="4564" y="115821"/>
                  <a:pt x="0" y="112799"/>
                </a:cubicBezTo>
                <a:lnTo>
                  <a:pt x="0" y="133213"/>
                </a:lnTo>
                <a:cubicBezTo>
                  <a:pt x="0" y="146843"/>
                  <a:pt x="30929" y="157882"/>
                  <a:pt x="69073" y="157882"/>
                </a:cubicBezTo>
                <a:cubicBezTo>
                  <a:pt x="107218" y="157882"/>
                  <a:pt x="138147" y="146843"/>
                  <a:pt x="138147" y="133213"/>
                </a:cubicBezTo>
                <a:lnTo>
                  <a:pt x="138147" y="112799"/>
                </a:lnTo>
                <a:cubicBezTo>
                  <a:pt x="133583" y="115821"/>
                  <a:pt x="128341" y="118257"/>
                  <a:pt x="122883" y="12020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65744" y="2105094"/>
            <a:ext cx="237700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0129" y="2280518"/>
            <a:ext cx="2368230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Parquet procesado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65141" y="1613905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6" name="Shape 14"/>
          <p:cNvSpPr/>
          <p:nvPr/>
        </p:nvSpPr>
        <p:spPr>
          <a:xfrm>
            <a:off x="4098902" y="1745473"/>
            <a:ext cx="157882" cy="157882"/>
          </a:xfrm>
          <a:custGeom>
            <a:avLst/>
            <a:gdLst/>
            <a:ahLst/>
            <a:cxnLst/>
            <a:rect l="l" t="t" r="r" b="b"/>
            <a:pathLst>
              <a:path w="157882" h="157882">
                <a:moveTo>
                  <a:pt x="37004" y="17268"/>
                </a:moveTo>
                <a:cubicBezTo>
                  <a:pt x="37004" y="7740"/>
                  <a:pt x="44744" y="0"/>
                  <a:pt x="54272" y="0"/>
                </a:cubicBezTo>
                <a:lnTo>
                  <a:pt x="61673" y="0"/>
                </a:lnTo>
                <a:cubicBezTo>
                  <a:pt x="67131" y="0"/>
                  <a:pt x="71540" y="4410"/>
                  <a:pt x="71540" y="9868"/>
                </a:cubicBezTo>
                <a:lnTo>
                  <a:pt x="71540" y="148014"/>
                </a:lnTo>
                <a:cubicBezTo>
                  <a:pt x="71540" y="153472"/>
                  <a:pt x="67131" y="157882"/>
                  <a:pt x="61673" y="157882"/>
                </a:cubicBezTo>
                <a:lnTo>
                  <a:pt x="51805" y="157882"/>
                </a:lnTo>
                <a:cubicBezTo>
                  <a:pt x="42616" y="157882"/>
                  <a:pt x="34876" y="151591"/>
                  <a:pt x="32687" y="143081"/>
                </a:cubicBezTo>
                <a:cubicBezTo>
                  <a:pt x="32471" y="143081"/>
                  <a:pt x="32286" y="143081"/>
                  <a:pt x="32070" y="143081"/>
                </a:cubicBezTo>
                <a:cubicBezTo>
                  <a:pt x="18440" y="143081"/>
                  <a:pt x="7401" y="132041"/>
                  <a:pt x="7401" y="118412"/>
                </a:cubicBezTo>
                <a:cubicBezTo>
                  <a:pt x="7401" y="112861"/>
                  <a:pt x="9251" y="107742"/>
                  <a:pt x="12335" y="103610"/>
                </a:cubicBezTo>
                <a:cubicBezTo>
                  <a:pt x="6352" y="99108"/>
                  <a:pt x="2467" y="91954"/>
                  <a:pt x="2467" y="83875"/>
                </a:cubicBezTo>
                <a:cubicBezTo>
                  <a:pt x="2467" y="74346"/>
                  <a:pt x="7894" y="66051"/>
                  <a:pt x="15788" y="61950"/>
                </a:cubicBezTo>
                <a:cubicBezTo>
                  <a:pt x="13599" y="58250"/>
                  <a:pt x="12335" y="53933"/>
                  <a:pt x="12335" y="49338"/>
                </a:cubicBezTo>
                <a:cubicBezTo>
                  <a:pt x="12335" y="35708"/>
                  <a:pt x="23374" y="24669"/>
                  <a:pt x="37004" y="24669"/>
                </a:cubicBezTo>
                <a:lnTo>
                  <a:pt x="37004" y="17268"/>
                </a:lnTo>
                <a:close/>
                <a:moveTo>
                  <a:pt x="120878" y="17268"/>
                </a:moveTo>
                <a:lnTo>
                  <a:pt x="120878" y="24669"/>
                </a:lnTo>
                <a:cubicBezTo>
                  <a:pt x="134508" y="24669"/>
                  <a:pt x="145547" y="35708"/>
                  <a:pt x="145547" y="49338"/>
                </a:cubicBezTo>
                <a:cubicBezTo>
                  <a:pt x="145547" y="53964"/>
                  <a:pt x="144283" y="58281"/>
                  <a:pt x="142094" y="61950"/>
                </a:cubicBezTo>
                <a:cubicBezTo>
                  <a:pt x="150019" y="66051"/>
                  <a:pt x="155415" y="74316"/>
                  <a:pt x="155415" y="83875"/>
                </a:cubicBezTo>
                <a:cubicBezTo>
                  <a:pt x="155415" y="91954"/>
                  <a:pt x="151530" y="99108"/>
                  <a:pt x="145547" y="103610"/>
                </a:cubicBezTo>
                <a:cubicBezTo>
                  <a:pt x="148631" y="107742"/>
                  <a:pt x="150481" y="112861"/>
                  <a:pt x="150481" y="118412"/>
                </a:cubicBezTo>
                <a:cubicBezTo>
                  <a:pt x="150481" y="132041"/>
                  <a:pt x="139442" y="143081"/>
                  <a:pt x="125812" y="143081"/>
                </a:cubicBezTo>
                <a:cubicBezTo>
                  <a:pt x="125596" y="143081"/>
                  <a:pt x="125411" y="143081"/>
                  <a:pt x="125196" y="143081"/>
                </a:cubicBezTo>
                <a:cubicBezTo>
                  <a:pt x="123006" y="151591"/>
                  <a:pt x="115266" y="157882"/>
                  <a:pt x="106077" y="157882"/>
                </a:cubicBezTo>
                <a:lnTo>
                  <a:pt x="96209" y="157882"/>
                </a:lnTo>
                <a:cubicBezTo>
                  <a:pt x="90751" y="157882"/>
                  <a:pt x="86342" y="153472"/>
                  <a:pt x="86342" y="148014"/>
                </a:cubicBezTo>
                <a:lnTo>
                  <a:pt x="86342" y="9868"/>
                </a:lnTo>
                <a:cubicBezTo>
                  <a:pt x="86342" y="4410"/>
                  <a:pt x="90751" y="0"/>
                  <a:pt x="96209" y="0"/>
                </a:cubicBezTo>
                <a:lnTo>
                  <a:pt x="103610" y="0"/>
                </a:lnTo>
                <a:cubicBezTo>
                  <a:pt x="113138" y="0"/>
                  <a:pt x="120878" y="7740"/>
                  <a:pt x="120878" y="17268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2986930" y="2105094"/>
            <a:ext cx="237700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91316" y="2280518"/>
            <a:ext cx="2368230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Prophet entrenado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86328" y="1613905"/>
            <a:ext cx="421019" cy="421019"/>
          </a:xfrm>
          <a:custGeom>
            <a:avLst/>
            <a:gdLst/>
            <a:ahLst/>
            <a:cxnLst/>
            <a:rect l="l" t="t" r="r" b="b"/>
            <a:pathLst>
              <a:path w="421019" h="421019">
                <a:moveTo>
                  <a:pt x="210509" y="0"/>
                </a:moveTo>
                <a:lnTo>
                  <a:pt x="210509" y="0"/>
                </a:lnTo>
                <a:cubicBezTo>
                  <a:pt x="326693" y="0"/>
                  <a:pt x="421019" y="94326"/>
                  <a:pt x="421019" y="210509"/>
                </a:cubicBezTo>
                <a:lnTo>
                  <a:pt x="421019" y="210509"/>
                </a:lnTo>
                <a:cubicBezTo>
                  <a:pt x="421019" y="326693"/>
                  <a:pt x="326693" y="421019"/>
                  <a:pt x="210509" y="421019"/>
                </a:cubicBezTo>
                <a:lnTo>
                  <a:pt x="210509" y="421019"/>
                </a:lnTo>
                <a:cubicBezTo>
                  <a:pt x="94326" y="421019"/>
                  <a:pt x="0" y="326693"/>
                  <a:pt x="0" y="210509"/>
                </a:cubicBezTo>
                <a:lnTo>
                  <a:pt x="0" y="210509"/>
                </a:lnTo>
                <a:cubicBezTo>
                  <a:pt x="0" y="94326"/>
                  <a:pt x="94326" y="0"/>
                  <a:pt x="21050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0089" y="1745473"/>
            <a:ext cx="157882" cy="157882"/>
          </a:xfrm>
          <a:custGeom>
            <a:avLst/>
            <a:gdLst/>
            <a:ahLst/>
            <a:cxnLst/>
            <a:rect l="l" t="t" r="r" b="b"/>
            <a:pathLst>
              <a:path w="157882" h="157882">
                <a:moveTo>
                  <a:pt x="9868" y="19735"/>
                </a:moveTo>
                <a:cubicBezTo>
                  <a:pt x="4410" y="19735"/>
                  <a:pt x="0" y="24145"/>
                  <a:pt x="0" y="29603"/>
                </a:cubicBezTo>
                <a:cubicBezTo>
                  <a:pt x="0" y="35061"/>
                  <a:pt x="4410" y="39471"/>
                  <a:pt x="9868" y="39471"/>
                </a:cubicBezTo>
                <a:lnTo>
                  <a:pt x="36603" y="39471"/>
                </a:lnTo>
                <a:cubicBezTo>
                  <a:pt x="40396" y="48197"/>
                  <a:pt x="49091" y="54272"/>
                  <a:pt x="59206" y="54272"/>
                </a:cubicBezTo>
                <a:cubicBezTo>
                  <a:pt x="69320" y="54272"/>
                  <a:pt x="78016" y="48197"/>
                  <a:pt x="81809" y="39471"/>
                </a:cubicBezTo>
                <a:lnTo>
                  <a:pt x="148014" y="39471"/>
                </a:lnTo>
                <a:cubicBezTo>
                  <a:pt x="153472" y="39471"/>
                  <a:pt x="157882" y="35061"/>
                  <a:pt x="157882" y="29603"/>
                </a:cubicBezTo>
                <a:cubicBezTo>
                  <a:pt x="157882" y="24145"/>
                  <a:pt x="153472" y="19735"/>
                  <a:pt x="148014" y="19735"/>
                </a:cubicBezTo>
                <a:lnTo>
                  <a:pt x="81809" y="19735"/>
                </a:lnTo>
                <a:cubicBezTo>
                  <a:pt x="78016" y="11009"/>
                  <a:pt x="69320" y="4934"/>
                  <a:pt x="59206" y="4934"/>
                </a:cubicBezTo>
                <a:cubicBezTo>
                  <a:pt x="49091" y="4934"/>
                  <a:pt x="40396" y="11009"/>
                  <a:pt x="36603" y="19735"/>
                </a:cubicBezTo>
                <a:lnTo>
                  <a:pt x="9868" y="19735"/>
                </a:lnTo>
                <a:close/>
                <a:moveTo>
                  <a:pt x="9868" y="69073"/>
                </a:moveTo>
                <a:cubicBezTo>
                  <a:pt x="4410" y="69073"/>
                  <a:pt x="0" y="73483"/>
                  <a:pt x="0" y="78941"/>
                </a:cubicBezTo>
                <a:cubicBezTo>
                  <a:pt x="0" y="84399"/>
                  <a:pt x="4410" y="88809"/>
                  <a:pt x="9868" y="88809"/>
                </a:cubicBezTo>
                <a:lnTo>
                  <a:pt x="85941" y="88809"/>
                </a:lnTo>
                <a:cubicBezTo>
                  <a:pt x="89734" y="97535"/>
                  <a:pt x="98430" y="103610"/>
                  <a:pt x="108544" y="103610"/>
                </a:cubicBezTo>
                <a:cubicBezTo>
                  <a:pt x="118658" y="103610"/>
                  <a:pt x="127354" y="97535"/>
                  <a:pt x="131147" y="88809"/>
                </a:cubicBezTo>
                <a:lnTo>
                  <a:pt x="148014" y="88809"/>
                </a:lnTo>
                <a:cubicBezTo>
                  <a:pt x="153472" y="88809"/>
                  <a:pt x="157882" y="84399"/>
                  <a:pt x="157882" y="78941"/>
                </a:cubicBezTo>
                <a:cubicBezTo>
                  <a:pt x="157882" y="73483"/>
                  <a:pt x="153472" y="69073"/>
                  <a:pt x="148014" y="69073"/>
                </a:cubicBezTo>
                <a:lnTo>
                  <a:pt x="131147" y="69073"/>
                </a:lnTo>
                <a:cubicBezTo>
                  <a:pt x="127354" y="60347"/>
                  <a:pt x="118658" y="54272"/>
                  <a:pt x="108544" y="54272"/>
                </a:cubicBezTo>
                <a:cubicBezTo>
                  <a:pt x="98430" y="54272"/>
                  <a:pt x="89734" y="60347"/>
                  <a:pt x="85941" y="69073"/>
                </a:cubicBezTo>
                <a:lnTo>
                  <a:pt x="9868" y="69073"/>
                </a:lnTo>
                <a:close/>
                <a:moveTo>
                  <a:pt x="9868" y="118412"/>
                </a:moveTo>
                <a:cubicBezTo>
                  <a:pt x="4410" y="118412"/>
                  <a:pt x="0" y="122821"/>
                  <a:pt x="0" y="128279"/>
                </a:cubicBezTo>
                <a:cubicBezTo>
                  <a:pt x="0" y="133737"/>
                  <a:pt x="4410" y="138147"/>
                  <a:pt x="9868" y="138147"/>
                </a:cubicBezTo>
                <a:lnTo>
                  <a:pt x="26735" y="138147"/>
                </a:lnTo>
                <a:cubicBezTo>
                  <a:pt x="30528" y="146873"/>
                  <a:pt x="39224" y="152948"/>
                  <a:pt x="49338" y="152948"/>
                </a:cubicBezTo>
                <a:cubicBezTo>
                  <a:pt x="59452" y="152948"/>
                  <a:pt x="68148" y="146873"/>
                  <a:pt x="71941" y="138147"/>
                </a:cubicBezTo>
                <a:lnTo>
                  <a:pt x="148014" y="138147"/>
                </a:lnTo>
                <a:cubicBezTo>
                  <a:pt x="153472" y="138147"/>
                  <a:pt x="157882" y="133737"/>
                  <a:pt x="157882" y="128279"/>
                </a:cubicBezTo>
                <a:cubicBezTo>
                  <a:pt x="157882" y="122821"/>
                  <a:pt x="153472" y="118412"/>
                  <a:pt x="148014" y="118412"/>
                </a:cubicBezTo>
                <a:lnTo>
                  <a:pt x="71941" y="118412"/>
                </a:lnTo>
                <a:cubicBezTo>
                  <a:pt x="68148" y="109685"/>
                  <a:pt x="59452" y="103610"/>
                  <a:pt x="49338" y="103610"/>
                </a:cubicBezTo>
                <a:cubicBezTo>
                  <a:pt x="39224" y="103610"/>
                  <a:pt x="30528" y="109685"/>
                  <a:pt x="26735" y="118412"/>
                </a:cubicBezTo>
                <a:lnTo>
                  <a:pt x="9868" y="118412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5408227" y="2105094"/>
            <a:ext cx="237700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Simulador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2612" y="2280518"/>
            <a:ext cx="2368230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Escenarios en tiempo real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96709" y="2526005"/>
            <a:ext cx="157882" cy="210509"/>
          </a:xfrm>
          <a:custGeom>
            <a:avLst/>
            <a:gdLst/>
            <a:ahLst/>
            <a:cxnLst/>
            <a:rect l="l" t="t" r="r" b="b"/>
            <a:pathLst>
              <a:path w="157882" h="210509">
                <a:moveTo>
                  <a:pt x="69649" y="206645"/>
                </a:moveTo>
                <a:cubicBezTo>
                  <a:pt x="74788" y="211784"/>
                  <a:pt x="83135" y="211784"/>
                  <a:pt x="88274" y="206645"/>
                </a:cubicBezTo>
                <a:lnTo>
                  <a:pt x="154058" y="140860"/>
                </a:lnTo>
                <a:cubicBezTo>
                  <a:pt x="159198" y="135721"/>
                  <a:pt x="159198" y="127375"/>
                  <a:pt x="154058" y="122235"/>
                </a:cubicBezTo>
                <a:cubicBezTo>
                  <a:pt x="148919" y="117096"/>
                  <a:pt x="140573" y="117096"/>
                  <a:pt x="135433" y="122235"/>
                </a:cubicBezTo>
                <a:lnTo>
                  <a:pt x="92098" y="165571"/>
                </a:lnTo>
                <a:lnTo>
                  <a:pt x="92098" y="13157"/>
                </a:lnTo>
                <a:cubicBezTo>
                  <a:pt x="92098" y="5879"/>
                  <a:pt x="86218" y="0"/>
                  <a:pt x="78941" y="0"/>
                </a:cubicBezTo>
                <a:cubicBezTo>
                  <a:pt x="71664" y="0"/>
                  <a:pt x="65784" y="5879"/>
                  <a:pt x="65784" y="13157"/>
                </a:cubicBezTo>
                <a:lnTo>
                  <a:pt x="65784" y="165571"/>
                </a:lnTo>
                <a:lnTo>
                  <a:pt x="22449" y="122235"/>
                </a:lnTo>
                <a:cubicBezTo>
                  <a:pt x="17309" y="117096"/>
                  <a:pt x="8963" y="117096"/>
                  <a:pt x="3824" y="122235"/>
                </a:cubicBezTo>
                <a:cubicBezTo>
                  <a:pt x="-1316" y="127375"/>
                  <a:pt x="-1316" y="135721"/>
                  <a:pt x="3824" y="140860"/>
                </a:cubicBezTo>
                <a:lnTo>
                  <a:pt x="69608" y="206645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4" name="Shape 22"/>
          <p:cNvSpPr/>
          <p:nvPr/>
        </p:nvSpPr>
        <p:spPr>
          <a:xfrm>
            <a:off x="3894971" y="2841769"/>
            <a:ext cx="561358" cy="561358"/>
          </a:xfrm>
          <a:custGeom>
            <a:avLst/>
            <a:gdLst/>
            <a:ahLst/>
            <a:cxnLst/>
            <a:rect l="l" t="t" r="r" b="b"/>
            <a:pathLst>
              <a:path w="561358" h="561358">
                <a:moveTo>
                  <a:pt x="280679" y="0"/>
                </a:moveTo>
                <a:lnTo>
                  <a:pt x="280679" y="0"/>
                </a:lnTo>
                <a:cubicBezTo>
                  <a:pt x="435590" y="0"/>
                  <a:pt x="561358" y="125768"/>
                  <a:pt x="561358" y="280679"/>
                </a:cubicBezTo>
                <a:lnTo>
                  <a:pt x="561358" y="280679"/>
                </a:lnTo>
                <a:cubicBezTo>
                  <a:pt x="561358" y="435590"/>
                  <a:pt x="435590" y="561358"/>
                  <a:pt x="280679" y="561358"/>
                </a:cubicBezTo>
                <a:lnTo>
                  <a:pt x="280679" y="561358"/>
                </a:lnTo>
                <a:cubicBezTo>
                  <a:pt x="125768" y="561358"/>
                  <a:pt x="0" y="435590"/>
                  <a:pt x="0" y="280679"/>
                </a:cubicBezTo>
                <a:lnTo>
                  <a:pt x="0" y="280679"/>
                </a:lnTo>
                <a:cubicBezTo>
                  <a:pt x="0" y="125768"/>
                  <a:pt x="125768" y="0"/>
                  <a:pt x="28067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5" name="Shape 23"/>
          <p:cNvSpPr/>
          <p:nvPr/>
        </p:nvSpPr>
        <p:spPr>
          <a:xfrm>
            <a:off x="4070396" y="3017194"/>
            <a:ext cx="210509" cy="210509"/>
          </a:xfrm>
          <a:custGeom>
            <a:avLst/>
            <a:gdLst/>
            <a:ahLst/>
            <a:cxnLst/>
            <a:rect l="l" t="t" r="r" b="b"/>
            <a:pathLst>
              <a:path w="210509" h="210509">
                <a:moveTo>
                  <a:pt x="26314" y="13157"/>
                </a:moveTo>
                <a:cubicBezTo>
                  <a:pt x="11800" y="13157"/>
                  <a:pt x="0" y="24957"/>
                  <a:pt x="0" y="39471"/>
                </a:cubicBezTo>
                <a:lnTo>
                  <a:pt x="0" y="144725"/>
                </a:lnTo>
                <a:cubicBezTo>
                  <a:pt x="0" y="159239"/>
                  <a:pt x="11800" y="171039"/>
                  <a:pt x="26314" y="171039"/>
                </a:cubicBezTo>
                <a:lnTo>
                  <a:pt x="85519" y="171039"/>
                </a:lnTo>
                <a:lnTo>
                  <a:pt x="78941" y="190774"/>
                </a:lnTo>
                <a:lnTo>
                  <a:pt x="49338" y="190774"/>
                </a:lnTo>
                <a:cubicBezTo>
                  <a:pt x="43870" y="190774"/>
                  <a:pt x="39471" y="195173"/>
                  <a:pt x="39471" y="200642"/>
                </a:cubicBezTo>
                <a:cubicBezTo>
                  <a:pt x="39471" y="206110"/>
                  <a:pt x="43870" y="210509"/>
                  <a:pt x="49338" y="210509"/>
                </a:cubicBezTo>
                <a:lnTo>
                  <a:pt x="161171" y="210509"/>
                </a:lnTo>
                <a:cubicBezTo>
                  <a:pt x="166640" y="210509"/>
                  <a:pt x="171039" y="206110"/>
                  <a:pt x="171039" y="200642"/>
                </a:cubicBezTo>
                <a:cubicBezTo>
                  <a:pt x="171039" y="195173"/>
                  <a:pt x="166640" y="190774"/>
                  <a:pt x="161171" y="190774"/>
                </a:cubicBezTo>
                <a:lnTo>
                  <a:pt x="131568" y="190774"/>
                </a:lnTo>
                <a:lnTo>
                  <a:pt x="124990" y="171039"/>
                </a:lnTo>
                <a:lnTo>
                  <a:pt x="184196" y="171039"/>
                </a:lnTo>
                <a:cubicBezTo>
                  <a:pt x="198709" y="171039"/>
                  <a:pt x="210509" y="159239"/>
                  <a:pt x="210509" y="144725"/>
                </a:cubicBezTo>
                <a:lnTo>
                  <a:pt x="210509" y="39471"/>
                </a:lnTo>
                <a:cubicBezTo>
                  <a:pt x="210509" y="24957"/>
                  <a:pt x="198709" y="13157"/>
                  <a:pt x="184196" y="13157"/>
                </a:cubicBezTo>
                <a:lnTo>
                  <a:pt x="26314" y="13157"/>
                </a:lnTo>
                <a:close/>
                <a:moveTo>
                  <a:pt x="39471" y="39471"/>
                </a:moveTo>
                <a:lnTo>
                  <a:pt x="171039" y="39471"/>
                </a:lnTo>
                <a:cubicBezTo>
                  <a:pt x="178316" y="39471"/>
                  <a:pt x="184196" y="45350"/>
                  <a:pt x="184196" y="52627"/>
                </a:cubicBezTo>
                <a:lnTo>
                  <a:pt x="184196" y="118412"/>
                </a:lnTo>
                <a:cubicBezTo>
                  <a:pt x="184196" y="125689"/>
                  <a:pt x="178316" y="131568"/>
                  <a:pt x="171039" y="131568"/>
                </a:cubicBezTo>
                <a:lnTo>
                  <a:pt x="39471" y="131568"/>
                </a:lnTo>
                <a:cubicBezTo>
                  <a:pt x="32193" y="131568"/>
                  <a:pt x="26314" y="125689"/>
                  <a:pt x="26314" y="118412"/>
                </a:cubicBezTo>
                <a:lnTo>
                  <a:pt x="26314" y="52627"/>
                </a:lnTo>
                <a:cubicBezTo>
                  <a:pt x="26314" y="45350"/>
                  <a:pt x="32193" y="39471"/>
                  <a:pt x="39471" y="3947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56973" y="3473297"/>
            <a:ext cx="723625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3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Streamlit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5744" y="3718891"/>
            <a:ext cx="721871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web interactiva desplegable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8391" y="4210076"/>
            <a:ext cx="3736541" cy="2105094"/>
          </a:xfrm>
          <a:custGeom>
            <a:avLst/>
            <a:gdLst/>
            <a:ahLst/>
            <a:cxnLst/>
            <a:rect l="l" t="t" r="r" b="b"/>
            <a:pathLst>
              <a:path w="3736541" h="2105094">
                <a:moveTo>
                  <a:pt x="35085" y="0"/>
                </a:moveTo>
                <a:lnTo>
                  <a:pt x="3666378" y="0"/>
                </a:lnTo>
                <a:cubicBezTo>
                  <a:pt x="3705128" y="0"/>
                  <a:pt x="3736541" y="31413"/>
                  <a:pt x="3736541" y="70163"/>
                </a:cubicBezTo>
                <a:lnTo>
                  <a:pt x="3736541" y="2034931"/>
                </a:lnTo>
                <a:cubicBezTo>
                  <a:pt x="3736541" y="2073681"/>
                  <a:pt x="3705128" y="2105094"/>
                  <a:pt x="3666378" y="2105094"/>
                </a:cubicBezTo>
                <a:lnTo>
                  <a:pt x="35085" y="2105094"/>
                </a:lnTo>
                <a:cubicBezTo>
                  <a:pt x="15708" y="2105094"/>
                  <a:pt x="0" y="2089385"/>
                  <a:pt x="0" y="207000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391" y="4210076"/>
            <a:ext cx="35085" cy="2105094"/>
          </a:xfrm>
          <a:custGeom>
            <a:avLst/>
            <a:gdLst/>
            <a:ahLst/>
            <a:cxnLst/>
            <a:rect l="l" t="t" r="r" b="b"/>
            <a:pathLst>
              <a:path w="35085" h="2105094">
                <a:moveTo>
                  <a:pt x="35085" y="0"/>
                </a:moveTo>
                <a:lnTo>
                  <a:pt x="35085" y="0"/>
                </a:lnTo>
                <a:lnTo>
                  <a:pt x="35085" y="2105094"/>
                </a:lnTo>
                <a:lnTo>
                  <a:pt x="35085" y="2105094"/>
                </a:lnTo>
                <a:cubicBezTo>
                  <a:pt x="15708" y="2105094"/>
                  <a:pt x="0" y="2089385"/>
                  <a:pt x="0" y="207000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0" name="Text 28"/>
          <p:cNvSpPr/>
          <p:nvPr/>
        </p:nvSpPr>
        <p:spPr>
          <a:xfrm>
            <a:off x="491188" y="4315330"/>
            <a:ext cx="357865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Componentes del Dashboard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1188" y="4596010"/>
            <a:ext cx="3508489" cy="315764"/>
          </a:xfrm>
          <a:custGeom>
            <a:avLst/>
            <a:gdLst/>
            <a:ahLst/>
            <a:cxnLst/>
            <a:rect l="l" t="t" r="r" b="b"/>
            <a:pathLst>
              <a:path w="3508489" h="315764">
                <a:moveTo>
                  <a:pt x="35085" y="0"/>
                </a:moveTo>
                <a:lnTo>
                  <a:pt x="3473405" y="0"/>
                </a:lnTo>
                <a:cubicBezTo>
                  <a:pt x="3492781" y="0"/>
                  <a:pt x="3508489" y="15708"/>
                  <a:pt x="3508489" y="35085"/>
                </a:cubicBezTo>
                <a:lnTo>
                  <a:pt x="3508489" y="280679"/>
                </a:lnTo>
                <a:cubicBezTo>
                  <a:pt x="3508489" y="300056"/>
                  <a:pt x="3492781" y="315764"/>
                  <a:pt x="3473405" y="315764"/>
                </a:cubicBezTo>
                <a:lnTo>
                  <a:pt x="35085" y="315764"/>
                </a:lnTo>
                <a:cubicBezTo>
                  <a:pt x="15721" y="315764"/>
                  <a:pt x="0" y="300043"/>
                  <a:pt x="0" y="28067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8901" y="4683722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17542" y="17542"/>
                </a:moveTo>
                <a:cubicBezTo>
                  <a:pt x="17542" y="12691"/>
                  <a:pt x="13623" y="8771"/>
                  <a:pt x="8771" y="8771"/>
                </a:cubicBezTo>
                <a:cubicBezTo>
                  <a:pt x="3920" y="8771"/>
                  <a:pt x="0" y="12691"/>
                  <a:pt x="0" y="17542"/>
                </a:cubicBezTo>
                <a:lnTo>
                  <a:pt x="0" y="109640"/>
                </a:lnTo>
                <a:cubicBezTo>
                  <a:pt x="0" y="121756"/>
                  <a:pt x="9813" y="131568"/>
                  <a:pt x="21928" y="131568"/>
                </a:cubicBezTo>
                <a:lnTo>
                  <a:pt x="131568" y="131568"/>
                </a:lnTo>
                <a:cubicBezTo>
                  <a:pt x="136420" y="131568"/>
                  <a:pt x="140340" y="127649"/>
                  <a:pt x="140340" y="122797"/>
                </a:cubicBezTo>
                <a:cubicBezTo>
                  <a:pt x="140340" y="117946"/>
                  <a:pt x="136420" y="114026"/>
                  <a:pt x="131568" y="114026"/>
                </a:cubicBezTo>
                <a:lnTo>
                  <a:pt x="21928" y="114026"/>
                </a:lnTo>
                <a:cubicBezTo>
                  <a:pt x="19516" y="114026"/>
                  <a:pt x="17542" y="112052"/>
                  <a:pt x="17542" y="109640"/>
                </a:cubicBezTo>
                <a:lnTo>
                  <a:pt x="17542" y="17542"/>
                </a:lnTo>
                <a:close/>
                <a:moveTo>
                  <a:pt x="128992" y="41280"/>
                </a:moveTo>
                <a:cubicBezTo>
                  <a:pt x="132418" y="37853"/>
                  <a:pt x="132418" y="32289"/>
                  <a:pt x="128992" y="28863"/>
                </a:cubicBezTo>
                <a:cubicBezTo>
                  <a:pt x="125566" y="25437"/>
                  <a:pt x="120001" y="25437"/>
                  <a:pt x="116575" y="28863"/>
                </a:cubicBezTo>
                <a:lnTo>
                  <a:pt x="87712" y="57753"/>
                </a:lnTo>
                <a:lnTo>
                  <a:pt x="71979" y="42047"/>
                </a:lnTo>
                <a:cubicBezTo>
                  <a:pt x="68553" y="38621"/>
                  <a:pt x="62988" y="38621"/>
                  <a:pt x="59562" y="42047"/>
                </a:cubicBezTo>
                <a:lnTo>
                  <a:pt x="33248" y="68361"/>
                </a:lnTo>
                <a:cubicBezTo>
                  <a:pt x="29822" y="71787"/>
                  <a:pt x="29822" y="77351"/>
                  <a:pt x="33248" y="80777"/>
                </a:cubicBezTo>
                <a:cubicBezTo>
                  <a:pt x="36675" y="84204"/>
                  <a:pt x="42239" y="84204"/>
                  <a:pt x="45665" y="80777"/>
                </a:cubicBezTo>
                <a:lnTo>
                  <a:pt x="65784" y="60658"/>
                </a:lnTo>
                <a:lnTo>
                  <a:pt x="81518" y="76392"/>
                </a:lnTo>
                <a:cubicBezTo>
                  <a:pt x="84944" y="79818"/>
                  <a:pt x="90508" y="79818"/>
                  <a:pt x="93934" y="76392"/>
                </a:cubicBezTo>
                <a:lnTo>
                  <a:pt x="129019" y="41307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3" name="Text 31"/>
          <p:cNvSpPr/>
          <p:nvPr/>
        </p:nvSpPr>
        <p:spPr>
          <a:xfrm>
            <a:off x="806953" y="4666179"/>
            <a:ext cx="300852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 en tiempo real: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Ingresos, volumen, ticket promedio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1188" y="4946858"/>
            <a:ext cx="3508489" cy="315764"/>
          </a:xfrm>
          <a:custGeom>
            <a:avLst/>
            <a:gdLst/>
            <a:ahLst/>
            <a:cxnLst/>
            <a:rect l="l" t="t" r="r" b="b"/>
            <a:pathLst>
              <a:path w="3508489" h="315764">
                <a:moveTo>
                  <a:pt x="35085" y="0"/>
                </a:moveTo>
                <a:lnTo>
                  <a:pt x="3473405" y="0"/>
                </a:lnTo>
                <a:cubicBezTo>
                  <a:pt x="3492781" y="0"/>
                  <a:pt x="3508489" y="15708"/>
                  <a:pt x="3508489" y="35085"/>
                </a:cubicBezTo>
                <a:lnTo>
                  <a:pt x="3508489" y="280679"/>
                </a:lnTo>
                <a:cubicBezTo>
                  <a:pt x="3508489" y="300056"/>
                  <a:pt x="3492781" y="315764"/>
                  <a:pt x="3473405" y="315764"/>
                </a:cubicBezTo>
                <a:lnTo>
                  <a:pt x="35085" y="315764"/>
                </a:lnTo>
                <a:cubicBezTo>
                  <a:pt x="15721" y="315764"/>
                  <a:pt x="0" y="300043"/>
                  <a:pt x="0" y="28067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7672" y="5034571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35085" y="0"/>
                </a:moveTo>
                <a:cubicBezTo>
                  <a:pt x="39936" y="0"/>
                  <a:pt x="43856" y="3920"/>
                  <a:pt x="43856" y="8771"/>
                </a:cubicBezTo>
                <a:lnTo>
                  <a:pt x="43856" y="17542"/>
                </a:lnTo>
                <a:lnTo>
                  <a:pt x="78941" y="17542"/>
                </a:lnTo>
                <a:lnTo>
                  <a:pt x="78941" y="8771"/>
                </a:lnTo>
                <a:cubicBezTo>
                  <a:pt x="78941" y="3920"/>
                  <a:pt x="82861" y="0"/>
                  <a:pt x="87712" y="0"/>
                </a:cubicBezTo>
                <a:cubicBezTo>
                  <a:pt x="92564" y="0"/>
                  <a:pt x="96483" y="3920"/>
                  <a:pt x="96483" y="8771"/>
                </a:cubicBezTo>
                <a:lnTo>
                  <a:pt x="96483" y="17542"/>
                </a:lnTo>
                <a:lnTo>
                  <a:pt x="105255" y="17542"/>
                </a:lnTo>
                <a:cubicBezTo>
                  <a:pt x="114930" y="17542"/>
                  <a:pt x="122797" y="25409"/>
                  <a:pt x="122797" y="35085"/>
                </a:cubicBezTo>
                <a:lnTo>
                  <a:pt x="122797" y="114026"/>
                </a:lnTo>
                <a:cubicBezTo>
                  <a:pt x="122797" y="123702"/>
                  <a:pt x="114930" y="131568"/>
                  <a:pt x="105255" y="131568"/>
                </a:cubicBezTo>
                <a:lnTo>
                  <a:pt x="17542" y="131568"/>
                </a:lnTo>
                <a:cubicBezTo>
                  <a:pt x="7867" y="131568"/>
                  <a:pt x="0" y="123702"/>
                  <a:pt x="0" y="114026"/>
                </a:cubicBezTo>
                <a:lnTo>
                  <a:pt x="0" y="35085"/>
                </a:lnTo>
                <a:cubicBezTo>
                  <a:pt x="0" y="25409"/>
                  <a:pt x="7867" y="17542"/>
                  <a:pt x="17542" y="17542"/>
                </a:cubicBezTo>
                <a:lnTo>
                  <a:pt x="26314" y="17542"/>
                </a:lnTo>
                <a:lnTo>
                  <a:pt x="26314" y="8771"/>
                </a:lnTo>
                <a:cubicBezTo>
                  <a:pt x="26314" y="3920"/>
                  <a:pt x="30233" y="0"/>
                  <a:pt x="35085" y="0"/>
                </a:cubicBezTo>
                <a:close/>
                <a:moveTo>
                  <a:pt x="17542" y="65784"/>
                </a:moveTo>
                <a:lnTo>
                  <a:pt x="17542" y="74555"/>
                </a:lnTo>
                <a:cubicBezTo>
                  <a:pt x="17542" y="76967"/>
                  <a:pt x="19516" y="78941"/>
                  <a:pt x="21928" y="78941"/>
                </a:cubicBezTo>
                <a:lnTo>
                  <a:pt x="30699" y="78941"/>
                </a:lnTo>
                <a:cubicBezTo>
                  <a:pt x="33111" y="78941"/>
                  <a:pt x="35085" y="76967"/>
                  <a:pt x="35085" y="74555"/>
                </a:cubicBezTo>
                <a:lnTo>
                  <a:pt x="35085" y="65784"/>
                </a:lnTo>
                <a:cubicBezTo>
                  <a:pt x="35085" y="63372"/>
                  <a:pt x="33111" y="61399"/>
                  <a:pt x="30699" y="61399"/>
                </a:cubicBezTo>
                <a:lnTo>
                  <a:pt x="21928" y="61399"/>
                </a:lnTo>
                <a:cubicBezTo>
                  <a:pt x="19516" y="61399"/>
                  <a:pt x="17542" y="63372"/>
                  <a:pt x="17542" y="65784"/>
                </a:cubicBezTo>
                <a:close/>
                <a:moveTo>
                  <a:pt x="52627" y="65784"/>
                </a:moveTo>
                <a:lnTo>
                  <a:pt x="52627" y="74555"/>
                </a:lnTo>
                <a:cubicBezTo>
                  <a:pt x="52627" y="76967"/>
                  <a:pt x="54601" y="78941"/>
                  <a:pt x="57013" y="78941"/>
                </a:cubicBezTo>
                <a:lnTo>
                  <a:pt x="65784" y="78941"/>
                </a:lnTo>
                <a:cubicBezTo>
                  <a:pt x="68196" y="78941"/>
                  <a:pt x="70170" y="76967"/>
                  <a:pt x="70170" y="74555"/>
                </a:cubicBezTo>
                <a:lnTo>
                  <a:pt x="70170" y="65784"/>
                </a:lnTo>
                <a:cubicBezTo>
                  <a:pt x="70170" y="63372"/>
                  <a:pt x="68196" y="61399"/>
                  <a:pt x="65784" y="61399"/>
                </a:cubicBezTo>
                <a:lnTo>
                  <a:pt x="57013" y="61399"/>
                </a:lnTo>
                <a:cubicBezTo>
                  <a:pt x="54601" y="61399"/>
                  <a:pt x="52627" y="63372"/>
                  <a:pt x="52627" y="65784"/>
                </a:cubicBezTo>
                <a:close/>
                <a:moveTo>
                  <a:pt x="92098" y="61399"/>
                </a:moveTo>
                <a:cubicBezTo>
                  <a:pt x="89686" y="61399"/>
                  <a:pt x="87712" y="63372"/>
                  <a:pt x="87712" y="65784"/>
                </a:cubicBezTo>
                <a:lnTo>
                  <a:pt x="87712" y="74555"/>
                </a:lnTo>
                <a:cubicBezTo>
                  <a:pt x="87712" y="76967"/>
                  <a:pt x="89686" y="78941"/>
                  <a:pt x="92098" y="78941"/>
                </a:cubicBezTo>
                <a:lnTo>
                  <a:pt x="100869" y="78941"/>
                </a:lnTo>
                <a:cubicBezTo>
                  <a:pt x="103281" y="78941"/>
                  <a:pt x="105255" y="76967"/>
                  <a:pt x="105255" y="74555"/>
                </a:cubicBezTo>
                <a:lnTo>
                  <a:pt x="105255" y="65784"/>
                </a:lnTo>
                <a:cubicBezTo>
                  <a:pt x="105255" y="63372"/>
                  <a:pt x="103281" y="61399"/>
                  <a:pt x="100869" y="61399"/>
                </a:cubicBezTo>
                <a:lnTo>
                  <a:pt x="92098" y="61399"/>
                </a:lnTo>
                <a:close/>
                <a:moveTo>
                  <a:pt x="17542" y="100869"/>
                </a:moveTo>
                <a:lnTo>
                  <a:pt x="17542" y="109640"/>
                </a:lnTo>
                <a:cubicBezTo>
                  <a:pt x="17542" y="112052"/>
                  <a:pt x="19516" y="114026"/>
                  <a:pt x="21928" y="114026"/>
                </a:cubicBezTo>
                <a:lnTo>
                  <a:pt x="30699" y="114026"/>
                </a:lnTo>
                <a:cubicBezTo>
                  <a:pt x="33111" y="114026"/>
                  <a:pt x="35085" y="112052"/>
                  <a:pt x="35085" y="109640"/>
                </a:cubicBezTo>
                <a:lnTo>
                  <a:pt x="35085" y="100869"/>
                </a:lnTo>
                <a:cubicBezTo>
                  <a:pt x="35085" y="98457"/>
                  <a:pt x="33111" y="96483"/>
                  <a:pt x="30699" y="96483"/>
                </a:cubicBezTo>
                <a:lnTo>
                  <a:pt x="21928" y="96483"/>
                </a:lnTo>
                <a:cubicBezTo>
                  <a:pt x="19516" y="96483"/>
                  <a:pt x="17542" y="98457"/>
                  <a:pt x="17542" y="100869"/>
                </a:cubicBezTo>
                <a:close/>
                <a:moveTo>
                  <a:pt x="57013" y="96483"/>
                </a:moveTo>
                <a:cubicBezTo>
                  <a:pt x="54601" y="96483"/>
                  <a:pt x="52627" y="98457"/>
                  <a:pt x="52627" y="100869"/>
                </a:cubicBezTo>
                <a:lnTo>
                  <a:pt x="52627" y="109640"/>
                </a:lnTo>
                <a:cubicBezTo>
                  <a:pt x="52627" y="112052"/>
                  <a:pt x="54601" y="114026"/>
                  <a:pt x="57013" y="114026"/>
                </a:cubicBezTo>
                <a:lnTo>
                  <a:pt x="65784" y="114026"/>
                </a:lnTo>
                <a:cubicBezTo>
                  <a:pt x="68196" y="114026"/>
                  <a:pt x="70170" y="112052"/>
                  <a:pt x="70170" y="109640"/>
                </a:cubicBezTo>
                <a:lnTo>
                  <a:pt x="70170" y="100869"/>
                </a:lnTo>
                <a:cubicBezTo>
                  <a:pt x="70170" y="98457"/>
                  <a:pt x="68196" y="96483"/>
                  <a:pt x="65784" y="96483"/>
                </a:cubicBezTo>
                <a:lnTo>
                  <a:pt x="57013" y="96483"/>
                </a:lnTo>
                <a:close/>
                <a:moveTo>
                  <a:pt x="87712" y="100869"/>
                </a:moveTo>
                <a:lnTo>
                  <a:pt x="87712" y="109640"/>
                </a:lnTo>
                <a:cubicBezTo>
                  <a:pt x="87712" y="112052"/>
                  <a:pt x="89686" y="114026"/>
                  <a:pt x="92098" y="114026"/>
                </a:cubicBezTo>
                <a:lnTo>
                  <a:pt x="100869" y="114026"/>
                </a:lnTo>
                <a:cubicBezTo>
                  <a:pt x="103281" y="114026"/>
                  <a:pt x="105255" y="112052"/>
                  <a:pt x="105255" y="109640"/>
                </a:cubicBezTo>
                <a:lnTo>
                  <a:pt x="105255" y="100869"/>
                </a:lnTo>
                <a:cubicBezTo>
                  <a:pt x="105255" y="98457"/>
                  <a:pt x="103281" y="96483"/>
                  <a:pt x="100869" y="96483"/>
                </a:cubicBezTo>
                <a:lnTo>
                  <a:pt x="92098" y="96483"/>
                </a:lnTo>
                <a:cubicBezTo>
                  <a:pt x="89686" y="96483"/>
                  <a:pt x="87712" y="98457"/>
                  <a:pt x="87712" y="10086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6" name="Text 34"/>
          <p:cNvSpPr/>
          <p:nvPr/>
        </p:nvSpPr>
        <p:spPr>
          <a:xfrm>
            <a:off x="806953" y="5017028"/>
            <a:ext cx="2622596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visual: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Gráfico con bandas de confianza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1188" y="5297707"/>
            <a:ext cx="3508489" cy="315764"/>
          </a:xfrm>
          <a:custGeom>
            <a:avLst/>
            <a:gdLst/>
            <a:ahLst/>
            <a:cxnLst/>
            <a:rect l="l" t="t" r="r" b="b"/>
            <a:pathLst>
              <a:path w="3508489" h="315764">
                <a:moveTo>
                  <a:pt x="35085" y="0"/>
                </a:moveTo>
                <a:lnTo>
                  <a:pt x="3473405" y="0"/>
                </a:lnTo>
                <a:cubicBezTo>
                  <a:pt x="3492781" y="0"/>
                  <a:pt x="3508489" y="15708"/>
                  <a:pt x="3508489" y="35085"/>
                </a:cubicBezTo>
                <a:lnTo>
                  <a:pt x="3508489" y="280679"/>
                </a:lnTo>
                <a:cubicBezTo>
                  <a:pt x="3508489" y="300056"/>
                  <a:pt x="3492781" y="315764"/>
                  <a:pt x="3473405" y="315764"/>
                </a:cubicBezTo>
                <a:lnTo>
                  <a:pt x="35085" y="315764"/>
                </a:lnTo>
                <a:cubicBezTo>
                  <a:pt x="15721" y="315764"/>
                  <a:pt x="0" y="300043"/>
                  <a:pt x="0" y="28067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8901" y="5385420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8771" y="17542"/>
                </a:moveTo>
                <a:cubicBezTo>
                  <a:pt x="3920" y="17542"/>
                  <a:pt x="0" y="21462"/>
                  <a:pt x="0" y="26314"/>
                </a:cubicBezTo>
                <a:cubicBezTo>
                  <a:pt x="0" y="31165"/>
                  <a:pt x="3920" y="35085"/>
                  <a:pt x="8771" y="35085"/>
                </a:cubicBezTo>
                <a:lnTo>
                  <a:pt x="32536" y="35085"/>
                </a:lnTo>
                <a:cubicBezTo>
                  <a:pt x="35907" y="42842"/>
                  <a:pt x="43637" y="48242"/>
                  <a:pt x="52627" y="48242"/>
                </a:cubicBezTo>
                <a:cubicBezTo>
                  <a:pt x="61618" y="48242"/>
                  <a:pt x="69347" y="42842"/>
                  <a:pt x="72719" y="35085"/>
                </a:cubicBezTo>
                <a:lnTo>
                  <a:pt x="131568" y="35085"/>
                </a:lnTo>
                <a:cubicBezTo>
                  <a:pt x="136420" y="35085"/>
                  <a:pt x="140340" y="31165"/>
                  <a:pt x="140340" y="26314"/>
                </a:cubicBezTo>
                <a:cubicBezTo>
                  <a:pt x="140340" y="21462"/>
                  <a:pt x="136420" y="17542"/>
                  <a:pt x="131568" y="17542"/>
                </a:cubicBezTo>
                <a:lnTo>
                  <a:pt x="72719" y="17542"/>
                </a:lnTo>
                <a:cubicBezTo>
                  <a:pt x="69347" y="9785"/>
                  <a:pt x="61618" y="4386"/>
                  <a:pt x="52627" y="4386"/>
                </a:cubicBezTo>
                <a:cubicBezTo>
                  <a:pt x="43637" y="4386"/>
                  <a:pt x="35907" y="9785"/>
                  <a:pt x="32536" y="17542"/>
                </a:cubicBezTo>
                <a:lnTo>
                  <a:pt x="8771" y="17542"/>
                </a:lnTo>
                <a:close/>
                <a:moveTo>
                  <a:pt x="8771" y="61399"/>
                </a:moveTo>
                <a:cubicBezTo>
                  <a:pt x="3920" y="61399"/>
                  <a:pt x="0" y="65318"/>
                  <a:pt x="0" y="70170"/>
                </a:cubicBezTo>
                <a:cubicBezTo>
                  <a:pt x="0" y="75021"/>
                  <a:pt x="3920" y="78941"/>
                  <a:pt x="8771" y="78941"/>
                </a:cubicBezTo>
                <a:lnTo>
                  <a:pt x="76392" y="78941"/>
                </a:lnTo>
                <a:cubicBezTo>
                  <a:pt x="79763" y="86698"/>
                  <a:pt x="87493" y="92098"/>
                  <a:pt x="96483" y="92098"/>
                </a:cubicBezTo>
                <a:cubicBezTo>
                  <a:pt x="105474" y="92098"/>
                  <a:pt x="113204" y="86698"/>
                  <a:pt x="116575" y="78941"/>
                </a:cubicBezTo>
                <a:lnTo>
                  <a:pt x="131568" y="78941"/>
                </a:lnTo>
                <a:cubicBezTo>
                  <a:pt x="136420" y="78941"/>
                  <a:pt x="140340" y="75021"/>
                  <a:pt x="140340" y="70170"/>
                </a:cubicBezTo>
                <a:cubicBezTo>
                  <a:pt x="140340" y="65318"/>
                  <a:pt x="136420" y="61399"/>
                  <a:pt x="131568" y="61399"/>
                </a:cubicBezTo>
                <a:lnTo>
                  <a:pt x="116575" y="61399"/>
                </a:lnTo>
                <a:cubicBezTo>
                  <a:pt x="113204" y="53642"/>
                  <a:pt x="105474" y="48242"/>
                  <a:pt x="96483" y="48242"/>
                </a:cubicBezTo>
                <a:cubicBezTo>
                  <a:pt x="87493" y="48242"/>
                  <a:pt x="79763" y="53642"/>
                  <a:pt x="76392" y="61399"/>
                </a:cubicBezTo>
                <a:lnTo>
                  <a:pt x="8771" y="61399"/>
                </a:lnTo>
                <a:close/>
                <a:moveTo>
                  <a:pt x="8771" y="105255"/>
                </a:moveTo>
                <a:cubicBezTo>
                  <a:pt x="3920" y="105255"/>
                  <a:pt x="0" y="109174"/>
                  <a:pt x="0" y="114026"/>
                </a:cubicBezTo>
                <a:cubicBezTo>
                  <a:pt x="0" y="118877"/>
                  <a:pt x="3920" y="122797"/>
                  <a:pt x="8771" y="122797"/>
                </a:cubicBezTo>
                <a:lnTo>
                  <a:pt x="23765" y="122797"/>
                </a:lnTo>
                <a:cubicBezTo>
                  <a:pt x="27136" y="130554"/>
                  <a:pt x="34866" y="135954"/>
                  <a:pt x="43856" y="135954"/>
                </a:cubicBezTo>
                <a:cubicBezTo>
                  <a:pt x="52847" y="135954"/>
                  <a:pt x="60576" y="130554"/>
                  <a:pt x="63948" y="122797"/>
                </a:cubicBezTo>
                <a:lnTo>
                  <a:pt x="131568" y="122797"/>
                </a:lnTo>
                <a:cubicBezTo>
                  <a:pt x="136420" y="122797"/>
                  <a:pt x="140340" y="118877"/>
                  <a:pt x="140340" y="114026"/>
                </a:cubicBezTo>
                <a:cubicBezTo>
                  <a:pt x="140340" y="109174"/>
                  <a:pt x="136420" y="105255"/>
                  <a:pt x="131568" y="105255"/>
                </a:cubicBezTo>
                <a:lnTo>
                  <a:pt x="63948" y="105255"/>
                </a:lnTo>
                <a:cubicBezTo>
                  <a:pt x="60576" y="97498"/>
                  <a:pt x="52847" y="92098"/>
                  <a:pt x="43856" y="92098"/>
                </a:cubicBezTo>
                <a:cubicBezTo>
                  <a:pt x="34866" y="92098"/>
                  <a:pt x="27136" y="97498"/>
                  <a:pt x="23765" y="105255"/>
                </a:cubicBezTo>
                <a:lnTo>
                  <a:pt x="8771" y="105255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9" name="Text 37"/>
          <p:cNvSpPr/>
          <p:nvPr/>
        </p:nvSpPr>
        <p:spPr>
          <a:xfrm>
            <a:off x="806953" y="5367877"/>
            <a:ext cx="2683994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Simulador: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Controles interactivos para escenarios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91188" y="5648556"/>
            <a:ext cx="3508489" cy="315764"/>
          </a:xfrm>
          <a:custGeom>
            <a:avLst/>
            <a:gdLst/>
            <a:ahLst/>
            <a:cxnLst/>
            <a:rect l="l" t="t" r="r" b="b"/>
            <a:pathLst>
              <a:path w="3508489" h="315764">
                <a:moveTo>
                  <a:pt x="35085" y="0"/>
                </a:moveTo>
                <a:lnTo>
                  <a:pt x="3473405" y="0"/>
                </a:lnTo>
                <a:cubicBezTo>
                  <a:pt x="3492781" y="0"/>
                  <a:pt x="3508489" y="15708"/>
                  <a:pt x="3508489" y="35085"/>
                </a:cubicBezTo>
                <a:lnTo>
                  <a:pt x="3508489" y="280679"/>
                </a:lnTo>
                <a:cubicBezTo>
                  <a:pt x="3508489" y="300056"/>
                  <a:pt x="3492781" y="315764"/>
                  <a:pt x="3473405" y="315764"/>
                </a:cubicBezTo>
                <a:lnTo>
                  <a:pt x="35085" y="315764"/>
                </a:lnTo>
                <a:cubicBezTo>
                  <a:pt x="15721" y="315764"/>
                  <a:pt x="0" y="300043"/>
                  <a:pt x="0" y="280679"/>
                </a:cubicBezTo>
                <a:lnTo>
                  <a:pt x="0" y="35085"/>
                </a:lnTo>
                <a:cubicBezTo>
                  <a:pt x="0" y="15708"/>
                  <a:pt x="15708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7672" y="5736269"/>
            <a:ext cx="122797" cy="140340"/>
          </a:xfrm>
          <a:custGeom>
            <a:avLst/>
            <a:gdLst/>
            <a:ahLst/>
            <a:cxnLst/>
            <a:rect l="l" t="t" r="r" b="b"/>
            <a:pathLst>
              <a:path w="122797" h="140340">
                <a:moveTo>
                  <a:pt x="70170" y="43856"/>
                </a:moveTo>
                <a:lnTo>
                  <a:pt x="70170" y="70170"/>
                </a:lnTo>
                <a:lnTo>
                  <a:pt x="105255" y="70170"/>
                </a:lnTo>
                <a:lnTo>
                  <a:pt x="105255" y="43856"/>
                </a:lnTo>
                <a:lnTo>
                  <a:pt x="70170" y="43856"/>
                </a:lnTo>
                <a:close/>
                <a:moveTo>
                  <a:pt x="52627" y="43856"/>
                </a:moveTo>
                <a:lnTo>
                  <a:pt x="17542" y="43856"/>
                </a:lnTo>
                <a:lnTo>
                  <a:pt x="17542" y="70170"/>
                </a:lnTo>
                <a:lnTo>
                  <a:pt x="52627" y="70170"/>
                </a:lnTo>
                <a:lnTo>
                  <a:pt x="52627" y="43856"/>
                </a:lnTo>
                <a:close/>
                <a:moveTo>
                  <a:pt x="0" y="87712"/>
                </a:moveTo>
                <a:lnTo>
                  <a:pt x="0" y="26314"/>
                </a:lnTo>
                <a:cubicBezTo>
                  <a:pt x="0" y="16638"/>
                  <a:pt x="7867" y="8771"/>
                  <a:pt x="17542" y="8771"/>
                </a:cubicBezTo>
                <a:lnTo>
                  <a:pt x="105255" y="8771"/>
                </a:lnTo>
                <a:cubicBezTo>
                  <a:pt x="114930" y="8771"/>
                  <a:pt x="122797" y="16638"/>
                  <a:pt x="122797" y="26314"/>
                </a:cubicBezTo>
                <a:lnTo>
                  <a:pt x="122797" y="114026"/>
                </a:lnTo>
                <a:cubicBezTo>
                  <a:pt x="122797" y="123702"/>
                  <a:pt x="114930" y="131568"/>
                  <a:pt x="105255" y="131568"/>
                </a:cubicBezTo>
                <a:lnTo>
                  <a:pt x="17542" y="131568"/>
                </a:lnTo>
                <a:cubicBezTo>
                  <a:pt x="7867" y="131568"/>
                  <a:pt x="0" y="123702"/>
                  <a:pt x="0" y="114026"/>
                </a:cubicBezTo>
                <a:lnTo>
                  <a:pt x="0" y="87712"/>
                </a:lnTo>
                <a:close/>
                <a:moveTo>
                  <a:pt x="105255" y="87712"/>
                </a:moveTo>
                <a:lnTo>
                  <a:pt x="70170" y="87712"/>
                </a:lnTo>
                <a:lnTo>
                  <a:pt x="70170" y="114026"/>
                </a:lnTo>
                <a:lnTo>
                  <a:pt x="105255" y="114026"/>
                </a:lnTo>
                <a:lnTo>
                  <a:pt x="105255" y="87712"/>
                </a:lnTo>
                <a:close/>
                <a:moveTo>
                  <a:pt x="52627" y="114026"/>
                </a:moveTo>
                <a:lnTo>
                  <a:pt x="52627" y="87712"/>
                </a:lnTo>
                <a:lnTo>
                  <a:pt x="17542" y="87712"/>
                </a:lnTo>
                <a:lnTo>
                  <a:pt x="17542" y="114026"/>
                </a:lnTo>
                <a:lnTo>
                  <a:pt x="52627" y="114026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2" name="Text 40"/>
          <p:cNvSpPr/>
          <p:nvPr/>
        </p:nvSpPr>
        <p:spPr>
          <a:xfrm>
            <a:off x="806953" y="5718726"/>
            <a:ext cx="256996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exportables: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Datos descargables en CSV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28278" y="4210076"/>
            <a:ext cx="3736541" cy="2105094"/>
          </a:xfrm>
          <a:custGeom>
            <a:avLst/>
            <a:gdLst/>
            <a:ahLst/>
            <a:cxnLst/>
            <a:rect l="l" t="t" r="r" b="b"/>
            <a:pathLst>
              <a:path w="3736541" h="2105094">
                <a:moveTo>
                  <a:pt x="35085" y="0"/>
                </a:moveTo>
                <a:lnTo>
                  <a:pt x="3666378" y="0"/>
                </a:lnTo>
                <a:cubicBezTo>
                  <a:pt x="3705128" y="0"/>
                  <a:pt x="3736541" y="31413"/>
                  <a:pt x="3736541" y="70163"/>
                </a:cubicBezTo>
                <a:lnTo>
                  <a:pt x="3736541" y="2034931"/>
                </a:lnTo>
                <a:cubicBezTo>
                  <a:pt x="3736541" y="2073681"/>
                  <a:pt x="3705128" y="2105094"/>
                  <a:pt x="3666378" y="2105094"/>
                </a:cubicBezTo>
                <a:lnTo>
                  <a:pt x="35085" y="2105094"/>
                </a:lnTo>
                <a:cubicBezTo>
                  <a:pt x="15708" y="2105094"/>
                  <a:pt x="0" y="2089385"/>
                  <a:pt x="0" y="207000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28278" y="4210076"/>
            <a:ext cx="35085" cy="2105094"/>
          </a:xfrm>
          <a:custGeom>
            <a:avLst/>
            <a:gdLst/>
            <a:ahLst/>
            <a:cxnLst/>
            <a:rect l="l" t="t" r="r" b="b"/>
            <a:pathLst>
              <a:path w="35085" h="2105094">
                <a:moveTo>
                  <a:pt x="35085" y="0"/>
                </a:moveTo>
                <a:lnTo>
                  <a:pt x="35085" y="0"/>
                </a:lnTo>
                <a:lnTo>
                  <a:pt x="35085" y="2105094"/>
                </a:lnTo>
                <a:lnTo>
                  <a:pt x="35085" y="2105094"/>
                </a:lnTo>
                <a:cubicBezTo>
                  <a:pt x="15708" y="2105094"/>
                  <a:pt x="0" y="2089385"/>
                  <a:pt x="0" y="207000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5" name="Text 43"/>
          <p:cNvSpPr/>
          <p:nvPr/>
        </p:nvSpPr>
        <p:spPr>
          <a:xfrm>
            <a:off x="4351075" y="4315330"/>
            <a:ext cx="3578659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Tecnología Stack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51075" y="4596010"/>
            <a:ext cx="3508489" cy="491188"/>
          </a:xfrm>
          <a:custGeom>
            <a:avLst/>
            <a:gdLst/>
            <a:ahLst/>
            <a:cxnLst/>
            <a:rect l="l" t="t" r="r" b="b"/>
            <a:pathLst>
              <a:path w="3508489" h="491188">
                <a:moveTo>
                  <a:pt x="35086" y="0"/>
                </a:moveTo>
                <a:lnTo>
                  <a:pt x="3473404" y="0"/>
                </a:lnTo>
                <a:cubicBezTo>
                  <a:pt x="3492781" y="0"/>
                  <a:pt x="3508489" y="15708"/>
                  <a:pt x="3508489" y="35086"/>
                </a:cubicBezTo>
                <a:lnTo>
                  <a:pt x="3508489" y="456103"/>
                </a:lnTo>
                <a:cubicBezTo>
                  <a:pt x="3508489" y="475480"/>
                  <a:pt x="3492781" y="491188"/>
                  <a:pt x="3473404" y="491188"/>
                </a:cubicBezTo>
                <a:lnTo>
                  <a:pt x="35086" y="491188"/>
                </a:lnTo>
                <a:cubicBezTo>
                  <a:pt x="15721" y="491188"/>
                  <a:pt x="0" y="475467"/>
                  <a:pt x="0" y="456103"/>
                </a:cubicBezTo>
                <a:lnTo>
                  <a:pt x="0" y="35086"/>
                </a:lnTo>
                <a:cubicBezTo>
                  <a:pt x="0" y="15721"/>
                  <a:pt x="15721" y="0"/>
                  <a:pt x="35086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21245" y="4666179"/>
            <a:ext cx="342954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21245" y="4841604"/>
            <a:ext cx="342954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+ Plotly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351075" y="5157368"/>
            <a:ext cx="3508489" cy="491188"/>
          </a:xfrm>
          <a:custGeom>
            <a:avLst/>
            <a:gdLst/>
            <a:ahLst/>
            <a:cxnLst/>
            <a:rect l="l" t="t" r="r" b="b"/>
            <a:pathLst>
              <a:path w="3508489" h="491188">
                <a:moveTo>
                  <a:pt x="35086" y="0"/>
                </a:moveTo>
                <a:lnTo>
                  <a:pt x="3473404" y="0"/>
                </a:lnTo>
                <a:cubicBezTo>
                  <a:pt x="3492781" y="0"/>
                  <a:pt x="3508489" y="15708"/>
                  <a:pt x="3508489" y="35086"/>
                </a:cubicBezTo>
                <a:lnTo>
                  <a:pt x="3508489" y="456103"/>
                </a:lnTo>
                <a:cubicBezTo>
                  <a:pt x="3508489" y="475480"/>
                  <a:pt x="3492781" y="491188"/>
                  <a:pt x="3473404" y="491188"/>
                </a:cubicBezTo>
                <a:lnTo>
                  <a:pt x="35086" y="491188"/>
                </a:lnTo>
                <a:cubicBezTo>
                  <a:pt x="15721" y="491188"/>
                  <a:pt x="0" y="475467"/>
                  <a:pt x="0" y="456103"/>
                </a:cubicBezTo>
                <a:lnTo>
                  <a:pt x="0" y="35086"/>
                </a:lnTo>
                <a:cubicBezTo>
                  <a:pt x="0" y="15721"/>
                  <a:pt x="15721" y="0"/>
                  <a:pt x="35086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21245" y="5227538"/>
            <a:ext cx="342954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21245" y="5402962"/>
            <a:ext cx="342954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Prophet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51075" y="5718726"/>
            <a:ext cx="3508489" cy="491188"/>
          </a:xfrm>
          <a:custGeom>
            <a:avLst/>
            <a:gdLst/>
            <a:ahLst/>
            <a:cxnLst/>
            <a:rect l="l" t="t" r="r" b="b"/>
            <a:pathLst>
              <a:path w="3508489" h="491188">
                <a:moveTo>
                  <a:pt x="35086" y="0"/>
                </a:moveTo>
                <a:lnTo>
                  <a:pt x="3473404" y="0"/>
                </a:lnTo>
                <a:cubicBezTo>
                  <a:pt x="3492781" y="0"/>
                  <a:pt x="3508489" y="15708"/>
                  <a:pt x="3508489" y="35086"/>
                </a:cubicBezTo>
                <a:lnTo>
                  <a:pt x="3508489" y="456103"/>
                </a:lnTo>
                <a:cubicBezTo>
                  <a:pt x="3508489" y="475480"/>
                  <a:pt x="3492781" y="491188"/>
                  <a:pt x="3473404" y="491188"/>
                </a:cubicBezTo>
                <a:lnTo>
                  <a:pt x="35086" y="491188"/>
                </a:lnTo>
                <a:cubicBezTo>
                  <a:pt x="15721" y="491188"/>
                  <a:pt x="0" y="475467"/>
                  <a:pt x="0" y="456103"/>
                </a:cubicBezTo>
                <a:lnTo>
                  <a:pt x="0" y="35086"/>
                </a:lnTo>
                <a:cubicBezTo>
                  <a:pt x="0" y="15721"/>
                  <a:pt x="15721" y="0"/>
                  <a:pt x="35086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421245" y="5788896"/>
            <a:ext cx="342954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421245" y="5964320"/>
            <a:ext cx="342954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Cloud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09325" y="1091140"/>
            <a:ext cx="3726016" cy="1305158"/>
          </a:xfrm>
          <a:custGeom>
            <a:avLst/>
            <a:gdLst/>
            <a:ahLst/>
            <a:cxnLst/>
            <a:rect l="l" t="t" r="r" b="b"/>
            <a:pathLst>
              <a:path w="3726016" h="1305158">
                <a:moveTo>
                  <a:pt x="70165" y="0"/>
                </a:moveTo>
                <a:lnTo>
                  <a:pt x="3655850" y="0"/>
                </a:lnTo>
                <a:cubicBezTo>
                  <a:pt x="3694601" y="0"/>
                  <a:pt x="3726016" y="31414"/>
                  <a:pt x="3726016" y="70165"/>
                </a:cubicBezTo>
                <a:lnTo>
                  <a:pt x="3726016" y="1234993"/>
                </a:lnTo>
                <a:cubicBezTo>
                  <a:pt x="3726016" y="1273744"/>
                  <a:pt x="3694601" y="1305158"/>
                  <a:pt x="3655850" y="1305158"/>
                </a:cubicBezTo>
                <a:lnTo>
                  <a:pt x="70165" y="1305158"/>
                </a:lnTo>
                <a:cubicBezTo>
                  <a:pt x="31414" y="1305158"/>
                  <a:pt x="0" y="1273744"/>
                  <a:pt x="0" y="1234993"/>
                </a:cubicBezTo>
                <a:lnTo>
                  <a:pt x="0" y="70165"/>
                </a:lnTo>
                <a:cubicBezTo>
                  <a:pt x="0" y="31440"/>
                  <a:pt x="31440" y="0"/>
                  <a:pt x="70165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35630" y="1234991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35085" y="87712"/>
                </a:moveTo>
                <a:lnTo>
                  <a:pt x="6715" y="87712"/>
                </a:lnTo>
                <a:cubicBezTo>
                  <a:pt x="-110" y="87712"/>
                  <a:pt x="-4303" y="80284"/>
                  <a:pt x="-795" y="74418"/>
                </a:cubicBezTo>
                <a:lnTo>
                  <a:pt x="13705" y="50243"/>
                </a:lnTo>
                <a:cubicBezTo>
                  <a:pt x="16090" y="46268"/>
                  <a:pt x="20366" y="43856"/>
                  <a:pt x="24998" y="43856"/>
                </a:cubicBezTo>
                <a:lnTo>
                  <a:pt x="51038" y="43856"/>
                </a:lnTo>
                <a:cubicBezTo>
                  <a:pt x="71897" y="8525"/>
                  <a:pt x="103007" y="6743"/>
                  <a:pt x="123811" y="9785"/>
                </a:cubicBezTo>
                <a:cubicBezTo>
                  <a:pt x="127320" y="10306"/>
                  <a:pt x="130061" y="13047"/>
                  <a:pt x="130554" y="16528"/>
                </a:cubicBezTo>
                <a:cubicBezTo>
                  <a:pt x="133597" y="37333"/>
                  <a:pt x="131815" y="68443"/>
                  <a:pt x="96483" y="89302"/>
                </a:cubicBezTo>
                <a:lnTo>
                  <a:pt x="96483" y="115342"/>
                </a:lnTo>
                <a:cubicBezTo>
                  <a:pt x="96483" y="119974"/>
                  <a:pt x="94071" y="124250"/>
                  <a:pt x="90097" y="126635"/>
                </a:cubicBezTo>
                <a:lnTo>
                  <a:pt x="65921" y="141134"/>
                </a:lnTo>
                <a:cubicBezTo>
                  <a:pt x="60083" y="144643"/>
                  <a:pt x="52627" y="140422"/>
                  <a:pt x="52627" y="133624"/>
                </a:cubicBezTo>
                <a:lnTo>
                  <a:pt x="52627" y="105255"/>
                </a:lnTo>
                <a:cubicBezTo>
                  <a:pt x="52627" y="95579"/>
                  <a:pt x="44761" y="87712"/>
                  <a:pt x="35085" y="87712"/>
                </a:cubicBezTo>
                <a:lnTo>
                  <a:pt x="35057" y="87712"/>
                </a:lnTo>
                <a:close/>
                <a:moveTo>
                  <a:pt x="109640" y="43856"/>
                </a:moveTo>
                <a:cubicBezTo>
                  <a:pt x="109640" y="36595"/>
                  <a:pt x="103745" y="30699"/>
                  <a:pt x="96483" y="30699"/>
                </a:cubicBezTo>
                <a:cubicBezTo>
                  <a:pt x="89222" y="30699"/>
                  <a:pt x="83327" y="36595"/>
                  <a:pt x="83327" y="43856"/>
                </a:cubicBezTo>
                <a:cubicBezTo>
                  <a:pt x="83327" y="51118"/>
                  <a:pt x="89222" y="57013"/>
                  <a:pt x="96483" y="57013"/>
                </a:cubicBezTo>
                <a:cubicBezTo>
                  <a:pt x="103745" y="57013"/>
                  <a:pt x="109640" y="51118"/>
                  <a:pt x="109640" y="43856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7" name="Text 55"/>
          <p:cNvSpPr/>
          <p:nvPr/>
        </p:nvSpPr>
        <p:spPr>
          <a:xfrm>
            <a:off x="8393512" y="1199906"/>
            <a:ext cx="340323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Características del Producto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43305" y="1515670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9" name="Text 57"/>
          <p:cNvSpPr/>
          <p:nvPr/>
        </p:nvSpPr>
        <p:spPr>
          <a:xfrm>
            <a:off x="8441754" y="1480585"/>
            <a:ext cx="245594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Accesibilidad: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Solo navegador, sin instalación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43305" y="1726179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1" name="Text 59"/>
          <p:cNvSpPr/>
          <p:nvPr/>
        </p:nvSpPr>
        <p:spPr>
          <a:xfrm>
            <a:off x="8441754" y="1691094"/>
            <a:ext cx="194721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Desktop, tablet y móvil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43305" y="1936689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3" name="Text 61"/>
          <p:cNvSpPr/>
          <p:nvPr/>
        </p:nvSpPr>
        <p:spPr>
          <a:xfrm>
            <a:off x="8441754" y="1901604"/>
            <a:ext cx="2298060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Autenticación: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 de acceso opcional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43305" y="2147198"/>
            <a:ext cx="107447" cy="122797"/>
          </a:xfrm>
          <a:custGeom>
            <a:avLst/>
            <a:gdLst/>
            <a:ahLst/>
            <a:cxnLst/>
            <a:rect l="l" t="t" r="r" b="b"/>
            <a:pathLst>
              <a:path w="107447" h="122797">
                <a:moveTo>
                  <a:pt x="104282" y="16813"/>
                </a:moveTo>
                <a:cubicBezTo>
                  <a:pt x="107711" y="19307"/>
                  <a:pt x="108479" y="24104"/>
                  <a:pt x="105984" y="27533"/>
                </a:cubicBezTo>
                <a:lnTo>
                  <a:pt x="44586" y="111956"/>
                </a:lnTo>
                <a:cubicBezTo>
                  <a:pt x="43267" y="113779"/>
                  <a:pt x="41228" y="114906"/>
                  <a:pt x="38974" y="115098"/>
                </a:cubicBezTo>
                <a:cubicBezTo>
                  <a:pt x="36719" y="115290"/>
                  <a:pt x="34537" y="114451"/>
                  <a:pt x="32954" y="112868"/>
                </a:cubicBezTo>
                <a:lnTo>
                  <a:pt x="2254" y="82169"/>
                </a:lnTo>
                <a:cubicBezTo>
                  <a:pt x="-743" y="79171"/>
                  <a:pt x="-743" y="74302"/>
                  <a:pt x="2254" y="71304"/>
                </a:cubicBezTo>
                <a:cubicBezTo>
                  <a:pt x="5252" y="68306"/>
                  <a:pt x="10121" y="68306"/>
                  <a:pt x="13119" y="71304"/>
                </a:cubicBezTo>
                <a:lnTo>
                  <a:pt x="37463" y="95647"/>
                </a:lnTo>
                <a:lnTo>
                  <a:pt x="93585" y="18492"/>
                </a:lnTo>
                <a:cubicBezTo>
                  <a:pt x="96079" y="15062"/>
                  <a:pt x="100876" y="14294"/>
                  <a:pt x="104306" y="16789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5" name="Text 63"/>
          <p:cNvSpPr/>
          <p:nvPr/>
        </p:nvSpPr>
        <p:spPr>
          <a:xfrm>
            <a:off x="8441754" y="2112113"/>
            <a:ext cx="192089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Actualización:</a:t>
            </a:r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Datos en tiempo real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05816" y="2505062"/>
            <a:ext cx="3736541" cy="1298141"/>
          </a:xfrm>
          <a:custGeom>
            <a:avLst/>
            <a:gdLst/>
            <a:ahLst/>
            <a:cxnLst/>
            <a:rect l="l" t="t" r="r" b="b"/>
            <a:pathLst>
              <a:path w="3736541" h="1298141">
                <a:moveTo>
                  <a:pt x="70165" y="0"/>
                </a:moveTo>
                <a:lnTo>
                  <a:pt x="3666376" y="0"/>
                </a:lnTo>
                <a:cubicBezTo>
                  <a:pt x="3705127" y="0"/>
                  <a:pt x="3736541" y="31414"/>
                  <a:pt x="3736541" y="70165"/>
                </a:cubicBezTo>
                <a:lnTo>
                  <a:pt x="3736541" y="1227976"/>
                </a:lnTo>
                <a:cubicBezTo>
                  <a:pt x="3736541" y="1266727"/>
                  <a:pt x="3705127" y="1298141"/>
                  <a:pt x="3666376" y="1298141"/>
                </a:cubicBezTo>
                <a:lnTo>
                  <a:pt x="70165" y="1298141"/>
                </a:lnTo>
                <a:cubicBezTo>
                  <a:pt x="31440" y="1298141"/>
                  <a:pt x="0" y="1266701"/>
                  <a:pt x="0" y="1227976"/>
                </a:cubicBezTo>
                <a:lnTo>
                  <a:pt x="0" y="70165"/>
                </a:lnTo>
                <a:cubicBezTo>
                  <a:pt x="0" y="31414"/>
                  <a:pt x="31414" y="0"/>
                  <a:pt x="7016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211071" y="2610317"/>
            <a:ext cx="3596201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Usuario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11071" y="2890996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0"/>
                </a:moveTo>
                <a:lnTo>
                  <a:pt x="87712" y="0"/>
                </a:lnTo>
                <a:cubicBezTo>
                  <a:pt x="136154" y="0"/>
                  <a:pt x="175424" y="39270"/>
                  <a:pt x="175424" y="87712"/>
                </a:cubicBezTo>
                <a:lnTo>
                  <a:pt x="175424" y="87712"/>
                </a:lnTo>
                <a:cubicBezTo>
                  <a:pt x="175424" y="136154"/>
                  <a:pt x="136154" y="175424"/>
                  <a:pt x="87712" y="175424"/>
                </a:cubicBezTo>
                <a:lnTo>
                  <a:pt x="87712" y="175424"/>
                </a:lnTo>
                <a:cubicBezTo>
                  <a:pt x="39270" y="175424"/>
                  <a:pt x="0" y="136154"/>
                  <a:pt x="0" y="87712"/>
                </a:cubicBezTo>
                <a:lnTo>
                  <a:pt x="0" y="87712"/>
                </a:lnTo>
                <a:cubicBezTo>
                  <a:pt x="0" y="39270"/>
                  <a:pt x="39270" y="0"/>
                  <a:pt x="8771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9" name="Text 67"/>
          <p:cNvSpPr/>
          <p:nvPr/>
        </p:nvSpPr>
        <p:spPr>
          <a:xfrm>
            <a:off x="8282008" y="2908538"/>
            <a:ext cx="87712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456665" y="2890996"/>
            <a:ext cx="894665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Accede vía URL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11071" y="3101505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0"/>
                </a:moveTo>
                <a:lnTo>
                  <a:pt x="87712" y="0"/>
                </a:lnTo>
                <a:cubicBezTo>
                  <a:pt x="136154" y="0"/>
                  <a:pt x="175424" y="39270"/>
                  <a:pt x="175424" y="87712"/>
                </a:cubicBezTo>
                <a:lnTo>
                  <a:pt x="175424" y="87712"/>
                </a:lnTo>
                <a:cubicBezTo>
                  <a:pt x="175424" y="136154"/>
                  <a:pt x="136154" y="175424"/>
                  <a:pt x="87712" y="175424"/>
                </a:cubicBezTo>
                <a:lnTo>
                  <a:pt x="87712" y="175424"/>
                </a:lnTo>
                <a:cubicBezTo>
                  <a:pt x="39270" y="175424"/>
                  <a:pt x="0" y="136154"/>
                  <a:pt x="0" y="87712"/>
                </a:cubicBezTo>
                <a:lnTo>
                  <a:pt x="0" y="87712"/>
                </a:lnTo>
                <a:cubicBezTo>
                  <a:pt x="0" y="39270"/>
                  <a:pt x="39270" y="0"/>
                  <a:pt x="8771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2" name="Text 70"/>
          <p:cNvSpPr/>
          <p:nvPr/>
        </p:nvSpPr>
        <p:spPr>
          <a:xfrm>
            <a:off x="8271921" y="3119048"/>
            <a:ext cx="10525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56665" y="3101505"/>
            <a:ext cx="77186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 KPIs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11071" y="3312015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0"/>
                </a:moveTo>
                <a:lnTo>
                  <a:pt x="87712" y="0"/>
                </a:lnTo>
                <a:cubicBezTo>
                  <a:pt x="136154" y="0"/>
                  <a:pt x="175424" y="39270"/>
                  <a:pt x="175424" y="87712"/>
                </a:cubicBezTo>
                <a:lnTo>
                  <a:pt x="175424" y="87712"/>
                </a:lnTo>
                <a:cubicBezTo>
                  <a:pt x="175424" y="136154"/>
                  <a:pt x="136154" y="175424"/>
                  <a:pt x="87712" y="175424"/>
                </a:cubicBezTo>
                <a:lnTo>
                  <a:pt x="87712" y="175424"/>
                </a:lnTo>
                <a:cubicBezTo>
                  <a:pt x="39270" y="175424"/>
                  <a:pt x="0" y="136154"/>
                  <a:pt x="0" y="87712"/>
                </a:cubicBezTo>
                <a:lnTo>
                  <a:pt x="0" y="87712"/>
                </a:lnTo>
                <a:cubicBezTo>
                  <a:pt x="0" y="39270"/>
                  <a:pt x="39270" y="0"/>
                  <a:pt x="8771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5" name="Text 73"/>
          <p:cNvSpPr/>
          <p:nvPr/>
        </p:nvSpPr>
        <p:spPr>
          <a:xfrm>
            <a:off x="8270605" y="3329557"/>
            <a:ext cx="10525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56665" y="3312015"/>
            <a:ext cx="947292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Ajusta simulador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11071" y="3522524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87712" y="0"/>
                </a:moveTo>
                <a:lnTo>
                  <a:pt x="87712" y="0"/>
                </a:lnTo>
                <a:cubicBezTo>
                  <a:pt x="136154" y="0"/>
                  <a:pt x="175424" y="39270"/>
                  <a:pt x="175424" y="87712"/>
                </a:cubicBezTo>
                <a:lnTo>
                  <a:pt x="175424" y="87712"/>
                </a:lnTo>
                <a:cubicBezTo>
                  <a:pt x="175424" y="136154"/>
                  <a:pt x="136154" y="175424"/>
                  <a:pt x="87712" y="175424"/>
                </a:cubicBezTo>
                <a:lnTo>
                  <a:pt x="87712" y="175424"/>
                </a:lnTo>
                <a:cubicBezTo>
                  <a:pt x="39270" y="175424"/>
                  <a:pt x="0" y="136154"/>
                  <a:pt x="0" y="87712"/>
                </a:cubicBezTo>
                <a:lnTo>
                  <a:pt x="0" y="87712"/>
                </a:lnTo>
                <a:cubicBezTo>
                  <a:pt x="0" y="39270"/>
                  <a:pt x="39270" y="0"/>
                  <a:pt x="87712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8" name="Text 76"/>
          <p:cNvSpPr/>
          <p:nvPr/>
        </p:nvSpPr>
        <p:spPr>
          <a:xfrm>
            <a:off x="8272031" y="3540066"/>
            <a:ext cx="105255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56665" y="3522524"/>
            <a:ext cx="105254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Exporta resultados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123359" y="3908458"/>
            <a:ext cx="3718999" cy="1719160"/>
          </a:xfrm>
          <a:custGeom>
            <a:avLst/>
            <a:gdLst/>
            <a:ahLst/>
            <a:cxnLst/>
            <a:rect l="l" t="t" r="r" b="b"/>
            <a:pathLst>
              <a:path w="3718999" h="1719160">
                <a:moveTo>
                  <a:pt x="35085" y="0"/>
                </a:moveTo>
                <a:lnTo>
                  <a:pt x="3648822" y="0"/>
                </a:lnTo>
                <a:cubicBezTo>
                  <a:pt x="3687580" y="0"/>
                  <a:pt x="3718999" y="31419"/>
                  <a:pt x="3718999" y="70176"/>
                </a:cubicBezTo>
                <a:lnTo>
                  <a:pt x="3718999" y="1648984"/>
                </a:lnTo>
                <a:cubicBezTo>
                  <a:pt x="3718999" y="1687741"/>
                  <a:pt x="3687580" y="1719160"/>
                  <a:pt x="3648822" y="1719160"/>
                </a:cubicBezTo>
                <a:lnTo>
                  <a:pt x="35085" y="1719160"/>
                </a:lnTo>
                <a:cubicBezTo>
                  <a:pt x="15708" y="1719160"/>
                  <a:pt x="0" y="1703452"/>
                  <a:pt x="0" y="168407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123359" y="3908458"/>
            <a:ext cx="35085" cy="1719160"/>
          </a:xfrm>
          <a:custGeom>
            <a:avLst/>
            <a:gdLst/>
            <a:ahLst/>
            <a:cxnLst/>
            <a:rect l="l" t="t" r="r" b="b"/>
            <a:pathLst>
              <a:path w="35085" h="1719160">
                <a:moveTo>
                  <a:pt x="35085" y="0"/>
                </a:moveTo>
                <a:lnTo>
                  <a:pt x="35085" y="0"/>
                </a:lnTo>
                <a:lnTo>
                  <a:pt x="35085" y="1719160"/>
                </a:lnTo>
                <a:lnTo>
                  <a:pt x="35085" y="1719160"/>
                </a:lnTo>
                <a:cubicBezTo>
                  <a:pt x="15708" y="1719160"/>
                  <a:pt x="0" y="1703452"/>
                  <a:pt x="0" y="1684075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82" name="Text 80"/>
          <p:cNvSpPr/>
          <p:nvPr/>
        </p:nvSpPr>
        <p:spPr>
          <a:xfrm>
            <a:off x="8246156" y="4013713"/>
            <a:ext cx="356111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Acceso y Despliegue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46156" y="4294396"/>
            <a:ext cx="3490947" cy="385934"/>
          </a:xfrm>
          <a:custGeom>
            <a:avLst/>
            <a:gdLst/>
            <a:ahLst/>
            <a:cxnLst/>
            <a:rect l="l" t="t" r="r" b="b"/>
            <a:pathLst>
              <a:path w="3490947" h="385934">
                <a:moveTo>
                  <a:pt x="35085" y="0"/>
                </a:moveTo>
                <a:lnTo>
                  <a:pt x="3455862" y="0"/>
                </a:lnTo>
                <a:cubicBezTo>
                  <a:pt x="3475239" y="0"/>
                  <a:pt x="3490947" y="15708"/>
                  <a:pt x="3490947" y="35085"/>
                </a:cubicBezTo>
                <a:lnTo>
                  <a:pt x="3490947" y="350849"/>
                </a:lnTo>
                <a:cubicBezTo>
                  <a:pt x="3490947" y="370226"/>
                  <a:pt x="3475239" y="385934"/>
                  <a:pt x="3455862" y="385934"/>
                </a:cubicBezTo>
                <a:lnTo>
                  <a:pt x="35085" y="385934"/>
                </a:lnTo>
                <a:cubicBezTo>
                  <a:pt x="15708" y="385934"/>
                  <a:pt x="0" y="370226"/>
                  <a:pt x="0" y="35084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8298783" y="4347023"/>
            <a:ext cx="34383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URL pública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298783" y="4487251"/>
            <a:ext cx="34383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share.streamlit.io/app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246156" y="4715192"/>
            <a:ext cx="3490947" cy="385934"/>
          </a:xfrm>
          <a:custGeom>
            <a:avLst/>
            <a:gdLst/>
            <a:ahLst/>
            <a:cxnLst/>
            <a:rect l="l" t="t" r="r" b="b"/>
            <a:pathLst>
              <a:path w="3490947" h="385934">
                <a:moveTo>
                  <a:pt x="35085" y="0"/>
                </a:moveTo>
                <a:lnTo>
                  <a:pt x="3455862" y="0"/>
                </a:lnTo>
                <a:cubicBezTo>
                  <a:pt x="3475239" y="0"/>
                  <a:pt x="3490947" y="15708"/>
                  <a:pt x="3490947" y="35085"/>
                </a:cubicBezTo>
                <a:lnTo>
                  <a:pt x="3490947" y="350849"/>
                </a:lnTo>
                <a:cubicBezTo>
                  <a:pt x="3490947" y="370226"/>
                  <a:pt x="3475239" y="385934"/>
                  <a:pt x="3455862" y="385934"/>
                </a:cubicBezTo>
                <a:lnTo>
                  <a:pt x="35085" y="385934"/>
                </a:lnTo>
                <a:cubicBezTo>
                  <a:pt x="15708" y="385934"/>
                  <a:pt x="0" y="370226"/>
                  <a:pt x="0" y="35084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8298783" y="4767819"/>
            <a:ext cx="34383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de despliegue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8298783" y="4908047"/>
            <a:ext cx="34383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minutos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246156" y="5135988"/>
            <a:ext cx="3490947" cy="385934"/>
          </a:xfrm>
          <a:custGeom>
            <a:avLst/>
            <a:gdLst/>
            <a:ahLst/>
            <a:cxnLst/>
            <a:rect l="l" t="t" r="r" b="b"/>
            <a:pathLst>
              <a:path w="3490947" h="385934">
                <a:moveTo>
                  <a:pt x="35085" y="0"/>
                </a:moveTo>
                <a:lnTo>
                  <a:pt x="3455862" y="0"/>
                </a:lnTo>
                <a:cubicBezTo>
                  <a:pt x="3475239" y="0"/>
                  <a:pt x="3490947" y="15708"/>
                  <a:pt x="3490947" y="35085"/>
                </a:cubicBezTo>
                <a:lnTo>
                  <a:pt x="3490947" y="350849"/>
                </a:lnTo>
                <a:cubicBezTo>
                  <a:pt x="3490947" y="370226"/>
                  <a:pt x="3475239" y="385934"/>
                  <a:pt x="3455862" y="385934"/>
                </a:cubicBezTo>
                <a:lnTo>
                  <a:pt x="35085" y="385934"/>
                </a:lnTo>
                <a:cubicBezTo>
                  <a:pt x="15708" y="385934"/>
                  <a:pt x="0" y="370226"/>
                  <a:pt x="0" y="350849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8298783" y="5188615"/>
            <a:ext cx="34383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298783" y="5328852"/>
            <a:ext cx="3438319" cy="140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9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Automático (zero-downtime)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8109325" y="5735725"/>
            <a:ext cx="3726016" cy="533290"/>
          </a:xfrm>
          <a:custGeom>
            <a:avLst/>
            <a:gdLst/>
            <a:ahLst/>
            <a:cxnLst/>
            <a:rect l="l" t="t" r="r" b="b"/>
            <a:pathLst>
              <a:path w="3726016" h="533290">
                <a:moveTo>
                  <a:pt x="70170" y="0"/>
                </a:moveTo>
                <a:lnTo>
                  <a:pt x="3655845" y="0"/>
                </a:lnTo>
                <a:cubicBezTo>
                  <a:pt x="3694599" y="0"/>
                  <a:pt x="3726016" y="31416"/>
                  <a:pt x="3726016" y="70170"/>
                </a:cubicBezTo>
                <a:lnTo>
                  <a:pt x="3726016" y="463120"/>
                </a:lnTo>
                <a:cubicBezTo>
                  <a:pt x="3726016" y="501874"/>
                  <a:pt x="3694599" y="533290"/>
                  <a:pt x="3655845" y="533290"/>
                </a:cubicBezTo>
                <a:lnTo>
                  <a:pt x="70170" y="533290"/>
                </a:lnTo>
                <a:cubicBezTo>
                  <a:pt x="31416" y="533290"/>
                  <a:pt x="0" y="501874"/>
                  <a:pt x="0" y="463120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92871" y="5830456"/>
            <a:ext cx="138147" cy="122797"/>
          </a:xfrm>
          <a:custGeom>
            <a:avLst/>
            <a:gdLst/>
            <a:ahLst/>
            <a:cxnLst/>
            <a:rect l="l" t="t" r="r" b="b"/>
            <a:pathLst>
              <a:path w="138147" h="122797">
                <a:moveTo>
                  <a:pt x="100612" y="23024"/>
                </a:moveTo>
                <a:cubicBezTo>
                  <a:pt x="96631" y="23024"/>
                  <a:pt x="92769" y="24104"/>
                  <a:pt x="89388" y="26070"/>
                </a:cubicBezTo>
                <a:cubicBezTo>
                  <a:pt x="85598" y="22233"/>
                  <a:pt x="81185" y="19019"/>
                  <a:pt x="76316" y="16597"/>
                </a:cubicBezTo>
                <a:cubicBezTo>
                  <a:pt x="83080" y="10841"/>
                  <a:pt x="91690" y="7675"/>
                  <a:pt x="100612" y="7675"/>
                </a:cubicBezTo>
                <a:cubicBezTo>
                  <a:pt x="121334" y="7675"/>
                  <a:pt x="138147" y="24463"/>
                  <a:pt x="138147" y="45209"/>
                </a:cubicBezTo>
                <a:cubicBezTo>
                  <a:pt x="138147" y="55163"/>
                  <a:pt x="134189" y="64708"/>
                  <a:pt x="127162" y="71736"/>
                </a:cubicBezTo>
                <a:lnTo>
                  <a:pt x="110110" y="88788"/>
                </a:lnTo>
                <a:cubicBezTo>
                  <a:pt x="103082" y="95815"/>
                  <a:pt x="93537" y="99773"/>
                  <a:pt x="83584" y="99773"/>
                </a:cubicBezTo>
                <a:cubicBezTo>
                  <a:pt x="62862" y="99773"/>
                  <a:pt x="46049" y="82984"/>
                  <a:pt x="46049" y="62238"/>
                </a:cubicBezTo>
                <a:cubicBezTo>
                  <a:pt x="46049" y="61878"/>
                  <a:pt x="46049" y="61518"/>
                  <a:pt x="46073" y="61159"/>
                </a:cubicBezTo>
                <a:cubicBezTo>
                  <a:pt x="46193" y="56914"/>
                  <a:pt x="49718" y="53580"/>
                  <a:pt x="53964" y="53700"/>
                </a:cubicBezTo>
                <a:cubicBezTo>
                  <a:pt x="58209" y="53820"/>
                  <a:pt x="61542" y="57345"/>
                  <a:pt x="61423" y="61590"/>
                </a:cubicBezTo>
                <a:cubicBezTo>
                  <a:pt x="61423" y="61806"/>
                  <a:pt x="61423" y="62022"/>
                  <a:pt x="61423" y="62214"/>
                </a:cubicBezTo>
                <a:cubicBezTo>
                  <a:pt x="61423" y="74470"/>
                  <a:pt x="71352" y="84399"/>
                  <a:pt x="83608" y="84399"/>
                </a:cubicBezTo>
                <a:cubicBezTo>
                  <a:pt x="89484" y="84399"/>
                  <a:pt x="95120" y="82073"/>
                  <a:pt x="99293" y="77899"/>
                </a:cubicBezTo>
                <a:lnTo>
                  <a:pt x="116345" y="60847"/>
                </a:lnTo>
                <a:cubicBezTo>
                  <a:pt x="120495" y="56698"/>
                  <a:pt x="122845" y="51038"/>
                  <a:pt x="122845" y="45162"/>
                </a:cubicBezTo>
                <a:cubicBezTo>
                  <a:pt x="122845" y="32906"/>
                  <a:pt x="112916" y="22976"/>
                  <a:pt x="100660" y="22976"/>
                </a:cubicBezTo>
                <a:close/>
                <a:moveTo>
                  <a:pt x="66003" y="41564"/>
                </a:moveTo>
                <a:cubicBezTo>
                  <a:pt x="65548" y="41372"/>
                  <a:pt x="65092" y="41108"/>
                  <a:pt x="64684" y="40820"/>
                </a:cubicBezTo>
                <a:cubicBezTo>
                  <a:pt x="61662" y="39262"/>
                  <a:pt x="58209" y="38374"/>
                  <a:pt x="54587" y="38374"/>
                </a:cubicBezTo>
                <a:cubicBezTo>
                  <a:pt x="48711" y="38374"/>
                  <a:pt x="43075" y="40701"/>
                  <a:pt x="38902" y="44874"/>
                </a:cubicBezTo>
                <a:lnTo>
                  <a:pt x="21849" y="61926"/>
                </a:lnTo>
                <a:cubicBezTo>
                  <a:pt x="17700" y="66075"/>
                  <a:pt x="15350" y="71736"/>
                  <a:pt x="15350" y="77612"/>
                </a:cubicBezTo>
                <a:cubicBezTo>
                  <a:pt x="15350" y="89867"/>
                  <a:pt x="25279" y="99797"/>
                  <a:pt x="37535" y="99797"/>
                </a:cubicBezTo>
                <a:cubicBezTo>
                  <a:pt x="41492" y="99797"/>
                  <a:pt x="45353" y="98741"/>
                  <a:pt x="48735" y="96775"/>
                </a:cubicBezTo>
                <a:cubicBezTo>
                  <a:pt x="52525" y="100612"/>
                  <a:pt x="56938" y="103826"/>
                  <a:pt x="61830" y="106248"/>
                </a:cubicBezTo>
                <a:cubicBezTo>
                  <a:pt x="55067" y="111980"/>
                  <a:pt x="46481" y="115170"/>
                  <a:pt x="37535" y="115170"/>
                </a:cubicBezTo>
                <a:cubicBezTo>
                  <a:pt x="16813" y="115170"/>
                  <a:pt x="0" y="98382"/>
                  <a:pt x="0" y="77636"/>
                </a:cubicBezTo>
                <a:cubicBezTo>
                  <a:pt x="0" y="67682"/>
                  <a:pt x="3957" y="58137"/>
                  <a:pt x="10985" y="51110"/>
                </a:cubicBezTo>
                <a:lnTo>
                  <a:pt x="28037" y="34057"/>
                </a:lnTo>
                <a:cubicBezTo>
                  <a:pt x="35064" y="27030"/>
                  <a:pt x="44610" y="23072"/>
                  <a:pt x="54563" y="23072"/>
                </a:cubicBezTo>
                <a:cubicBezTo>
                  <a:pt x="75333" y="23072"/>
                  <a:pt x="92098" y="40005"/>
                  <a:pt x="92098" y="60703"/>
                </a:cubicBezTo>
                <a:cubicBezTo>
                  <a:pt x="92098" y="61015"/>
                  <a:pt x="92098" y="61327"/>
                  <a:pt x="92098" y="61638"/>
                </a:cubicBezTo>
                <a:cubicBezTo>
                  <a:pt x="92002" y="65884"/>
                  <a:pt x="88476" y="69217"/>
                  <a:pt x="84231" y="69121"/>
                </a:cubicBezTo>
                <a:cubicBezTo>
                  <a:pt x="79986" y="69025"/>
                  <a:pt x="76652" y="65500"/>
                  <a:pt x="76748" y="61255"/>
                </a:cubicBezTo>
                <a:cubicBezTo>
                  <a:pt x="76748" y="61063"/>
                  <a:pt x="76748" y="60895"/>
                  <a:pt x="76748" y="60703"/>
                </a:cubicBezTo>
                <a:cubicBezTo>
                  <a:pt x="76748" y="52620"/>
                  <a:pt x="72431" y="45521"/>
                  <a:pt x="66003" y="41612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4" name="Text 92"/>
          <p:cNvSpPr/>
          <p:nvPr/>
        </p:nvSpPr>
        <p:spPr>
          <a:xfrm>
            <a:off x="8365116" y="5809402"/>
            <a:ext cx="3457944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Estado: Listo para desplegar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8183003" y="6019911"/>
            <a:ext cx="364005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Repositorio configurado para CI/CD automático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350849" y="6670842"/>
            <a:ext cx="11490302" cy="428036"/>
          </a:xfrm>
          <a:custGeom>
            <a:avLst/>
            <a:gdLst/>
            <a:ahLst/>
            <a:cxnLst/>
            <a:rect l="l" t="t" r="r" b="b"/>
            <a:pathLst>
              <a:path w="11490302" h="428036">
                <a:moveTo>
                  <a:pt x="14034" y="0"/>
                </a:moveTo>
                <a:lnTo>
                  <a:pt x="11476268" y="0"/>
                </a:lnTo>
                <a:cubicBezTo>
                  <a:pt x="11484019" y="0"/>
                  <a:pt x="11490302" y="6283"/>
                  <a:pt x="11490302" y="14034"/>
                </a:cubicBezTo>
                <a:lnTo>
                  <a:pt x="11490302" y="357868"/>
                </a:lnTo>
                <a:cubicBezTo>
                  <a:pt x="11490302" y="396620"/>
                  <a:pt x="11458887" y="428036"/>
                  <a:pt x="11420134" y="428036"/>
                </a:cubicBezTo>
                <a:lnTo>
                  <a:pt x="70168" y="428036"/>
                </a:lnTo>
                <a:cubicBezTo>
                  <a:pt x="31415" y="428036"/>
                  <a:pt x="0" y="396620"/>
                  <a:pt x="0" y="357868"/>
                </a:cubicBezTo>
                <a:lnTo>
                  <a:pt x="0" y="14034"/>
                </a:lnTo>
                <a:cubicBezTo>
                  <a:pt x="0" y="6283"/>
                  <a:pt x="6283" y="0"/>
                  <a:pt x="14034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50849" y="6670842"/>
            <a:ext cx="11490302" cy="14034"/>
          </a:xfrm>
          <a:custGeom>
            <a:avLst/>
            <a:gdLst/>
            <a:ahLst/>
            <a:cxnLst/>
            <a:rect l="l" t="t" r="r" b="b"/>
            <a:pathLst>
              <a:path w="11490302" h="14034">
                <a:moveTo>
                  <a:pt x="14034" y="0"/>
                </a:moveTo>
                <a:lnTo>
                  <a:pt x="11476268" y="0"/>
                </a:lnTo>
                <a:cubicBezTo>
                  <a:pt x="11484019" y="0"/>
                  <a:pt x="11490302" y="6283"/>
                  <a:pt x="11490302" y="14034"/>
                </a:cubicBezTo>
                <a:lnTo>
                  <a:pt x="11490302" y="14034"/>
                </a:lnTo>
                <a:lnTo>
                  <a:pt x="0" y="14034"/>
                </a:lnTo>
                <a:lnTo>
                  <a:pt x="0" y="14034"/>
                </a:lnTo>
                <a:cubicBezTo>
                  <a:pt x="0" y="6283"/>
                  <a:pt x="6283" y="0"/>
                  <a:pt x="14034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8" name="Shape 96"/>
          <p:cNvSpPr/>
          <p:nvPr/>
        </p:nvSpPr>
        <p:spPr>
          <a:xfrm>
            <a:off x="473646" y="6811189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137763" y="76364"/>
                </a:moveTo>
                <a:cubicBezTo>
                  <a:pt x="141189" y="72938"/>
                  <a:pt x="141189" y="67374"/>
                  <a:pt x="137763" y="63948"/>
                </a:cubicBezTo>
                <a:lnTo>
                  <a:pt x="93907" y="20092"/>
                </a:lnTo>
                <a:cubicBezTo>
                  <a:pt x="90481" y="16665"/>
                  <a:pt x="84916" y="16665"/>
                  <a:pt x="81490" y="20092"/>
                </a:cubicBezTo>
                <a:cubicBezTo>
                  <a:pt x="78064" y="23518"/>
                  <a:pt x="78064" y="29082"/>
                  <a:pt x="81490" y="32508"/>
                </a:cubicBezTo>
                <a:lnTo>
                  <a:pt x="110380" y="61399"/>
                </a:lnTo>
                <a:lnTo>
                  <a:pt x="8771" y="61399"/>
                </a:lnTo>
                <a:cubicBezTo>
                  <a:pt x="3920" y="61399"/>
                  <a:pt x="0" y="65318"/>
                  <a:pt x="0" y="70170"/>
                </a:cubicBezTo>
                <a:cubicBezTo>
                  <a:pt x="0" y="75021"/>
                  <a:pt x="3920" y="78941"/>
                  <a:pt x="8771" y="78941"/>
                </a:cubicBezTo>
                <a:lnTo>
                  <a:pt x="110380" y="78941"/>
                </a:lnTo>
                <a:lnTo>
                  <a:pt x="81490" y="107831"/>
                </a:lnTo>
                <a:cubicBezTo>
                  <a:pt x="78064" y="111257"/>
                  <a:pt x="78064" y="116822"/>
                  <a:pt x="81490" y="120248"/>
                </a:cubicBezTo>
                <a:cubicBezTo>
                  <a:pt x="84916" y="123674"/>
                  <a:pt x="90481" y="123674"/>
                  <a:pt x="93907" y="120248"/>
                </a:cubicBezTo>
                <a:lnTo>
                  <a:pt x="137763" y="76392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9" name="Text 97"/>
          <p:cNvSpPr/>
          <p:nvPr/>
        </p:nvSpPr>
        <p:spPr>
          <a:xfrm>
            <a:off x="679991" y="6783119"/>
            <a:ext cx="1112607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completa:</a:t>
            </a:r>
            <a:pPr>
              <a:lnSpc>
                <a:spcPct val="120000"/>
              </a:lnSpc>
            </a:pPr>
            <a:r>
              <a:rPr lang="en-US" sz="1105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notebook técnico a producto de datos accesible para usuarios no técnicos con mantenimiento cero.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434" y="398920"/>
            <a:ext cx="332434" cy="332434"/>
          </a:xfrm>
          <a:custGeom>
            <a:avLst/>
            <a:gdLst/>
            <a:ahLst/>
            <a:cxnLst/>
            <a:rect l="l" t="t" r="r" b="b"/>
            <a:pathLst>
              <a:path w="332434" h="332434">
                <a:moveTo>
                  <a:pt x="66487" y="0"/>
                </a:moveTo>
                <a:lnTo>
                  <a:pt x="265947" y="0"/>
                </a:lnTo>
                <a:cubicBezTo>
                  <a:pt x="302642" y="0"/>
                  <a:pt x="332434" y="29792"/>
                  <a:pt x="332434" y="66487"/>
                </a:cubicBezTo>
                <a:lnTo>
                  <a:pt x="332434" y="265947"/>
                </a:lnTo>
                <a:cubicBezTo>
                  <a:pt x="332434" y="302642"/>
                  <a:pt x="302642" y="332434"/>
                  <a:pt x="265947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" name="Shape 1"/>
          <p:cNvSpPr/>
          <p:nvPr/>
        </p:nvSpPr>
        <p:spPr>
          <a:xfrm>
            <a:off x="425930" y="490339"/>
            <a:ext cx="149595" cy="149595"/>
          </a:xfrm>
          <a:custGeom>
            <a:avLst/>
            <a:gdLst/>
            <a:ahLst/>
            <a:cxnLst/>
            <a:rect l="l" t="t" r="r" b="b"/>
            <a:pathLst>
              <a:path w="149595" h="149595">
                <a:moveTo>
                  <a:pt x="42161" y="0"/>
                </a:moveTo>
                <a:lnTo>
                  <a:pt x="107609" y="0"/>
                </a:lnTo>
                <a:cubicBezTo>
                  <a:pt x="115352" y="0"/>
                  <a:pt x="121663" y="6369"/>
                  <a:pt x="121371" y="14083"/>
                </a:cubicBezTo>
                <a:cubicBezTo>
                  <a:pt x="121312" y="15632"/>
                  <a:pt x="121254" y="17180"/>
                  <a:pt x="121166" y="18699"/>
                </a:cubicBezTo>
                <a:lnTo>
                  <a:pt x="135658" y="18699"/>
                </a:lnTo>
                <a:cubicBezTo>
                  <a:pt x="143284" y="18699"/>
                  <a:pt x="150004" y="25010"/>
                  <a:pt x="149420" y="33250"/>
                </a:cubicBezTo>
                <a:cubicBezTo>
                  <a:pt x="147228" y="63549"/>
                  <a:pt x="131743" y="80203"/>
                  <a:pt x="114943" y="88910"/>
                </a:cubicBezTo>
                <a:cubicBezTo>
                  <a:pt x="110326" y="91306"/>
                  <a:pt x="105622" y="93088"/>
                  <a:pt x="101152" y="94403"/>
                </a:cubicBezTo>
                <a:cubicBezTo>
                  <a:pt x="95250" y="102759"/>
                  <a:pt x="89114" y="107171"/>
                  <a:pt x="84235" y="109538"/>
                </a:cubicBezTo>
                <a:lnTo>
                  <a:pt x="84235" y="130896"/>
                </a:lnTo>
                <a:lnTo>
                  <a:pt x="102934" y="130896"/>
                </a:lnTo>
                <a:cubicBezTo>
                  <a:pt x="108106" y="130896"/>
                  <a:pt x="112284" y="135074"/>
                  <a:pt x="112284" y="140245"/>
                </a:cubicBezTo>
                <a:cubicBezTo>
                  <a:pt x="112284" y="145417"/>
                  <a:pt x="108106" y="149595"/>
                  <a:pt x="102934" y="149595"/>
                </a:cubicBezTo>
                <a:lnTo>
                  <a:pt x="46836" y="149595"/>
                </a:lnTo>
                <a:cubicBezTo>
                  <a:pt x="41665" y="149595"/>
                  <a:pt x="37486" y="145417"/>
                  <a:pt x="37486" y="140245"/>
                </a:cubicBezTo>
                <a:cubicBezTo>
                  <a:pt x="37486" y="135074"/>
                  <a:pt x="41665" y="130896"/>
                  <a:pt x="46836" y="130896"/>
                </a:cubicBezTo>
                <a:lnTo>
                  <a:pt x="65536" y="130896"/>
                </a:lnTo>
                <a:lnTo>
                  <a:pt x="65536" y="109537"/>
                </a:lnTo>
                <a:cubicBezTo>
                  <a:pt x="60861" y="107288"/>
                  <a:pt x="55046" y="103110"/>
                  <a:pt x="49378" y="95425"/>
                </a:cubicBezTo>
                <a:cubicBezTo>
                  <a:pt x="44002" y="94023"/>
                  <a:pt x="38158" y="91890"/>
                  <a:pt x="32461" y="88676"/>
                </a:cubicBezTo>
                <a:cubicBezTo>
                  <a:pt x="16654" y="79823"/>
                  <a:pt x="2396" y="63140"/>
                  <a:pt x="351" y="33191"/>
                </a:cubicBezTo>
                <a:cubicBezTo>
                  <a:pt x="-205" y="24981"/>
                  <a:pt x="6486" y="18670"/>
                  <a:pt x="14112" y="18670"/>
                </a:cubicBezTo>
                <a:lnTo>
                  <a:pt x="28604" y="18670"/>
                </a:lnTo>
                <a:cubicBezTo>
                  <a:pt x="28517" y="17151"/>
                  <a:pt x="28458" y="15632"/>
                  <a:pt x="28400" y="14054"/>
                </a:cubicBezTo>
                <a:cubicBezTo>
                  <a:pt x="28108" y="6311"/>
                  <a:pt x="34419" y="-29"/>
                  <a:pt x="42161" y="-29"/>
                </a:cubicBezTo>
                <a:close/>
                <a:moveTo>
                  <a:pt x="29656" y="32724"/>
                </a:moveTo>
                <a:lnTo>
                  <a:pt x="14346" y="32724"/>
                </a:lnTo>
                <a:cubicBezTo>
                  <a:pt x="16157" y="57471"/>
                  <a:pt x="27523" y="69860"/>
                  <a:pt x="39239" y="76434"/>
                </a:cubicBezTo>
                <a:cubicBezTo>
                  <a:pt x="35032" y="65536"/>
                  <a:pt x="31555" y="51306"/>
                  <a:pt x="29656" y="32724"/>
                </a:cubicBezTo>
                <a:close/>
                <a:moveTo>
                  <a:pt x="111028" y="75031"/>
                </a:moveTo>
                <a:cubicBezTo>
                  <a:pt x="122861" y="68077"/>
                  <a:pt x="133555" y="55718"/>
                  <a:pt x="135366" y="32724"/>
                </a:cubicBezTo>
                <a:lnTo>
                  <a:pt x="120085" y="32724"/>
                </a:lnTo>
                <a:cubicBezTo>
                  <a:pt x="118274" y="50518"/>
                  <a:pt x="115001" y="64338"/>
                  <a:pt x="111028" y="7503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64597" y="332434"/>
            <a:ext cx="4188663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spc="46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4597" y="498650"/>
            <a:ext cx="4255149" cy="29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Resultados Clave y Valor del Proyecto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2434" y="864327"/>
            <a:ext cx="664867" cy="33243"/>
          </a:xfrm>
          <a:custGeom>
            <a:avLst/>
            <a:gdLst/>
            <a:ahLst/>
            <a:cxnLst/>
            <a:rect l="l" t="t" r="r" b="b"/>
            <a:pathLst>
              <a:path w="664867" h="33243">
                <a:moveTo>
                  <a:pt x="0" y="0"/>
                </a:moveTo>
                <a:lnTo>
                  <a:pt x="664867" y="0"/>
                </a:lnTo>
                <a:lnTo>
                  <a:pt x="664867" y="33243"/>
                </a:lnTo>
                <a:lnTo>
                  <a:pt x="0" y="33243"/>
                </a:lnTo>
                <a:lnTo>
                  <a:pt x="0" y="0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" name="Shape 5"/>
          <p:cNvSpPr/>
          <p:nvPr/>
        </p:nvSpPr>
        <p:spPr>
          <a:xfrm>
            <a:off x="349055" y="1030544"/>
            <a:ext cx="7621039" cy="1362978"/>
          </a:xfrm>
          <a:custGeom>
            <a:avLst/>
            <a:gdLst/>
            <a:ahLst/>
            <a:cxnLst/>
            <a:rect l="l" t="t" r="r" b="b"/>
            <a:pathLst>
              <a:path w="7621039" h="1362978">
                <a:moveTo>
                  <a:pt x="33243" y="0"/>
                </a:moveTo>
                <a:lnTo>
                  <a:pt x="7554553" y="0"/>
                </a:lnTo>
                <a:cubicBezTo>
                  <a:pt x="7591272" y="0"/>
                  <a:pt x="7621039" y="29767"/>
                  <a:pt x="7621039" y="66486"/>
                </a:cubicBezTo>
                <a:lnTo>
                  <a:pt x="7621039" y="1296491"/>
                </a:lnTo>
                <a:cubicBezTo>
                  <a:pt x="7621039" y="1333211"/>
                  <a:pt x="7591272" y="1362978"/>
                  <a:pt x="7554553" y="1362978"/>
                </a:cubicBezTo>
                <a:lnTo>
                  <a:pt x="33243" y="1362978"/>
                </a:lnTo>
                <a:cubicBezTo>
                  <a:pt x="14884" y="1362978"/>
                  <a:pt x="0" y="1348094"/>
                  <a:pt x="0" y="1329734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9055" y="1030544"/>
            <a:ext cx="33243" cy="1362978"/>
          </a:xfrm>
          <a:custGeom>
            <a:avLst/>
            <a:gdLst/>
            <a:ahLst/>
            <a:cxnLst/>
            <a:rect l="l" t="t" r="r" b="b"/>
            <a:pathLst>
              <a:path w="33243" h="1362978">
                <a:moveTo>
                  <a:pt x="33243" y="0"/>
                </a:moveTo>
                <a:lnTo>
                  <a:pt x="33243" y="0"/>
                </a:lnTo>
                <a:lnTo>
                  <a:pt x="33243" y="1362978"/>
                </a:lnTo>
                <a:lnTo>
                  <a:pt x="33243" y="1362978"/>
                </a:lnTo>
                <a:cubicBezTo>
                  <a:pt x="14884" y="1362978"/>
                  <a:pt x="0" y="1348094"/>
                  <a:pt x="0" y="1329734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" name="Text 7"/>
          <p:cNvSpPr/>
          <p:nvPr/>
        </p:nvSpPr>
        <p:spPr>
          <a:xfrm>
            <a:off x="465407" y="1130274"/>
            <a:ext cx="7479755" cy="23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8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Métricas de Performance y Precisión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5407" y="1429464"/>
            <a:ext cx="1803452" cy="864327"/>
          </a:xfrm>
          <a:custGeom>
            <a:avLst/>
            <a:gdLst/>
            <a:ahLst/>
            <a:cxnLst/>
            <a:rect l="l" t="t" r="r" b="b"/>
            <a:pathLst>
              <a:path w="1803452" h="864327">
                <a:moveTo>
                  <a:pt x="33242" y="0"/>
                </a:moveTo>
                <a:lnTo>
                  <a:pt x="1770210" y="0"/>
                </a:lnTo>
                <a:cubicBezTo>
                  <a:pt x="1788569" y="0"/>
                  <a:pt x="1803452" y="14883"/>
                  <a:pt x="1803452" y="33242"/>
                </a:cubicBezTo>
                <a:lnTo>
                  <a:pt x="1803452" y="831085"/>
                </a:lnTo>
                <a:cubicBezTo>
                  <a:pt x="1803452" y="849444"/>
                  <a:pt x="1788569" y="864327"/>
                  <a:pt x="1770210" y="864327"/>
                </a:cubicBezTo>
                <a:lnTo>
                  <a:pt x="33242" y="864327"/>
                </a:lnTo>
                <a:cubicBezTo>
                  <a:pt x="14883" y="864327"/>
                  <a:pt x="0" y="849444"/>
                  <a:pt x="0" y="831085"/>
                </a:cubicBezTo>
                <a:lnTo>
                  <a:pt x="0" y="33242"/>
                </a:lnTo>
                <a:cubicBezTo>
                  <a:pt x="0" y="14883"/>
                  <a:pt x="14883" y="0"/>
                  <a:pt x="3324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83090" y="1495951"/>
            <a:ext cx="166217" cy="166217"/>
          </a:xfrm>
          <a:custGeom>
            <a:avLst/>
            <a:gdLst/>
            <a:ahLst/>
            <a:cxnLst/>
            <a:rect l="l" t="t" r="r" b="b"/>
            <a:pathLst>
              <a:path w="166217" h="166217">
                <a:moveTo>
                  <a:pt x="145440" y="83108"/>
                </a:moveTo>
                <a:cubicBezTo>
                  <a:pt x="145440" y="48707"/>
                  <a:pt x="117510" y="20777"/>
                  <a:pt x="83108" y="20777"/>
                </a:cubicBezTo>
                <a:cubicBezTo>
                  <a:pt x="48707" y="20777"/>
                  <a:pt x="20777" y="48707"/>
                  <a:pt x="20777" y="83108"/>
                </a:cubicBezTo>
                <a:cubicBezTo>
                  <a:pt x="20777" y="117510"/>
                  <a:pt x="48707" y="145440"/>
                  <a:pt x="83108" y="145440"/>
                </a:cubicBezTo>
                <a:cubicBezTo>
                  <a:pt x="117510" y="145440"/>
                  <a:pt x="145440" y="117510"/>
                  <a:pt x="145440" y="83108"/>
                </a:cubicBezTo>
                <a:close/>
                <a:moveTo>
                  <a:pt x="0" y="83108"/>
                </a:moveTo>
                <a:cubicBezTo>
                  <a:pt x="0" y="37240"/>
                  <a:pt x="37240" y="0"/>
                  <a:pt x="83108" y="0"/>
                </a:cubicBezTo>
                <a:cubicBezTo>
                  <a:pt x="128977" y="0"/>
                  <a:pt x="166217" y="37240"/>
                  <a:pt x="166217" y="83108"/>
                </a:cubicBezTo>
                <a:cubicBezTo>
                  <a:pt x="166217" y="128977"/>
                  <a:pt x="128977" y="166217"/>
                  <a:pt x="83108" y="166217"/>
                </a:cubicBezTo>
                <a:cubicBezTo>
                  <a:pt x="37240" y="166217"/>
                  <a:pt x="0" y="128977"/>
                  <a:pt x="0" y="83108"/>
                </a:cubicBezTo>
                <a:close/>
                <a:moveTo>
                  <a:pt x="83108" y="109080"/>
                </a:moveTo>
                <a:cubicBezTo>
                  <a:pt x="97442" y="109080"/>
                  <a:pt x="109080" y="97442"/>
                  <a:pt x="109080" y="83108"/>
                </a:cubicBezTo>
                <a:cubicBezTo>
                  <a:pt x="109080" y="68774"/>
                  <a:pt x="97442" y="57137"/>
                  <a:pt x="83108" y="57137"/>
                </a:cubicBezTo>
                <a:cubicBezTo>
                  <a:pt x="68774" y="57137"/>
                  <a:pt x="57137" y="68774"/>
                  <a:pt x="57137" y="83108"/>
                </a:cubicBezTo>
                <a:cubicBezTo>
                  <a:pt x="57137" y="97442"/>
                  <a:pt x="68774" y="109080"/>
                  <a:pt x="83108" y="109080"/>
                </a:cubicBezTo>
                <a:close/>
                <a:moveTo>
                  <a:pt x="83108" y="36360"/>
                </a:moveTo>
                <a:cubicBezTo>
                  <a:pt x="108910" y="36360"/>
                  <a:pt x="129857" y="57307"/>
                  <a:pt x="129857" y="83108"/>
                </a:cubicBezTo>
                <a:cubicBezTo>
                  <a:pt x="129857" y="108910"/>
                  <a:pt x="108910" y="129857"/>
                  <a:pt x="83108" y="129857"/>
                </a:cubicBezTo>
                <a:cubicBezTo>
                  <a:pt x="57307" y="129857"/>
                  <a:pt x="36360" y="108910"/>
                  <a:pt x="36360" y="83108"/>
                </a:cubicBezTo>
                <a:cubicBezTo>
                  <a:pt x="36360" y="57307"/>
                  <a:pt x="57307" y="36360"/>
                  <a:pt x="83108" y="36360"/>
                </a:cubicBezTo>
                <a:close/>
                <a:moveTo>
                  <a:pt x="72720" y="83108"/>
                </a:moveTo>
                <a:cubicBezTo>
                  <a:pt x="72720" y="77375"/>
                  <a:pt x="77375" y="72720"/>
                  <a:pt x="83108" y="72720"/>
                </a:cubicBezTo>
                <a:cubicBezTo>
                  <a:pt x="88842" y="72720"/>
                  <a:pt x="93497" y="77375"/>
                  <a:pt x="93497" y="83108"/>
                </a:cubicBezTo>
                <a:cubicBezTo>
                  <a:pt x="93497" y="88842"/>
                  <a:pt x="88842" y="93497"/>
                  <a:pt x="83108" y="93497"/>
                </a:cubicBezTo>
                <a:cubicBezTo>
                  <a:pt x="77375" y="93497"/>
                  <a:pt x="72720" y="88842"/>
                  <a:pt x="72720" y="83108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2" name="Text 10"/>
          <p:cNvSpPr/>
          <p:nvPr/>
        </p:nvSpPr>
        <p:spPr>
          <a:xfrm>
            <a:off x="506961" y="1695411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029" y="1828279"/>
            <a:ext cx="1770209" cy="26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6961" y="2094120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promedio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33476" y="1429464"/>
            <a:ext cx="1803452" cy="864327"/>
          </a:xfrm>
          <a:custGeom>
            <a:avLst/>
            <a:gdLst/>
            <a:ahLst/>
            <a:cxnLst/>
            <a:rect l="l" t="t" r="r" b="b"/>
            <a:pathLst>
              <a:path w="1803452" h="864327">
                <a:moveTo>
                  <a:pt x="33242" y="0"/>
                </a:moveTo>
                <a:lnTo>
                  <a:pt x="1770210" y="0"/>
                </a:lnTo>
                <a:cubicBezTo>
                  <a:pt x="1788569" y="0"/>
                  <a:pt x="1803452" y="14883"/>
                  <a:pt x="1803452" y="33242"/>
                </a:cubicBezTo>
                <a:lnTo>
                  <a:pt x="1803452" y="831085"/>
                </a:lnTo>
                <a:cubicBezTo>
                  <a:pt x="1803452" y="849444"/>
                  <a:pt x="1788569" y="864327"/>
                  <a:pt x="1770210" y="864327"/>
                </a:cubicBezTo>
                <a:lnTo>
                  <a:pt x="33242" y="864327"/>
                </a:lnTo>
                <a:cubicBezTo>
                  <a:pt x="14883" y="864327"/>
                  <a:pt x="0" y="849444"/>
                  <a:pt x="0" y="831085"/>
                </a:cubicBezTo>
                <a:lnTo>
                  <a:pt x="0" y="33242"/>
                </a:lnTo>
                <a:cubicBezTo>
                  <a:pt x="0" y="14883"/>
                  <a:pt x="14883" y="0"/>
                  <a:pt x="3324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51158" y="1495951"/>
            <a:ext cx="166217" cy="166217"/>
          </a:xfrm>
          <a:custGeom>
            <a:avLst/>
            <a:gdLst/>
            <a:ahLst/>
            <a:cxnLst/>
            <a:rect l="l" t="t" r="r" b="b"/>
            <a:pathLst>
              <a:path w="166217" h="166217">
                <a:moveTo>
                  <a:pt x="83108" y="166217"/>
                </a:moveTo>
                <a:cubicBezTo>
                  <a:pt x="128977" y="166217"/>
                  <a:pt x="166217" y="128977"/>
                  <a:pt x="166217" y="83108"/>
                </a:cubicBezTo>
                <a:cubicBezTo>
                  <a:pt x="166217" y="37240"/>
                  <a:pt x="128977" y="0"/>
                  <a:pt x="83108" y="0"/>
                </a:cubicBezTo>
                <a:cubicBezTo>
                  <a:pt x="37240" y="0"/>
                  <a:pt x="0" y="37240"/>
                  <a:pt x="0" y="83108"/>
                </a:cubicBezTo>
                <a:cubicBezTo>
                  <a:pt x="0" y="128977"/>
                  <a:pt x="37240" y="166217"/>
                  <a:pt x="83108" y="166217"/>
                </a:cubicBezTo>
                <a:close/>
                <a:moveTo>
                  <a:pt x="110508" y="69051"/>
                </a:moveTo>
                <a:lnTo>
                  <a:pt x="84537" y="110606"/>
                </a:lnTo>
                <a:cubicBezTo>
                  <a:pt x="83173" y="112781"/>
                  <a:pt x="80836" y="114144"/>
                  <a:pt x="78271" y="114274"/>
                </a:cubicBezTo>
                <a:cubicBezTo>
                  <a:pt x="75707" y="114404"/>
                  <a:pt x="73239" y="113235"/>
                  <a:pt x="71713" y="111157"/>
                </a:cubicBezTo>
                <a:lnTo>
                  <a:pt x="56131" y="90380"/>
                </a:lnTo>
                <a:cubicBezTo>
                  <a:pt x="53533" y="86939"/>
                  <a:pt x="54248" y="82070"/>
                  <a:pt x="57689" y="79472"/>
                </a:cubicBezTo>
                <a:cubicBezTo>
                  <a:pt x="61130" y="76875"/>
                  <a:pt x="66000" y="77589"/>
                  <a:pt x="68597" y="81031"/>
                </a:cubicBezTo>
                <a:lnTo>
                  <a:pt x="77362" y="92718"/>
                </a:lnTo>
                <a:lnTo>
                  <a:pt x="97295" y="60805"/>
                </a:lnTo>
                <a:cubicBezTo>
                  <a:pt x="99568" y="57169"/>
                  <a:pt x="104372" y="56033"/>
                  <a:pt x="108041" y="58338"/>
                </a:cubicBezTo>
                <a:cubicBezTo>
                  <a:pt x="111709" y="60643"/>
                  <a:pt x="112813" y="65415"/>
                  <a:pt x="110508" y="69084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7" name="Text 15"/>
          <p:cNvSpPr/>
          <p:nvPr/>
        </p:nvSpPr>
        <p:spPr>
          <a:xfrm>
            <a:off x="2375030" y="1695411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50097" y="1828279"/>
            <a:ext cx="1770209" cy="26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97.7%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375030" y="2094120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Prophet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1545" y="1429464"/>
            <a:ext cx="1803452" cy="864327"/>
          </a:xfrm>
          <a:custGeom>
            <a:avLst/>
            <a:gdLst/>
            <a:ahLst/>
            <a:cxnLst/>
            <a:rect l="l" t="t" r="r" b="b"/>
            <a:pathLst>
              <a:path w="1803452" h="864327">
                <a:moveTo>
                  <a:pt x="33242" y="0"/>
                </a:moveTo>
                <a:lnTo>
                  <a:pt x="1770210" y="0"/>
                </a:lnTo>
                <a:cubicBezTo>
                  <a:pt x="1788569" y="0"/>
                  <a:pt x="1803452" y="14883"/>
                  <a:pt x="1803452" y="33242"/>
                </a:cubicBezTo>
                <a:lnTo>
                  <a:pt x="1803452" y="831085"/>
                </a:lnTo>
                <a:cubicBezTo>
                  <a:pt x="1803452" y="849444"/>
                  <a:pt x="1788569" y="864327"/>
                  <a:pt x="1770210" y="864327"/>
                </a:cubicBezTo>
                <a:lnTo>
                  <a:pt x="33242" y="864327"/>
                </a:lnTo>
                <a:cubicBezTo>
                  <a:pt x="14883" y="864327"/>
                  <a:pt x="0" y="849444"/>
                  <a:pt x="0" y="831085"/>
                </a:cubicBezTo>
                <a:lnTo>
                  <a:pt x="0" y="33242"/>
                </a:lnTo>
                <a:cubicBezTo>
                  <a:pt x="0" y="14883"/>
                  <a:pt x="14883" y="0"/>
                  <a:pt x="3324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029616" y="1495951"/>
            <a:ext cx="145440" cy="166217"/>
          </a:xfrm>
          <a:custGeom>
            <a:avLst/>
            <a:gdLst/>
            <a:ahLst/>
            <a:cxnLst/>
            <a:rect l="l" t="t" r="r" b="b"/>
            <a:pathLst>
              <a:path w="145440" h="166217">
                <a:moveTo>
                  <a:pt x="145440" y="66811"/>
                </a:moveTo>
                <a:cubicBezTo>
                  <a:pt x="140635" y="69993"/>
                  <a:pt x="135116" y="72558"/>
                  <a:pt x="129370" y="74603"/>
                </a:cubicBezTo>
                <a:cubicBezTo>
                  <a:pt x="114112" y="80057"/>
                  <a:pt x="94081" y="83108"/>
                  <a:pt x="72720" y="83108"/>
                </a:cubicBezTo>
                <a:cubicBezTo>
                  <a:pt x="51358" y="83108"/>
                  <a:pt x="31296" y="80024"/>
                  <a:pt x="16070" y="74603"/>
                </a:cubicBezTo>
                <a:cubicBezTo>
                  <a:pt x="10356" y="72558"/>
                  <a:pt x="4805" y="69993"/>
                  <a:pt x="0" y="66811"/>
                </a:cubicBezTo>
                <a:lnTo>
                  <a:pt x="0" y="93497"/>
                </a:lnTo>
                <a:cubicBezTo>
                  <a:pt x="0" y="107846"/>
                  <a:pt x="32562" y="119468"/>
                  <a:pt x="72720" y="119468"/>
                </a:cubicBezTo>
                <a:cubicBezTo>
                  <a:pt x="112878" y="119468"/>
                  <a:pt x="145440" y="107846"/>
                  <a:pt x="145440" y="93497"/>
                </a:cubicBezTo>
                <a:lnTo>
                  <a:pt x="145440" y="66811"/>
                </a:lnTo>
                <a:close/>
                <a:moveTo>
                  <a:pt x="145440" y="41554"/>
                </a:moveTo>
                <a:lnTo>
                  <a:pt x="145440" y="25971"/>
                </a:lnTo>
                <a:cubicBezTo>
                  <a:pt x="145440" y="11622"/>
                  <a:pt x="112878" y="0"/>
                  <a:pt x="72720" y="0"/>
                </a:cubicBezTo>
                <a:cubicBezTo>
                  <a:pt x="32562" y="0"/>
                  <a:pt x="0" y="11622"/>
                  <a:pt x="0" y="25971"/>
                </a:cubicBezTo>
                <a:lnTo>
                  <a:pt x="0" y="41554"/>
                </a:lnTo>
                <a:cubicBezTo>
                  <a:pt x="0" y="55903"/>
                  <a:pt x="32562" y="67526"/>
                  <a:pt x="72720" y="67526"/>
                </a:cubicBezTo>
                <a:cubicBezTo>
                  <a:pt x="112878" y="67526"/>
                  <a:pt x="145440" y="55903"/>
                  <a:pt x="145440" y="41554"/>
                </a:cubicBezTo>
                <a:close/>
                <a:moveTo>
                  <a:pt x="129370" y="126546"/>
                </a:moveTo>
                <a:cubicBezTo>
                  <a:pt x="114144" y="131967"/>
                  <a:pt x="94114" y="135051"/>
                  <a:pt x="72720" y="135051"/>
                </a:cubicBezTo>
                <a:cubicBezTo>
                  <a:pt x="51326" y="135051"/>
                  <a:pt x="31296" y="131967"/>
                  <a:pt x="16070" y="126546"/>
                </a:cubicBezTo>
                <a:cubicBezTo>
                  <a:pt x="10356" y="124500"/>
                  <a:pt x="4805" y="121936"/>
                  <a:pt x="0" y="118754"/>
                </a:cubicBezTo>
                <a:lnTo>
                  <a:pt x="0" y="140245"/>
                </a:lnTo>
                <a:cubicBezTo>
                  <a:pt x="0" y="154595"/>
                  <a:pt x="32562" y="166217"/>
                  <a:pt x="72720" y="166217"/>
                </a:cubicBezTo>
                <a:cubicBezTo>
                  <a:pt x="112878" y="166217"/>
                  <a:pt x="145440" y="154595"/>
                  <a:pt x="145440" y="140245"/>
                </a:cubicBezTo>
                <a:lnTo>
                  <a:pt x="145440" y="118754"/>
                </a:lnTo>
                <a:cubicBezTo>
                  <a:pt x="140635" y="121936"/>
                  <a:pt x="135116" y="124500"/>
                  <a:pt x="129370" y="126546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2" name="Text 20"/>
          <p:cNvSpPr/>
          <p:nvPr/>
        </p:nvSpPr>
        <p:spPr>
          <a:xfrm>
            <a:off x="4243098" y="1695411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18166" y="1828279"/>
            <a:ext cx="1770209" cy="26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 días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43098" y="2094120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3.1M+ viajes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69613" y="1429464"/>
            <a:ext cx="1803452" cy="864327"/>
          </a:xfrm>
          <a:custGeom>
            <a:avLst/>
            <a:gdLst/>
            <a:ahLst/>
            <a:cxnLst/>
            <a:rect l="l" t="t" r="r" b="b"/>
            <a:pathLst>
              <a:path w="1803452" h="864327">
                <a:moveTo>
                  <a:pt x="33242" y="0"/>
                </a:moveTo>
                <a:lnTo>
                  <a:pt x="1770210" y="0"/>
                </a:lnTo>
                <a:cubicBezTo>
                  <a:pt x="1788569" y="0"/>
                  <a:pt x="1803452" y="14883"/>
                  <a:pt x="1803452" y="33242"/>
                </a:cubicBezTo>
                <a:lnTo>
                  <a:pt x="1803452" y="831085"/>
                </a:lnTo>
                <a:cubicBezTo>
                  <a:pt x="1803452" y="849444"/>
                  <a:pt x="1788569" y="864327"/>
                  <a:pt x="1770210" y="864327"/>
                </a:cubicBezTo>
                <a:lnTo>
                  <a:pt x="33242" y="864327"/>
                </a:lnTo>
                <a:cubicBezTo>
                  <a:pt x="14883" y="864327"/>
                  <a:pt x="0" y="849444"/>
                  <a:pt x="0" y="831085"/>
                </a:cubicBezTo>
                <a:lnTo>
                  <a:pt x="0" y="33242"/>
                </a:lnTo>
                <a:cubicBezTo>
                  <a:pt x="0" y="14883"/>
                  <a:pt x="14883" y="0"/>
                  <a:pt x="3324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87296" y="1495951"/>
            <a:ext cx="166217" cy="166217"/>
          </a:xfrm>
          <a:custGeom>
            <a:avLst/>
            <a:gdLst/>
            <a:ahLst/>
            <a:cxnLst/>
            <a:rect l="l" t="t" r="r" b="b"/>
            <a:pathLst>
              <a:path w="166217" h="166217">
                <a:moveTo>
                  <a:pt x="83108" y="0"/>
                </a:moveTo>
                <a:cubicBezTo>
                  <a:pt x="128977" y="0"/>
                  <a:pt x="166217" y="37240"/>
                  <a:pt x="166217" y="83108"/>
                </a:cubicBezTo>
                <a:cubicBezTo>
                  <a:pt x="166217" y="128977"/>
                  <a:pt x="128977" y="166217"/>
                  <a:pt x="83108" y="166217"/>
                </a:cubicBezTo>
                <a:cubicBezTo>
                  <a:pt x="37240" y="166217"/>
                  <a:pt x="0" y="128977"/>
                  <a:pt x="0" y="83108"/>
                </a:cubicBezTo>
                <a:cubicBezTo>
                  <a:pt x="0" y="37240"/>
                  <a:pt x="37240" y="0"/>
                  <a:pt x="83108" y="0"/>
                </a:cubicBezTo>
                <a:close/>
                <a:moveTo>
                  <a:pt x="75317" y="38957"/>
                </a:moveTo>
                <a:lnTo>
                  <a:pt x="75317" y="83108"/>
                </a:lnTo>
                <a:cubicBezTo>
                  <a:pt x="75317" y="85706"/>
                  <a:pt x="76616" y="88140"/>
                  <a:pt x="78791" y="89601"/>
                </a:cubicBezTo>
                <a:lnTo>
                  <a:pt x="109956" y="110378"/>
                </a:lnTo>
                <a:cubicBezTo>
                  <a:pt x="113527" y="112781"/>
                  <a:pt x="118365" y="111807"/>
                  <a:pt x="120767" y="108203"/>
                </a:cubicBezTo>
                <a:cubicBezTo>
                  <a:pt x="123169" y="104600"/>
                  <a:pt x="122195" y="99795"/>
                  <a:pt x="118592" y="97393"/>
                </a:cubicBezTo>
                <a:lnTo>
                  <a:pt x="90900" y="78953"/>
                </a:lnTo>
                <a:lnTo>
                  <a:pt x="90900" y="38957"/>
                </a:lnTo>
                <a:cubicBezTo>
                  <a:pt x="90900" y="34639"/>
                  <a:pt x="87426" y="31166"/>
                  <a:pt x="83108" y="31166"/>
                </a:cubicBezTo>
                <a:cubicBezTo>
                  <a:pt x="78791" y="31166"/>
                  <a:pt x="75317" y="34639"/>
                  <a:pt x="75317" y="3895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7" name="Text 25"/>
          <p:cNvSpPr/>
          <p:nvPr/>
        </p:nvSpPr>
        <p:spPr>
          <a:xfrm>
            <a:off x="6111167" y="1695411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86235" y="1828279"/>
            <a:ext cx="1770209" cy="26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1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11167" y="2094120"/>
            <a:ext cx="1720344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Respuesta API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9055" y="2492935"/>
            <a:ext cx="3756499" cy="1628924"/>
          </a:xfrm>
          <a:custGeom>
            <a:avLst/>
            <a:gdLst/>
            <a:ahLst/>
            <a:cxnLst/>
            <a:rect l="l" t="t" r="r" b="b"/>
            <a:pathLst>
              <a:path w="3756499" h="1628924">
                <a:moveTo>
                  <a:pt x="33243" y="0"/>
                </a:moveTo>
                <a:lnTo>
                  <a:pt x="3690006" y="0"/>
                </a:lnTo>
                <a:cubicBezTo>
                  <a:pt x="3726729" y="0"/>
                  <a:pt x="3756499" y="29770"/>
                  <a:pt x="3756499" y="66493"/>
                </a:cubicBezTo>
                <a:lnTo>
                  <a:pt x="3756499" y="1562432"/>
                </a:lnTo>
                <a:cubicBezTo>
                  <a:pt x="3756499" y="1599155"/>
                  <a:pt x="3726729" y="1628924"/>
                  <a:pt x="3690006" y="1628924"/>
                </a:cubicBezTo>
                <a:lnTo>
                  <a:pt x="33243" y="1628924"/>
                </a:lnTo>
                <a:cubicBezTo>
                  <a:pt x="14884" y="1628924"/>
                  <a:pt x="0" y="1614041"/>
                  <a:pt x="0" y="1595681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9055" y="2492935"/>
            <a:ext cx="33243" cy="1628924"/>
          </a:xfrm>
          <a:custGeom>
            <a:avLst/>
            <a:gdLst/>
            <a:ahLst/>
            <a:cxnLst/>
            <a:rect l="l" t="t" r="r" b="b"/>
            <a:pathLst>
              <a:path w="33243" h="1628924">
                <a:moveTo>
                  <a:pt x="33243" y="0"/>
                </a:moveTo>
                <a:lnTo>
                  <a:pt x="33243" y="0"/>
                </a:lnTo>
                <a:lnTo>
                  <a:pt x="33243" y="1628924"/>
                </a:lnTo>
                <a:lnTo>
                  <a:pt x="33243" y="1628924"/>
                </a:lnTo>
                <a:cubicBezTo>
                  <a:pt x="14884" y="1628924"/>
                  <a:pt x="0" y="1614041"/>
                  <a:pt x="0" y="1595681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2" name="Shape 30"/>
          <p:cNvSpPr/>
          <p:nvPr/>
        </p:nvSpPr>
        <p:spPr>
          <a:xfrm>
            <a:off x="498650" y="2625908"/>
            <a:ext cx="99730" cy="132973"/>
          </a:xfrm>
          <a:custGeom>
            <a:avLst/>
            <a:gdLst/>
            <a:ahLst/>
            <a:cxnLst/>
            <a:rect l="l" t="t" r="r" b="b"/>
            <a:pathLst>
              <a:path w="99730" h="132973">
                <a:moveTo>
                  <a:pt x="76070" y="99730"/>
                </a:moveTo>
                <a:cubicBezTo>
                  <a:pt x="77966" y="93938"/>
                  <a:pt x="81758" y="88692"/>
                  <a:pt x="86043" y="84173"/>
                </a:cubicBezTo>
                <a:cubicBezTo>
                  <a:pt x="94536" y="75239"/>
                  <a:pt x="99730" y="63162"/>
                  <a:pt x="99730" y="49865"/>
                </a:cubicBezTo>
                <a:cubicBezTo>
                  <a:pt x="99730" y="22335"/>
                  <a:pt x="77395" y="0"/>
                  <a:pt x="49865" y="0"/>
                </a:cubicBezTo>
                <a:cubicBezTo>
                  <a:pt x="22335" y="0"/>
                  <a:pt x="0" y="22335"/>
                  <a:pt x="0" y="49865"/>
                </a:cubicBezTo>
                <a:cubicBezTo>
                  <a:pt x="0" y="63162"/>
                  <a:pt x="5194" y="75239"/>
                  <a:pt x="13687" y="84173"/>
                </a:cubicBezTo>
                <a:cubicBezTo>
                  <a:pt x="17972" y="88692"/>
                  <a:pt x="21790" y="93938"/>
                  <a:pt x="23660" y="99730"/>
                </a:cubicBezTo>
                <a:lnTo>
                  <a:pt x="76044" y="99730"/>
                </a:lnTo>
                <a:close/>
                <a:moveTo>
                  <a:pt x="74798" y="112196"/>
                </a:moveTo>
                <a:lnTo>
                  <a:pt x="24933" y="112196"/>
                </a:lnTo>
                <a:lnTo>
                  <a:pt x="24933" y="116352"/>
                </a:lnTo>
                <a:cubicBezTo>
                  <a:pt x="24933" y="127831"/>
                  <a:pt x="34230" y="137129"/>
                  <a:pt x="45710" y="137129"/>
                </a:cubicBezTo>
                <a:lnTo>
                  <a:pt x="54020" y="137129"/>
                </a:lnTo>
                <a:cubicBezTo>
                  <a:pt x="65500" y="137129"/>
                  <a:pt x="74798" y="127831"/>
                  <a:pt x="74798" y="116352"/>
                </a:cubicBezTo>
                <a:lnTo>
                  <a:pt x="74798" y="112196"/>
                </a:lnTo>
                <a:close/>
                <a:moveTo>
                  <a:pt x="47787" y="29088"/>
                </a:moveTo>
                <a:cubicBezTo>
                  <a:pt x="37451" y="29088"/>
                  <a:pt x="29088" y="37451"/>
                  <a:pt x="29088" y="47787"/>
                </a:cubicBezTo>
                <a:cubicBezTo>
                  <a:pt x="29088" y="51242"/>
                  <a:pt x="26309" y="54020"/>
                  <a:pt x="22855" y="54020"/>
                </a:cubicBezTo>
                <a:cubicBezTo>
                  <a:pt x="19401" y="54020"/>
                  <a:pt x="16622" y="51242"/>
                  <a:pt x="16622" y="47787"/>
                </a:cubicBezTo>
                <a:cubicBezTo>
                  <a:pt x="16622" y="30568"/>
                  <a:pt x="30568" y="16622"/>
                  <a:pt x="47787" y="16622"/>
                </a:cubicBezTo>
                <a:cubicBezTo>
                  <a:pt x="51242" y="16622"/>
                  <a:pt x="54020" y="19401"/>
                  <a:pt x="54020" y="22855"/>
                </a:cubicBezTo>
                <a:cubicBezTo>
                  <a:pt x="54020" y="26309"/>
                  <a:pt x="51242" y="29088"/>
                  <a:pt x="47787" y="29088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3" name="Text 31"/>
          <p:cNvSpPr/>
          <p:nvPr/>
        </p:nvSpPr>
        <p:spPr>
          <a:xfrm>
            <a:off x="631624" y="2592665"/>
            <a:ext cx="3440687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Cuantitativos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5407" y="285861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5272" y="2908477"/>
            <a:ext cx="1230004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Ingreso promedio/viaje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629032" y="2908477"/>
            <a:ext cx="382299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$15.20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5407" y="315780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5272" y="3207667"/>
            <a:ext cx="1146896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Pico horario (8-9 AM)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21864" y="3207667"/>
            <a:ext cx="390609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$16.80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5407" y="345699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15272" y="3506857"/>
            <a:ext cx="1180139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Valle horario (3-5 AM)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54795" y="3506857"/>
            <a:ext cx="357366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$11.20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5407" y="375618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15272" y="3806047"/>
            <a:ext cx="922503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 lab/SE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645030" y="3806047"/>
            <a:ext cx="365677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+9.5%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18166" y="2492935"/>
            <a:ext cx="3756499" cy="1628924"/>
          </a:xfrm>
          <a:custGeom>
            <a:avLst/>
            <a:gdLst/>
            <a:ahLst/>
            <a:cxnLst/>
            <a:rect l="l" t="t" r="r" b="b"/>
            <a:pathLst>
              <a:path w="3756499" h="1628924">
                <a:moveTo>
                  <a:pt x="33243" y="0"/>
                </a:moveTo>
                <a:lnTo>
                  <a:pt x="3690006" y="0"/>
                </a:lnTo>
                <a:cubicBezTo>
                  <a:pt x="3726729" y="0"/>
                  <a:pt x="3756499" y="29770"/>
                  <a:pt x="3756499" y="66493"/>
                </a:cubicBezTo>
                <a:lnTo>
                  <a:pt x="3756499" y="1562432"/>
                </a:lnTo>
                <a:cubicBezTo>
                  <a:pt x="3756499" y="1599155"/>
                  <a:pt x="3726729" y="1628924"/>
                  <a:pt x="3690006" y="1628924"/>
                </a:cubicBezTo>
                <a:lnTo>
                  <a:pt x="33243" y="1628924"/>
                </a:lnTo>
                <a:cubicBezTo>
                  <a:pt x="14884" y="1628924"/>
                  <a:pt x="0" y="1614041"/>
                  <a:pt x="0" y="1595681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218166" y="2492935"/>
            <a:ext cx="33243" cy="1628924"/>
          </a:xfrm>
          <a:custGeom>
            <a:avLst/>
            <a:gdLst/>
            <a:ahLst/>
            <a:cxnLst/>
            <a:rect l="l" t="t" r="r" b="b"/>
            <a:pathLst>
              <a:path w="33243" h="1628924">
                <a:moveTo>
                  <a:pt x="33243" y="0"/>
                </a:moveTo>
                <a:lnTo>
                  <a:pt x="33243" y="0"/>
                </a:lnTo>
                <a:lnTo>
                  <a:pt x="33243" y="1628924"/>
                </a:lnTo>
                <a:lnTo>
                  <a:pt x="33243" y="1628924"/>
                </a:lnTo>
                <a:cubicBezTo>
                  <a:pt x="14884" y="1628924"/>
                  <a:pt x="0" y="1614041"/>
                  <a:pt x="0" y="1595681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8" name="Shape 46"/>
          <p:cNvSpPr/>
          <p:nvPr/>
        </p:nvSpPr>
        <p:spPr>
          <a:xfrm>
            <a:off x="4351139" y="2625908"/>
            <a:ext cx="132973" cy="132973"/>
          </a:xfrm>
          <a:custGeom>
            <a:avLst/>
            <a:gdLst/>
            <a:ahLst/>
            <a:cxnLst/>
            <a:rect l="l" t="t" r="r" b="b"/>
            <a:pathLst>
              <a:path w="132973" h="132973">
                <a:moveTo>
                  <a:pt x="16622" y="16622"/>
                </a:moveTo>
                <a:cubicBezTo>
                  <a:pt x="16622" y="12025"/>
                  <a:pt x="12908" y="8311"/>
                  <a:pt x="8311" y="8311"/>
                </a:cubicBezTo>
                <a:cubicBezTo>
                  <a:pt x="3714" y="8311"/>
                  <a:pt x="0" y="12025"/>
                  <a:pt x="0" y="16622"/>
                </a:cubicBezTo>
                <a:lnTo>
                  <a:pt x="0" y="103885"/>
                </a:lnTo>
                <a:cubicBezTo>
                  <a:pt x="0" y="115365"/>
                  <a:pt x="9298" y="124663"/>
                  <a:pt x="20777" y="124663"/>
                </a:cubicBezTo>
                <a:lnTo>
                  <a:pt x="124663" y="124663"/>
                </a:lnTo>
                <a:cubicBezTo>
                  <a:pt x="129260" y="124663"/>
                  <a:pt x="132973" y="120949"/>
                  <a:pt x="132973" y="116352"/>
                </a:cubicBezTo>
                <a:cubicBezTo>
                  <a:pt x="132973" y="111755"/>
                  <a:pt x="129260" y="108041"/>
                  <a:pt x="124663" y="108041"/>
                </a:cubicBezTo>
                <a:lnTo>
                  <a:pt x="20777" y="108041"/>
                </a:lnTo>
                <a:cubicBezTo>
                  <a:pt x="18492" y="108041"/>
                  <a:pt x="16622" y="106171"/>
                  <a:pt x="16622" y="103885"/>
                </a:cubicBezTo>
                <a:lnTo>
                  <a:pt x="16622" y="16622"/>
                </a:lnTo>
                <a:close/>
                <a:moveTo>
                  <a:pt x="122221" y="39113"/>
                </a:moveTo>
                <a:cubicBezTo>
                  <a:pt x="125468" y="35866"/>
                  <a:pt x="125468" y="30594"/>
                  <a:pt x="122221" y="27348"/>
                </a:cubicBezTo>
                <a:cubicBezTo>
                  <a:pt x="118975" y="24101"/>
                  <a:pt x="113703" y="24101"/>
                  <a:pt x="110456" y="27348"/>
                </a:cubicBezTo>
                <a:lnTo>
                  <a:pt x="83108" y="54722"/>
                </a:lnTo>
                <a:lnTo>
                  <a:pt x="68201" y="39840"/>
                </a:lnTo>
                <a:cubicBezTo>
                  <a:pt x="64954" y="36594"/>
                  <a:pt x="59682" y="36594"/>
                  <a:pt x="56436" y="39840"/>
                </a:cubicBezTo>
                <a:lnTo>
                  <a:pt x="31503" y="64773"/>
                </a:lnTo>
                <a:cubicBezTo>
                  <a:pt x="28257" y="68019"/>
                  <a:pt x="28257" y="73291"/>
                  <a:pt x="31503" y="76538"/>
                </a:cubicBezTo>
                <a:cubicBezTo>
                  <a:pt x="34750" y="79784"/>
                  <a:pt x="40022" y="79784"/>
                  <a:pt x="43268" y="76538"/>
                </a:cubicBezTo>
                <a:lnTo>
                  <a:pt x="62331" y="57475"/>
                </a:lnTo>
                <a:lnTo>
                  <a:pt x="77239" y="72382"/>
                </a:lnTo>
                <a:cubicBezTo>
                  <a:pt x="80485" y="75629"/>
                  <a:pt x="85757" y="75629"/>
                  <a:pt x="89004" y="72382"/>
                </a:cubicBezTo>
                <a:lnTo>
                  <a:pt x="122247" y="39139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9" name="Text 47"/>
          <p:cNvSpPr/>
          <p:nvPr/>
        </p:nvSpPr>
        <p:spPr>
          <a:xfrm>
            <a:off x="4500734" y="2592665"/>
            <a:ext cx="3440687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Capacidad de Simulación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334518" y="285861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384383" y="2908477"/>
            <a:ext cx="872638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Rango demanda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35126" y="2908477"/>
            <a:ext cx="340744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±20%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334518" y="315780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384383" y="3207667"/>
            <a:ext cx="673178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Rango ticket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70447" y="3207667"/>
            <a:ext cx="30750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±15%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34518" y="345699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384383" y="3506857"/>
            <a:ext cx="980679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Horizonte forecast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50563" y="3506857"/>
            <a:ext cx="432164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días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34518" y="3756182"/>
            <a:ext cx="3540417" cy="265947"/>
          </a:xfrm>
          <a:custGeom>
            <a:avLst/>
            <a:gdLst/>
            <a:ahLst/>
            <a:cxnLst/>
            <a:rect l="l" t="t" r="r" b="b"/>
            <a:pathLst>
              <a:path w="3540417" h="265947">
                <a:moveTo>
                  <a:pt x="33243" y="0"/>
                </a:moveTo>
                <a:lnTo>
                  <a:pt x="3507174" y="0"/>
                </a:lnTo>
                <a:cubicBezTo>
                  <a:pt x="3525534" y="0"/>
                  <a:pt x="3540417" y="14884"/>
                  <a:pt x="3540417" y="33243"/>
                </a:cubicBezTo>
                <a:lnTo>
                  <a:pt x="3540417" y="232703"/>
                </a:lnTo>
                <a:cubicBezTo>
                  <a:pt x="3540417" y="251063"/>
                  <a:pt x="3525534" y="265947"/>
                  <a:pt x="3507174" y="265947"/>
                </a:cubicBezTo>
                <a:lnTo>
                  <a:pt x="33243" y="265947"/>
                </a:lnTo>
                <a:cubicBezTo>
                  <a:pt x="14884" y="265947"/>
                  <a:pt x="0" y="251063"/>
                  <a:pt x="0" y="23270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384383" y="3806047"/>
            <a:ext cx="955746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respuesta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12333" y="3806047"/>
            <a:ext cx="465407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7223" y="1033868"/>
            <a:ext cx="3746526" cy="1236653"/>
          </a:xfrm>
          <a:custGeom>
            <a:avLst/>
            <a:gdLst/>
            <a:ahLst/>
            <a:cxnLst/>
            <a:rect l="l" t="t" r="r" b="b"/>
            <a:pathLst>
              <a:path w="3746526" h="1236653">
                <a:moveTo>
                  <a:pt x="66482" y="0"/>
                </a:moveTo>
                <a:lnTo>
                  <a:pt x="3680044" y="0"/>
                </a:lnTo>
                <a:cubicBezTo>
                  <a:pt x="3716761" y="0"/>
                  <a:pt x="3746526" y="29765"/>
                  <a:pt x="3746526" y="66482"/>
                </a:cubicBezTo>
                <a:lnTo>
                  <a:pt x="3746526" y="1170170"/>
                </a:lnTo>
                <a:cubicBezTo>
                  <a:pt x="3746526" y="1206888"/>
                  <a:pt x="3716761" y="1236653"/>
                  <a:pt x="3680044" y="1236653"/>
                </a:cubicBezTo>
                <a:lnTo>
                  <a:pt x="66482" y="1236653"/>
                </a:lnTo>
                <a:cubicBezTo>
                  <a:pt x="29765" y="1236653"/>
                  <a:pt x="0" y="1206888"/>
                  <a:pt x="0" y="1170170"/>
                </a:cubicBezTo>
                <a:lnTo>
                  <a:pt x="0" y="66482"/>
                </a:lnTo>
                <a:cubicBezTo>
                  <a:pt x="0" y="29790"/>
                  <a:pt x="29790" y="0"/>
                  <a:pt x="66482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35210" y="1170164"/>
            <a:ext cx="116352" cy="132973"/>
          </a:xfrm>
          <a:custGeom>
            <a:avLst/>
            <a:gdLst/>
            <a:ahLst/>
            <a:cxnLst/>
            <a:rect l="l" t="t" r="r" b="b"/>
            <a:pathLst>
              <a:path w="116352" h="132973">
                <a:moveTo>
                  <a:pt x="63864" y="-6727"/>
                </a:moveTo>
                <a:cubicBezTo>
                  <a:pt x="60383" y="-8856"/>
                  <a:pt x="55994" y="-8856"/>
                  <a:pt x="52514" y="-6727"/>
                </a:cubicBezTo>
                <a:cubicBezTo>
                  <a:pt x="46177" y="-2857"/>
                  <a:pt x="42255" y="-1818"/>
                  <a:pt x="34828" y="-1974"/>
                </a:cubicBezTo>
                <a:cubicBezTo>
                  <a:pt x="30750" y="-2078"/>
                  <a:pt x="26958" y="130"/>
                  <a:pt x="24984" y="3714"/>
                </a:cubicBezTo>
                <a:cubicBezTo>
                  <a:pt x="21426" y="10233"/>
                  <a:pt x="18544" y="13116"/>
                  <a:pt x="12025" y="16674"/>
                </a:cubicBezTo>
                <a:cubicBezTo>
                  <a:pt x="8441" y="18621"/>
                  <a:pt x="6259" y="22439"/>
                  <a:pt x="6337" y="26517"/>
                </a:cubicBezTo>
                <a:cubicBezTo>
                  <a:pt x="6519" y="33945"/>
                  <a:pt x="5454" y="37866"/>
                  <a:pt x="1584" y="44203"/>
                </a:cubicBezTo>
                <a:cubicBezTo>
                  <a:pt x="-545" y="47683"/>
                  <a:pt x="-545" y="52073"/>
                  <a:pt x="1584" y="55553"/>
                </a:cubicBezTo>
                <a:cubicBezTo>
                  <a:pt x="5454" y="61890"/>
                  <a:pt x="6493" y="65811"/>
                  <a:pt x="6337" y="73239"/>
                </a:cubicBezTo>
                <a:cubicBezTo>
                  <a:pt x="6233" y="77317"/>
                  <a:pt x="8441" y="81109"/>
                  <a:pt x="12025" y="83082"/>
                </a:cubicBezTo>
                <a:cubicBezTo>
                  <a:pt x="17764" y="86225"/>
                  <a:pt x="20673" y="88822"/>
                  <a:pt x="23738" y="93861"/>
                </a:cubicBezTo>
                <a:lnTo>
                  <a:pt x="11090" y="119079"/>
                </a:lnTo>
                <a:cubicBezTo>
                  <a:pt x="9557" y="122169"/>
                  <a:pt x="10804" y="125909"/>
                  <a:pt x="13869" y="127442"/>
                </a:cubicBezTo>
                <a:lnTo>
                  <a:pt x="36204" y="138609"/>
                </a:lnTo>
                <a:cubicBezTo>
                  <a:pt x="39191" y="140090"/>
                  <a:pt x="42827" y="138973"/>
                  <a:pt x="44437" y="136064"/>
                </a:cubicBezTo>
                <a:lnTo>
                  <a:pt x="58150" y="111365"/>
                </a:lnTo>
                <a:lnTo>
                  <a:pt x="71863" y="136064"/>
                </a:lnTo>
                <a:cubicBezTo>
                  <a:pt x="73473" y="138973"/>
                  <a:pt x="77109" y="140116"/>
                  <a:pt x="80096" y="138609"/>
                </a:cubicBezTo>
                <a:lnTo>
                  <a:pt x="102431" y="127442"/>
                </a:lnTo>
                <a:cubicBezTo>
                  <a:pt x="105522" y="125909"/>
                  <a:pt x="106768" y="122169"/>
                  <a:pt x="105210" y="119079"/>
                </a:cubicBezTo>
                <a:lnTo>
                  <a:pt x="92588" y="93835"/>
                </a:lnTo>
                <a:cubicBezTo>
                  <a:pt x="95627" y="88796"/>
                  <a:pt x="98561" y="86199"/>
                  <a:pt x="104301" y="83056"/>
                </a:cubicBezTo>
                <a:cubicBezTo>
                  <a:pt x="107885" y="81109"/>
                  <a:pt x="110067" y="77291"/>
                  <a:pt x="109989" y="73213"/>
                </a:cubicBezTo>
                <a:cubicBezTo>
                  <a:pt x="109807" y="65785"/>
                  <a:pt x="110872" y="61864"/>
                  <a:pt x="114742" y="55527"/>
                </a:cubicBezTo>
                <a:cubicBezTo>
                  <a:pt x="116871" y="52047"/>
                  <a:pt x="116871" y="47657"/>
                  <a:pt x="114742" y="44177"/>
                </a:cubicBezTo>
                <a:cubicBezTo>
                  <a:pt x="110872" y="37840"/>
                  <a:pt x="109833" y="33919"/>
                  <a:pt x="109989" y="26491"/>
                </a:cubicBezTo>
                <a:cubicBezTo>
                  <a:pt x="110093" y="22413"/>
                  <a:pt x="107885" y="18621"/>
                  <a:pt x="104301" y="16648"/>
                </a:cubicBezTo>
                <a:cubicBezTo>
                  <a:pt x="97782" y="13090"/>
                  <a:pt x="94899" y="10207"/>
                  <a:pt x="91341" y="3688"/>
                </a:cubicBezTo>
                <a:cubicBezTo>
                  <a:pt x="89393" y="104"/>
                  <a:pt x="85576" y="-2078"/>
                  <a:pt x="81498" y="-2000"/>
                </a:cubicBezTo>
                <a:cubicBezTo>
                  <a:pt x="74070" y="-1818"/>
                  <a:pt x="70149" y="-2883"/>
                  <a:pt x="63812" y="-6753"/>
                </a:cubicBezTo>
                <a:close/>
                <a:moveTo>
                  <a:pt x="58176" y="24933"/>
                </a:moveTo>
                <a:cubicBezTo>
                  <a:pt x="71936" y="24933"/>
                  <a:pt x="83108" y="36104"/>
                  <a:pt x="83108" y="49865"/>
                </a:cubicBezTo>
                <a:cubicBezTo>
                  <a:pt x="83108" y="63626"/>
                  <a:pt x="71936" y="74798"/>
                  <a:pt x="58176" y="74798"/>
                </a:cubicBezTo>
                <a:cubicBezTo>
                  <a:pt x="44415" y="74798"/>
                  <a:pt x="33243" y="63626"/>
                  <a:pt x="33243" y="49865"/>
                </a:cubicBezTo>
                <a:cubicBezTo>
                  <a:pt x="33243" y="36104"/>
                  <a:pt x="44415" y="24933"/>
                  <a:pt x="58176" y="24933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4" name="Text 62"/>
          <p:cNvSpPr/>
          <p:nvPr/>
        </p:nvSpPr>
        <p:spPr>
          <a:xfrm>
            <a:off x="8376494" y="1136921"/>
            <a:ext cx="3440687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Valor Generado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34171" y="1436111"/>
            <a:ext cx="101808" cy="116352"/>
          </a:xfrm>
          <a:custGeom>
            <a:avLst/>
            <a:gdLst/>
            <a:ahLst/>
            <a:cxnLst/>
            <a:rect l="l" t="t" r="r" b="b"/>
            <a:pathLst>
              <a:path w="101808" h="116352">
                <a:moveTo>
                  <a:pt x="98808" y="15930"/>
                </a:moveTo>
                <a:cubicBezTo>
                  <a:pt x="102058" y="18294"/>
                  <a:pt x="102785" y="22839"/>
                  <a:pt x="100422" y="26088"/>
                </a:cubicBezTo>
                <a:lnTo>
                  <a:pt x="42246" y="106080"/>
                </a:lnTo>
                <a:cubicBezTo>
                  <a:pt x="40996" y="107807"/>
                  <a:pt x="39064" y="108875"/>
                  <a:pt x="36928" y="109057"/>
                </a:cubicBezTo>
                <a:cubicBezTo>
                  <a:pt x="34792" y="109239"/>
                  <a:pt x="32724" y="108443"/>
                  <a:pt x="31224" y="106944"/>
                </a:cubicBezTo>
                <a:lnTo>
                  <a:pt x="2136" y="77856"/>
                </a:lnTo>
                <a:cubicBezTo>
                  <a:pt x="-704" y="75015"/>
                  <a:pt x="-704" y="70402"/>
                  <a:pt x="2136" y="67561"/>
                </a:cubicBezTo>
                <a:cubicBezTo>
                  <a:pt x="4977" y="64721"/>
                  <a:pt x="9590" y="64721"/>
                  <a:pt x="12431" y="67561"/>
                </a:cubicBezTo>
                <a:lnTo>
                  <a:pt x="35496" y="90627"/>
                </a:lnTo>
                <a:lnTo>
                  <a:pt x="88673" y="17521"/>
                </a:lnTo>
                <a:cubicBezTo>
                  <a:pt x="91036" y="14271"/>
                  <a:pt x="95581" y="13544"/>
                  <a:pt x="98831" y="1590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6" name="Text 64"/>
          <p:cNvSpPr/>
          <p:nvPr/>
        </p:nvSpPr>
        <p:spPr>
          <a:xfrm>
            <a:off x="8422204" y="1402868"/>
            <a:ext cx="3174740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Toma de decisiones:</a:t>
            </a:r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Reducción del 60% en tiempo de análisis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34171" y="1635571"/>
            <a:ext cx="101808" cy="116352"/>
          </a:xfrm>
          <a:custGeom>
            <a:avLst/>
            <a:gdLst/>
            <a:ahLst/>
            <a:cxnLst/>
            <a:rect l="l" t="t" r="r" b="b"/>
            <a:pathLst>
              <a:path w="101808" h="116352">
                <a:moveTo>
                  <a:pt x="98808" y="15930"/>
                </a:moveTo>
                <a:cubicBezTo>
                  <a:pt x="102058" y="18294"/>
                  <a:pt x="102785" y="22839"/>
                  <a:pt x="100422" y="26088"/>
                </a:cubicBezTo>
                <a:lnTo>
                  <a:pt x="42246" y="106080"/>
                </a:lnTo>
                <a:cubicBezTo>
                  <a:pt x="40996" y="107807"/>
                  <a:pt x="39064" y="108875"/>
                  <a:pt x="36928" y="109057"/>
                </a:cubicBezTo>
                <a:cubicBezTo>
                  <a:pt x="34792" y="109239"/>
                  <a:pt x="32724" y="108443"/>
                  <a:pt x="31224" y="106944"/>
                </a:cubicBezTo>
                <a:lnTo>
                  <a:pt x="2136" y="77856"/>
                </a:lnTo>
                <a:cubicBezTo>
                  <a:pt x="-704" y="75015"/>
                  <a:pt x="-704" y="70402"/>
                  <a:pt x="2136" y="67561"/>
                </a:cubicBezTo>
                <a:cubicBezTo>
                  <a:pt x="4977" y="64721"/>
                  <a:pt x="9590" y="64721"/>
                  <a:pt x="12431" y="67561"/>
                </a:cubicBezTo>
                <a:lnTo>
                  <a:pt x="35496" y="90627"/>
                </a:lnTo>
                <a:lnTo>
                  <a:pt x="88673" y="17521"/>
                </a:lnTo>
                <a:cubicBezTo>
                  <a:pt x="91036" y="14271"/>
                  <a:pt x="95581" y="13544"/>
                  <a:pt x="98831" y="1590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68" name="Text 66"/>
          <p:cNvSpPr/>
          <p:nvPr/>
        </p:nvSpPr>
        <p:spPr>
          <a:xfrm>
            <a:off x="8422204" y="1602328"/>
            <a:ext cx="288386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Planificación:</a:t>
            </a:r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Capacidad de evaluar múltiples escenarios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34171" y="1835032"/>
            <a:ext cx="101808" cy="116352"/>
          </a:xfrm>
          <a:custGeom>
            <a:avLst/>
            <a:gdLst/>
            <a:ahLst/>
            <a:cxnLst/>
            <a:rect l="l" t="t" r="r" b="b"/>
            <a:pathLst>
              <a:path w="101808" h="116352">
                <a:moveTo>
                  <a:pt x="98808" y="15930"/>
                </a:moveTo>
                <a:cubicBezTo>
                  <a:pt x="102058" y="18294"/>
                  <a:pt x="102785" y="22839"/>
                  <a:pt x="100422" y="26088"/>
                </a:cubicBezTo>
                <a:lnTo>
                  <a:pt x="42246" y="106080"/>
                </a:lnTo>
                <a:cubicBezTo>
                  <a:pt x="40996" y="107807"/>
                  <a:pt x="39064" y="108875"/>
                  <a:pt x="36928" y="109057"/>
                </a:cubicBezTo>
                <a:cubicBezTo>
                  <a:pt x="34792" y="109239"/>
                  <a:pt x="32724" y="108443"/>
                  <a:pt x="31224" y="106944"/>
                </a:cubicBezTo>
                <a:lnTo>
                  <a:pt x="2136" y="77856"/>
                </a:lnTo>
                <a:cubicBezTo>
                  <a:pt x="-704" y="75015"/>
                  <a:pt x="-704" y="70402"/>
                  <a:pt x="2136" y="67561"/>
                </a:cubicBezTo>
                <a:cubicBezTo>
                  <a:pt x="4977" y="64721"/>
                  <a:pt x="9590" y="64721"/>
                  <a:pt x="12431" y="67561"/>
                </a:cubicBezTo>
                <a:lnTo>
                  <a:pt x="35496" y="90627"/>
                </a:lnTo>
                <a:lnTo>
                  <a:pt x="88673" y="17521"/>
                </a:lnTo>
                <a:cubicBezTo>
                  <a:pt x="91036" y="14271"/>
                  <a:pt x="95581" y="13544"/>
                  <a:pt x="98831" y="1590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0" name="Text 68"/>
          <p:cNvSpPr/>
          <p:nvPr/>
        </p:nvSpPr>
        <p:spPr>
          <a:xfrm>
            <a:off x="8422204" y="1801788"/>
            <a:ext cx="2966969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Accesibilidad:</a:t>
            </a:r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Herramienta usable por perfiles no técnicos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34171" y="2034492"/>
            <a:ext cx="101808" cy="116352"/>
          </a:xfrm>
          <a:custGeom>
            <a:avLst/>
            <a:gdLst/>
            <a:ahLst/>
            <a:cxnLst/>
            <a:rect l="l" t="t" r="r" b="b"/>
            <a:pathLst>
              <a:path w="101808" h="116352">
                <a:moveTo>
                  <a:pt x="98808" y="15930"/>
                </a:moveTo>
                <a:cubicBezTo>
                  <a:pt x="102058" y="18294"/>
                  <a:pt x="102785" y="22839"/>
                  <a:pt x="100422" y="26088"/>
                </a:cubicBezTo>
                <a:lnTo>
                  <a:pt x="42246" y="106080"/>
                </a:lnTo>
                <a:cubicBezTo>
                  <a:pt x="40996" y="107807"/>
                  <a:pt x="39064" y="108875"/>
                  <a:pt x="36928" y="109057"/>
                </a:cubicBezTo>
                <a:cubicBezTo>
                  <a:pt x="34792" y="109239"/>
                  <a:pt x="32724" y="108443"/>
                  <a:pt x="31224" y="106944"/>
                </a:cubicBezTo>
                <a:lnTo>
                  <a:pt x="2136" y="77856"/>
                </a:lnTo>
                <a:cubicBezTo>
                  <a:pt x="-704" y="75015"/>
                  <a:pt x="-704" y="70402"/>
                  <a:pt x="2136" y="67561"/>
                </a:cubicBezTo>
                <a:cubicBezTo>
                  <a:pt x="4977" y="64721"/>
                  <a:pt x="9590" y="64721"/>
                  <a:pt x="12431" y="67561"/>
                </a:cubicBezTo>
                <a:lnTo>
                  <a:pt x="35496" y="90627"/>
                </a:lnTo>
                <a:lnTo>
                  <a:pt x="88673" y="17521"/>
                </a:lnTo>
                <a:cubicBezTo>
                  <a:pt x="91036" y="14271"/>
                  <a:pt x="95581" y="13544"/>
                  <a:pt x="98831" y="1590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2" name="Text 70"/>
          <p:cNvSpPr/>
          <p:nvPr/>
        </p:nvSpPr>
        <p:spPr>
          <a:xfrm>
            <a:off x="8422204" y="2001248"/>
            <a:ext cx="2767509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Escalabilidad:</a:t>
            </a:r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Arquitectura lista para otros transportes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03899" y="2373572"/>
            <a:ext cx="3756499" cy="1662168"/>
          </a:xfrm>
          <a:custGeom>
            <a:avLst/>
            <a:gdLst/>
            <a:ahLst/>
            <a:cxnLst/>
            <a:rect l="l" t="t" r="r" b="b"/>
            <a:pathLst>
              <a:path w="3756499" h="1662168">
                <a:moveTo>
                  <a:pt x="66487" y="0"/>
                </a:moveTo>
                <a:lnTo>
                  <a:pt x="3690012" y="0"/>
                </a:lnTo>
                <a:cubicBezTo>
                  <a:pt x="3726732" y="0"/>
                  <a:pt x="3756499" y="29767"/>
                  <a:pt x="3756499" y="66487"/>
                </a:cubicBezTo>
                <a:lnTo>
                  <a:pt x="3756499" y="1595681"/>
                </a:lnTo>
                <a:cubicBezTo>
                  <a:pt x="3756499" y="1632401"/>
                  <a:pt x="3726732" y="1662168"/>
                  <a:pt x="3690012" y="1662168"/>
                </a:cubicBezTo>
                <a:lnTo>
                  <a:pt x="66487" y="1662168"/>
                </a:lnTo>
                <a:cubicBezTo>
                  <a:pt x="29767" y="1662168"/>
                  <a:pt x="0" y="1632401"/>
                  <a:pt x="0" y="1595681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8203629" y="2473302"/>
            <a:ext cx="3623526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Transformación del Proyecto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03629" y="2739249"/>
            <a:ext cx="3557039" cy="465407"/>
          </a:xfrm>
          <a:custGeom>
            <a:avLst/>
            <a:gdLst/>
            <a:ahLst/>
            <a:cxnLst/>
            <a:rect l="l" t="t" r="r" b="b"/>
            <a:pathLst>
              <a:path w="3557039" h="465407">
                <a:moveTo>
                  <a:pt x="33244" y="0"/>
                </a:moveTo>
                <a:lnTo>
                  <a:pt x="3523795" y="0"/>
                </a:lnTo>
                <a:cubicBezTo>
                  <a:pt x="3542155" y="0"/>
                  <a:pt x="3557039" y="14884"/>
                  <a:pt x="3557039" y="33244"/>
                </a:cubicBezTo>
                <a:lnTo>
                  <a:pt x="3557039" y="432163"/>
                </a:lnTo>
                <a:cubicBezTo>
                  <a:pt x="3557039" y="450523"/>
                  <a:pt x="3542155" y="465407"/>
                  <a:pt x="3523795" y="465407"/>
                </a:cubicBezTo>
                <a:lnTo>
                  <a:pt x="33244" y="465407"/>
                </a:lnTo>
                <a:cubicBezTo>
                  <a:pt x="14884" y="465407"/>
                  <a:pt x="0" y="450523"/>
                  <a:pt x="0" y="432163"/>
                </a:cubicBezTo>
                <a:lnTo>
                  <a:pt x="0" y="33244"/>
                </a:lnTo>
                <a:cubicBezTo>
                  <a:pt x="0" y="14896"/>
                  <a:pt x="14896" y="0"/>
                  <a:pt x="3324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8270116" y="2805736"/>
            <a:ext cx="348224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Antes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270116" y="2971953"/>
            <a:ext cx="348224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Notebook técnico aislado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930413" y="3271143"/>
            <a:ext cx="99730" cy="132973"/>
          </a:xfrm>
          <a:custGeom>
            <a:avLst/>
            <a:gdLst/>
            <a:ahLst/>
            <a:cxnLst/>
            <a:rect l="l" t="t" r="r" b="b"/>
            <a:pathLst>
              <a:path w="99730" h="132973">
                <a:moveTo>
                  <a:pt x="43996" y="130532"/>
                </a:moveTo>
                <a:cubicBezTo>
                  <a:pt x="47242" y="133779"/>
                  <a:pt x="52514" y="133779"/>
                  <a:pt x="55761" y="130532"/>
                </a:cubicBezTo>
                <a:lnTo>
                  <a:pt x="97315" y="88978"/>
                </a:lnTo>
                <a:cubicBezTo>
                  <a:pt x="100561" y="85731"/>
                  <a:pt x="100561" y="80459"/>
                  <a:pt x="97315" y="77213"/>
                </a:cubicBezTo>
                <a:cubicBezTo>
                  <a:pt x="94068" y="73966"/>
                  <a:pt x="88796" y="73966"/>
                  <a:pt x="85550" y="77213"/>
                </a:cubicBezTo>
                <a:lnTo>
                  <a:pt x="58176" y="104587"/>
                </a:lnTo>
                <a:lnTo>
                  <a:pt x="58176" y="8311"/>
                </a:lnTo>
                <a:cubicBezTo>
                  <a:pt x="58176" y="3714"/>
                  <a:pt x="54462" y="0"/>
                  <a:pt x="49865" y="0"/>
                </a:cubicBezTo>
                <a:cubicBezTo>
                  <a:pt x="45268" y="0"/>
                  <a:pt x="41554" y="3714"/>
                  <a:pt x="41554" y="8311"/>
                </a:cubicBezTo>
                <a:lnTo>
                  <a:pt x="41554" y="104587"/>
                </a:lnTo>
                <a:lnTo>
                  <a:pt x="14180" y="77213"/>
                </a:lnTo>
                <a:cubicBezTo>
                  <a:pt x="10934" y="73966"/>
                  <a:pt x="5662" y="73966"/>
                  <a:pt x="2415" y="77213"/>
                </a:cubicBezTo>
                <a:cubicBezTo>
                  <a:pt x="-831" y="80459"/>
                  <a:pt x="-831" y="85731"/>
                  <a:pt x="2415" y="88978"/>
                </a:cubicBezTo>
                <a:lnTo>
                  <a:pt x="43970" y="130532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79" name="Shape 77"/>
          <p:cNvSpPr/>
          <p:nvPr/>
        </p:nvSpPr>
        <p:spPr>
          <a:xfrm>
            <a:off x="8203629" y="3470603"/>
            <a:ext cx="3557039" cy="465407"/>
          </a:xfrm>
          <a:custGeom>
            <a:avLst/>
            <a:gdLst/>
            <a:ahLst/>
            <a:cxnLst/>
            <a:rect l="l" t="t" r="r" b="b"/>
            <a:pathLst>
              <a:path w="3557039" h="465407">
                <a:moveTo>
                  <a:pt x="33244" y="0"/>
                </a:moveTo>
                <a:lnTo>
                  <a:pt x="3523795" y="0"/>
                </a:lnTo>
                <a:cubicBezTo>
                  <a:pt x="3542155" y="0"/>
                  <a:pt x="3557039" y="14884"/>
                  <a:pt x="3557039" y="33244"/>
                </a:cubicBezTo>
                <a:lnTo>
                  <a:pt x="3557039" y="432163"/>
                </a:lnTo>
                <a:cubicBezTo>
                  <a:pt x="3557039" y="450523"/>
                  <a:pt x="3542155" y="465407"/>
                  <a:pt x="3523795" y="465407"/>
                </a:cubicBezTo>
                <a:lnTo>
                  <a:pt x="33244" y="465407"/>
                </a:lnTo>
                <a:cubicBezTo>
                  <a:pt x="14884" y="465407"/>
                  <a:pt x="0" y="450523"/>
                  <a:pt x="0" y="432163"/>
                </a:cubicBezTo>
                <a:lnTo>
                  <a:pt x="0" y="33244"/>
                </a:lnTo>
                <a:cubicBezTo>
                  <a:pt x="0" y="14896"/>
                  <a:pt x="14896" y="0"/>
                  <a:pt x="33244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8270116" y="3537090"/>
            <a:ext cx="348224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Después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270116" y="3703306"/>
            <a:ext cx="348224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 de datos desplegable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120521" y="4135470"/>
            <a:ext cx="3739877" cy="1296491"/>
          </a:xfrm>
          <a:custGeom>
            <a:avLst/>
            <a:gdLst/>
            <a:ahLst/>
            <a:cxnLst/>
            <a:rect l="l" t="t" r="r" b="b"/>
            <a:pathLst>
              <a:path w="3739877" h="1296491">
                <a:moveTo>
                  <a:pt x="33243" y="0"/>
                </a:moveTo>
                <a:lnTo>
                  <a:pt x="3673393" y="0"/>
                </a:lnTo>
                <a:cubicBezTo>
                  <a:pt x="3710111" y="0"/>
                  <a:pt x="3739877" y="29766"/>
                  <a:pt x="3739877" y="66484"/>
                </a:cubicBezTo>
                <a:lnTo>
                  <a:pt x="3739877" y="1230007"/>
                </a:lnTo>
                <a:cubicBezTo>
                  <a:pt x="3739877" y="1266725"/>
                  <a:pt x="3710111" y="1296491"/>
                  <a:pt x="3673393" y="1296491"/>
                </a:cubicBezTo>
                <a:lnTo>
                  <a:pt x="33243" y="1296491"/>
                </a:lnTo>
                <a:cubicBezTo>
                  <a:pt x="14884" y="1296491"/>
                  <a:pt x="0" y="1281607"/>
                  <a:pt x="0" y="126324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A4A4A">
              <a:alpha val="3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120521" y="4135470"/>
            <a:ext cx="33243" cy="1296491"/>
          </a:xfrm>
          <a:custGeom>
            <a:avLst/>
            <a:gdLst/>
            <a:ahLst/>
            <a:cxnLst/>
            <a:rect l="l" t="t" r="r" b="b"/>
            <a:pathLst>
              <a:path w="33243" h="1296491">
                <a:moveTo>
                  <a:pt x="33243" y="0"/>
                </a:moveTo>
                <a:lnTo>
                  <a:pt x="33243" y="0"/>
                </a:lnTo>
                <a:lnTo>
                  <a:pt x="33243" y="1296491"/>
                </a:lnTo>
                <a:lnTo>
                  <a:pt x="33243" y="1296491"/>
                </a:lnTo>
                <a:cubicBezTo>
                  <a:pt x="14884" y="1296491"/>
                  <a:pt x="0" y="1281607"/>
                  <a:pt x="0" y="126324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84" name="Text 82"/>
          <p:cNvSpPr/>
          <p:nvPr/>
        </p:nvSpPr>
        <p:spPr>
          <a:xfrm>
            <a:off x="8236872" y="4235200"/>
            <a:ext cx="3590282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Adopcción Esperada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36872" y="4501147"/>
            <a:ext cx="3523796" cy="398920"/>
          </a:xfrm>
          <a:custGeom>
            <a:avLst/>
            <a:gdLst/>
            <a:ahLst/>
            <a:cxnLst/>
            <a:rect l="l" t="t" r="r" b="b"/>
            <a:pathLst>
              <a:path w="3523796" h="398920">
                <a:moveTo>
                  <a:pt x="33242" y="0"/>
                </a:moveTo>
                <a:lnTo>
                  <a:pt x="3490553" y="0"/>
                </a:lnTo>
                <a:cubicBezTo>
                  <a:pt x="3508913" y="0"/>
                  <a:pt x="3523796" y="14883"/>
                  <a:pt x="3523796" y="33242"/>
                </a:cubicBezTo>
                <a:lnTo>
                  <a:pt x="3523796" y="365678"/>
                </a:lnTo>
                <a:cubicBezTo>
                  <a:pt x="3523796" y="384037"/>
                  <a:pt x="3508913" y="398920"/>
                  <a:pt x="3490553" y="398920"/>
                </a:cubicBezTo>
                <a:lnTo>
                  <a:pt x="33242" y="398920"/>
                </a:lnTo>
                <a:cubicBezTo>
                  <a:pt x="14895" y="398920"/>
                  <a:pt x="0" y="384025"/>
                  <a:pt x="0" y="365678"/>
                </a:cubicBezTo>
                <a:lnTo>
                  <a:pt x="0" y="33242"/>
                </a:lnTo>
                <a:cubicBezTo>
                  <a:pt x="0" y="14883"/>
                  <a:pt x="14883" y="0"/>
                  <a:pt x="3324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8286737" y="4551012"/>
            <a:ext cx="3473930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Usuarios objetivo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286737" y="4683880"/>
            <a:ext cx="348224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Gerentes operativos, analistas financieros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36872" y="4933205"/>
            <a:ext cx="3523796" cy="398920"/>
          </a:xfrm>
          <a:custGeom>
            <a:avLst/>
            <a:gdLst/>
            <a:ahLst/>
            <a:cxnLst/>
            <a:rect l="l" t="t" r="r" b="b"/>
            <a:pathLst>
              <a:path w="3523796" h="398920">
                <a:moveTo>
                  <a:pt x="33242" y="0"/>
                </a:moveTo>
                <a:lnTo>
                  <a:pt x="3490553" y="0"/>
                </a:lnTo>
                <a:cubicBezTo>
                  <a:pt x="3508913" y="0"/>
                  <a:pt x="3523796" y="14883"/>
                  <a:pt x="3523796" y="33242"/>
                </a:cubicBezTo>
                <a:lnTo>
                  <a:pt x="3523796" y="365678"/>
                </a:lnTo>
                <a:cubicBezTo>
                  <a:pt x="3523796" y="384037"/>
                  <a:pt x="3508913" y="398920"/>
                  <a:pt x="3490553" y="398920"/>
                </a:cubicBezTo>
                <a:lnTo>
                  <a:pt x="33242" y="398920"/>
                </a:lnTo>
                <a:cubicBezTo>
                  <a:pt x="14895" y="398920"/>
                  <a:pt x="0" y="384025"/>
                  <a:pt x="0" y="365678"/>
                </a:cubicBezTo>
                <a:lnTo>
                  <a:pt x="0" y="33242"/>
                </a:lnTo>
                <a:cubicBezTo>
                  <a:pt x="0" y="14883"/>
                  <a:pt x="14883" y="0"/>
                  <a:pt x="33242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8286737" y="4983070"/>
            <a:ext cx="3473930" cy="13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Frecuencia de uso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286737" y="5115946"/>
            <a:ext cx="3482241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Diaria (planificación), semanal (forecast)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07223" y="5534812"/>
            <a:ext cx="3746526" cy="305839"/>
          </a:xfrm>
          <a:custGeom>
            <a:avLst/>
            <a:gdLst/>
            <a:ahLst/>
            <a:cxnLst/>
            <a:rect l="l" t="t" r="r" b="b"/>
            <a:pathLst>
              <a:path w="3746526" h="305839">
                <a:moveTo>
                  <a:pt x="66486" y="0"/>
                </a:moveTo>
                <a:lnTo>
                  <a:pt x="3680040" y="0"/>
                </a:lnTo>
                <a:cubicBezTo>
                  <a:pt x="3716759" y="0"/>
                  <a:pt x="3746526" y="29767"/>
                  <a:pt x="3746526" y="66486"/>
                </a:cubicBezTo>
                <a:lnTo>
                  <a:pt x="3746526" y="239353"/>
                </a:lnTo>
                <a:cubicBezTo>
                  <a:pt x="3746526" y="276072"/>
                  <a:pt x="3716759" y="305839"/>
                  <a:pt x="3680040" y="305839"/>
                </a:cubicBezTo>
                <a:lnTo>
                  <a:pt x="66486" y="305839"/>
                </a:lnTo>
                <a:cubicBezTo>
                  <a:pt x="29792" y="305839"/>
                  <a:pt x="0" y="276047"/>
                  <a:pt x="0" y="239353"/>
                </a:cubicBezTo>
                <a:lnTo>
                  <a:pt x="0" y="66486"/>
                </a:lnTo>
                <a:cubicBezTo>
                  <a:pt x="0" y="29792"/>
                  <a:pt x="29792" y="0"/>
                  <a:pt x="66486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 w="10160">
            <a:solidFill>
              <a:srgbClr val="F7C873">
                <a:alpha val="30196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193656" y="5624563"/>
            <a:ext cx="116352" cy="116352"/>
          </a:xfrm>
          <a:custGeom>
            <a:avLst/>
            <a:gdLst/>
            <a:ahLst/>
            <a:cxnLst/>
            <a:rect l="l" t="t" r="r" b="b"/>
            <a:pathLst>
              <a:path w="116352" h="116352">
                <a:moveTo>
                  <a:pt x="32792" y="0"/>
                </a:moveTo>
                <a:lnTo>
                  <a:pt x="83696" y="0"/>
                </a:lnTo>
                <a:cubicBezTo>
                  <a:pt x="89718" y="0"/>
                  <a:pt x="94627" y="4954"/>
                  <a:pt x="94399" y="10953"/>
                </a:cubicBezTo>
                <a:cubicBezTo>
                  <a:pt x="94354" y="12158"/>
                  <a:pt x="94309" y="13362"/>
                  <a:pt x="94240" y="14544"/>
                </a:cubicBezTo>
                <a:lnTo>
                  <a:pt x="105512" y="14544"/>
                </a:lnTo>
                <a:cubicBezTo>
                  <a:pt x="111443" y="14544"/>
                  <a:pt x="116670" y="19453"/>
                  <a:pt x="116215" y="25861"/>
                </a:cubicBezTo>
                <a:cubicBezTo>
                  <a:pt x="114511" y="49427"/>
                  <a:pt x="102467" y="62380"/>
                  <a:pt x="89400" y="69152"/>
                </a:cubicBezTo>
                <a:cubicBezTo>
                  <a:pt x="85809" y="71015"/>
                  <a:pt x="82151" y="72402"/>
                  <a:pt x="78674" y="73424"/>
                </a:cubicBezTo>
                <a:cubicBezTo>
                  <a:pt x="74083" y="79924"/>
                  <a:pt x="69311" y="83355"/>
                  <a:pt x="65516" y="85196"/>
                </a:cubicBezTo>
                <a:lnTo>
                  <a:pt x="65516" y="101808"/>
                </a:lnTo>
                <a:lnTo>
                  <a:pt x="80060" y="101808"/>
                </a:lnTo>
                <a:cubicBezTo>
                  <a:pt x="84082" y="101808"/>
                  <a:pt x="87332" y="105057"/>
                  <a:pt x="87332" y="109080"/>
                </a:cubicBezTo>
                <a:cubicBezTo>
                  <a:pt x="87332" y="113102"/>
                  <a:pt x="84082" y="116352"/>
                  <a:pt x="80060" y="116352"/>
                </a:cubicBezTo>
                <a:lnTo>
                  <a:pt x="36428" y="116352"/>
                </a:lnTo>
                <a:cubicBezTo>
                  <a:pt x="32406" y="116352"/>
                  <a:pt x="29156" y="113102"/>
                  <a:pt x="29156" y="109080"/>
                </a:cubicBezTo>
                <a:cubicBezTo>
                  <a:pt x="29156" y="105057"/>
                  <a:pt x="32406" y="101808"/>
                  <a:pt x="36428" y="101808"/>
                </a:cubicBezTo>
                <a:lnTo>
                  <a:pt x="50972" y="101808"/>
                </a:lnTo>
                <a:lnTo>
                  <a:pt x="50972" y="85196"/>
                </a:lnTo>
                <a:cubicBezTo>
                  <a:pt x="47336" y="83446"/>
                  <a:pt x="42814" y="80196"/>
                  <a:pt x="38405" y="74220"/>
                </a:cubicBezTo>
                <a:cubicBezTo>
                  <a:pt x="34224" y="73129"/>
                  <a:pt x="29679" y="71470"/>
                  <a:pt x="25247" y="68970"/>
                </a:cubicBezTo>
                <a:cubicBezTo>
                  <a:pt x="12953" y="62085"/>
                  <a:pt x="1863" y="49109"/>
                  <a:pt x="273" y="25816"/>
                </a:cubicBezTo>
                <a:cubicBezTo>
                  <a:pt x="-159" y="19430"/>
                  <a:pt x="5045" y="14521"/>
                  <a:pt x="10976" y="14521"/>
                </a:cubicBezTo>
                <a:lnTo>
                  <a:pt x="22248" y="14521"/>
                </a:lnTo>
                <a:cubicBezTo>
                  <a:pt x="22180" y="13340"/>
                  <a:pt x="22134" y="12158"/>
                  <a:pt x="22089" y="10931"/>
                </a:cubicBezTo>
                <a:cubicBezTo>
                  <a:pt x="21861" y="4909"/>
                  <a:pt x="26770" y="-23"/>
                  <a:pt x="32792" y="-23"/>
                </a:cubicBezTo>
                <a:close/>
                <a:moveTo>
                  <a:pt x="23066" y="25452"/>
                </a:moveTo>
                <a:lnTo>
                  <a:pt x="11158" y="25452"/>
                </a:lnTo>
                <a:cubicBezTo>
                  <a:pt x="12567" y="44700"/>
                  <a:pt x="21407" y="54335"/>
                  <a:pt x="30520" y="59448"/>
                </a:cubicBezTo>
                <a:cubicBezTo>
                  <a:pt x="27247" y="50972"/>
                  <a:pt x="24543" y="39905"/>
                  <a:pt x="23066" y="25452"/>
                </a:cubicBezTo>
                <a:close/>
                <a:moveTo>
                  <a:pt x="86355" y="58358"/>
                </a:moveTo>
                <a:cubicBezTo>
                  <a:pt x="95558" y="52949"/>
                  <a:pt x="103876" y="43336"/>
                  <a:pt x="105285" y="25452"/>
                </a:cubicBezTo>
                <a:lnTo>
                  <a:pt x="93400" y="25452"/>
                </a:lnTo>
                <a:cubicBezTo>
                  <a:pt x="91991" y="39291"/>
                  <a:pt x="89445" y="50040"/>
                  <a:pt x="86355" y="58358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3" name="Text 91"/>
          <p:cNvSpPr/>
          <p:nvPr/>
        </p:nvSpPr>
        <p:spPr>
          <a:xfrm>
            <a:off x="8348384" y="5604622"/>
            <a:ext cx="3493730" cy="166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Éxito crítico: Democratización de datos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332434" y="6546962"/>
            <a:ext cx="11527133" cy="405569"/>
          </a:xfrm>
          <a:custGeom>
            <a:avLst/>
            <a:gdLst/>
            <a:ahLst/>
            <a:cxnLst/>
            <a:rect l="l" t="t" r="r" b="b"/>
            <a:pathLst>
              <a:path w="11527133" h="405569">
                <a:moveTo>
                  <a:pt x="13297" y="0"/>
                </a:moveTo>
                <a:lnTo>
                  <a:pt x="11513836" y="0"/>
                </a:lnTo>
                <a:cubicBezTo>
                  <a:pt x="11521180" y="0"/>
                  <a:pt x="11527133" y="5953"/>
                  <a:pt x="11527133" y="13297"/>
                </a:cubicBezTo>
                <a:lnTo>
                  <a:pt x="11527133" y="339084"/>
                </a:lnTo>
                <a:cubicBezTo>
                  <a:pt x="11527133" y="375803"/>
                  <a:pt x="11497367" y="405569"/>
                  <a:pt x="11460648" y="405569"/>
                </a:cubicBezTo>
                <a:lnTo>
                  <a:pt x="66485" y="405569"/>
                </a:lnTo>
                <a:cubicBezTo>
                  <a:pt x="29791" y="405569"/>
                  <a:pt x="0" y="375778"/>
                  <a:pt x="0" y="339084"/>
                </a:cubicBezTo>
                <a:lnTo>
                  <a:pt x="0" y="13297"/>
                </a:lnTo>
                <a:cubicBezTo>
                  <a:pt x="0" y="5953"/>
                  <a:pt x="5953" y="0"/>
                  <a:pt x="13297" y="0"/>
                </a:cubicBezTo>
                <a:close/>
              </a:path>
            </a:pathLst>
          </a:custGeom>
          <a:solidFill>
            <a:srgbClr val="F7C873">
              <a:alpha val="10196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332434" y="6546962"/>
            <a:ext cx="11527133" cy="13297"/>
          </a:xfrm>
          <a:custGeom>
            <a:avLst/>
            <a:gdLst/>
            <a:ahLst/>
            <a:cxnLst/>
            <a:rect l="l" t="t" r="r" b="b"/>
            <a:pathLst>
              <a:path w="11527133" h="13297">
                <a:moveTo>
                  <a:pt x="13297" y="0"/>
                </a:moveTo>
                <a:lnTo>
                  <a:pt x="11513836" y="0"/>
                </a:lnTo>
                <a:cubicBezTo>
                  <a:pt x="11521180" y="0"/>
                  <a:pt x="11527133" y="5953"/>
                  <a:pt x="11527133" y="13297"/>
                </a:cubicBezTo>
                <a:lnTo>
                  <a:pt x="11527133" y="13297"/>
                </a:lnTo>
                <a:lnTo>
                  <a:pt x="0" y="13297"/>
                </a:lnTo>
                <a:lnTo>
                  <a:pt x="0" y="13297"/>
                </a:lnTo>
                <a:cubicBezTo>
                  <a:pt x="0" y="5953"/>
                  <a:pt x="5953" y="0"/>
                  <a:pt x="13297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6" name="Shape 94"/>
          <p:cNvSpPr/>
          <p:nvPr/>
        </p:nvSpPr>
        <p:spPr>
          <a:xfrm>
            <a:off x="448785" y="6679942"/>
            <a:ext cx="132973" cy="132973"/>
          </a:xfrm>
          <a:custGeom>
            <a:avLst/>
            <a:gdLst/>
            <a:ahLst/>
            <a:cxnLst/>
            <a:rect l="l" t="t" r="r" b="b"/>
            <a:pathLst>
              <a:path w="132973" h="132973">
                <a:moveTo>
                  <a:pt x="130532" y="72356"/>
                </a:moveTo>
                <a:cubicBezTo>
                  <a:pt x="133779" y="69110"/>
                  <a:pt x="133779" y="63838"/>
                  <a:pt x="130532" y="60591"/>
                </a:cubicBezTo>
                <a:lnTo>
                  <a:pt x="88978" y="19037"/>
                </a:lnTo>
                <a:cubicBezTo>
                  <a:pt x="85731" y="15791"/>
                  <a:pt x="80459" y="15791"/>
                  <a:pt x="77213" y="19037"/>
                </a:cubicBezTo>
                <a:cubicBezTo>
                  <a:pt x="73966" y="22283"/>
                  <a:pt x="73966" y="27556"/>
                  <a:pt x="77213" y="30802"/>
                </a:cubicBezTo>
                <a:lnTo>
                  <a:pt x="104587" y="58176"/>
                </a:lnTo>
                <a:lnTo>
                  <a:pt x="8311" y="58176"/>
                </a:lnTo>
                <a:cubicBezTo>
                  <a:pt x="3714" y="58176"/>
                  <a:pt x="0" y="61890"/>
                  <a:pt x="0" y="66487"/>
                </a:cubicBezTo>
                <a:cubicBezTo>
                  <a:pt x="0" y="71084"/>
                  <a:pt x="3714" y="74798"/>
                  <a:pt x="8311" y="74798"/>
                </a:cubicBezTo>
                <a:lnTo>
                  <a:pt x="104587" y="74798"/>
                </a:lnTo>
                <a:lnTo>
                  <a:pt x="77213" y="102171"/>
                </a:lnTo>
                <a:cubicBezTo>
                  <a:pt x="73966" y="105418"/>
                  <a:pt x="73966" y="110690"/>
                  <a:pt x="77213" y="113936"/>
                </a:cubicBezTo>
                <a:cubicBezTo>
                  <a:pt x="80459" y="117183"/>
                  <a:pt x="85731" y="117183"/>
                  <a:pt x="88978" y="113936"/>
                </a:cubicBezTo>
                <a:lnTo>
                  <a:pt x="130532" y="72382"/>
                </a:ln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97" name="Text 95"/>
          <p:cNvSpPr/>
          <p:nvPr/>
        </p:nvSpPr>
        <p:spPr>
          <a:xfrm>
            <a:off x="641889" y="6653346"/>
            <a:ext cx="11184434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Retorno de inversión:</a:t>
            </a:r>
            <a:pPr>
              <a:lnSpc>
                <a:spcPct val="130000"/>
              </a:lnSpc>
            </a:pPr>
            <a:r>
              <a:rPr lang="en-US" sz="1047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 proyecto transforma análisis aislado en sistema operativo continuo, generando valor cada vez que se toma una decisión basada en datos.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allpaperaccess.com/e8314f31331755b0237808b417e3d320404f2f9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238" r="238" t="0" b="0"/>
          <a:stretch/>
        </p:blipFill>
        <p:spPr>
          <a:xfrm>
            <a:off x="0" y="0"/>
            <a:ext cx="12192000" cy="765641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656410"/>
          </a:xfrm>
          <a:custGeom>
            <a:avLst/>
            <a:gdLst/>
            <a:ahLst/>
            <a:cxnLst/>
            <a:rect l="l" t="t" r="r" b="b"/>
            <a:pathLst>
              <a:path w="12192000" h="7656410">
                <a:moveTo>
                  <a:pt x="0" y="0"/>
                </a:moveTo>
                <a:lnTo>
                  <a:pt x="12192000" y="0"/>
                </a:lnTo>
                <a:lnTo>
                  <a:pt x="12192000" y="7656410"/>
                </a:lnTo>
                <a:lnTo>
                  <a:pt x="0" y="765641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1A1A1A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32887" y="399359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66579" y="0"/>
                </a:moveTo>
                <a:lnTo>
                  <a:pt x="332886" y="0"/>
                </a:lnTo>
                <a:cubicBezTo>
                  <a:pt x="369632" y="0"/>
                  <a:pt x="399465" y="29833"/>
                  <a:pt x="399465" y="66579"/>
                </a:cubicBezTo>
                <a:lnTo>
                  <a:pt x="399465" y="332886"/>
                </a:lnTo>
                <a:cubicBezTo>
                  <a:pt x="399465" y="369632"/>
                  <a:pt x="369632" y="399465"/>
                  <a:pt x="332886" y="399465"/>
                </a:cubicBezTo>
                <a:lnTo>
                  <a:pt x="66579" y="399465"/>
                </a:lnTo>
                <a:cubicBezTo>
                  <a:pt x="29833" y="399465"/>
                  <a:pt x="0" y="369632"/>
                  <a:pt x="0" y="33288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5" name="Shape 2"/>
          <p:cNvSpPr/>
          <p:nvPr/>
        </p:nvSpPr>
        <p:spPr>
          <a:xfrm>
            <a:off x="459801" y="515870"/>
            <a:ext cx="145638" cy="166444"/>
          </a:xfrm>
          <a:custGeom>
            <a:avLst/>
            <a:gdLst/>
            <a:ahLst/>
            <a:cxnLst/>
            <a:rect l="l" t="t" r="r" b="b"/>
            <a:pathLst>
              <a:path w="145638" h="166444">
                <a:moveTo>
                  <a:pt x="10403" y="0"/>
                </a:moveTo>
                <a:cubicBezTo>
                  <a:pt x="16157" y="0"/>
                  <a:pt x="20805" y="4649"/>
                  <a:pt x="20805" y="10403"/>
                </a:cubicBezTo>
                <a:lnTo>
                  <a:pt x="20805" y="15604"/>
                </a:lnTo>
                <a:lnTo>
                  <a:pt x="43236" y="10013"/>
                </a:lnTo>
                <a:cubicBezTo>
                  <a:pt x="55622" y="6924"/>
                  <a:pt x="68691" y="8355"/>
                  <a:pt x="80134" y="14076"/>
                </a:cubicBezTo>
                <a:cubicBezTo>
                  <a:pt x="95185" y="21618"/>
                  <a:pt x="112902" y="21618"/>
                  <a:pt x="127954" y="14076"/>
                </a:cubicBezTo>
                <a:lnTo>
                  <a:pt x="131074" y="12516"/>
                </a:lnTo>
                <a:cubicBezTo>
                  <a:pt x="137771" y="9135"/>
                  <a:pt x="145638" y="14011"/>
                  <a:pt x="145638" y="21488"/>
                </a:cubicBezTo>
                <a:lnTo>
                  <a:pt x="145638" y="112415"/>
                </a:lnTo>
                <a:cubicBezTo>
                  <a:pt x="145638" y="116738"/>
                  <a:pt x="142940" y="120639"/>
                  <a:pt x="138876" y="122167"/>
                </a:cubicBezTo>
                <a:lnTo>
                  <a:pt x="127596" y="126393"/>
                </a:lnTo>
                <a:cubicBezTo>
                  <a:pt x="112577" y="132017"/>
                  <a:pt x="95868" y="131139"/>
                  <a:pt x="81531" y="123988"/>
                </a:cubicBezTo>
                <a:cubicBezTo>
                  <a:pt x="69211" y="117811"/>
                  <a:pt x="55069" y="116283"/>
                  <a:pt x="41708" y="119631"/>
                </a:cubicBezTo>
                <a:lnTo>
                  <a:pt x="20805" y="124833"/>
                </a:lnTo>
                <a:lnTo>
                  <a:pt x="20805" y="156041"/>
                </a:lnTo>
                <a:cubicBezTo>
                  <a:pt x="20805" y="161795"/>
                  <a:pt x="16157" y="166444"/>
                  <a:pt x="10403" y="166444"/>
                </a:cubicBezTo>
                <a:cubicBezTo>
                  <a:pt x="4649" y="166444"/>
                  <a:pt x="0" y="161795"/>
                  <a:pt x="0" y="156041"/>
                </a:cubicBezTo>
                <a:lnTo>
                  <a:pt x="0" y="10403"/>
                </a:lnTo>
                <a:cubicBezTo>
                  <a:pt x="0" y="4649"/>
                  <a:pt x="4649" y="0"/>
                  <a:pt x="10403" y="0"/>
                </a:cubicBezTo>
                <a:close/>
                <a:moveTo>
                  <a:pt x="20805" y="60823"/>
                </a:moveTo>
                <a:lnTo>
                  <a:pt x="41611" y="56305"/>
                </a:lnTo>
                <a:lnTo>
                  <a:pt x="41611" y="77598"/>
                </a:lnTo>
                <a:lnTo>
                  <a:pt x="20805" y="82117"/>
                </a:lnTo>
                <a:lnTo>
                  <a:pt x="20805" y="103410"/>
                </a:lnTo>
                <a:lnTo>
                  <a:pt x="36670" y="99444"/>
                </a:lnTo>
                <a:cubicBezTo>
                  <a:pt x="38328" y="99021"/>
                  <a:pt x="39953" y="98663"/>
                  <a:pt x="41611" y="98371"/>
                </a:cubicBezTo>
                <a:lnTo>
                  <a:pt x="41611" y="77598"/>
                </a:lnTo>
                <a:lnTo>
                  <a:pt x="54257" y="74867"/>
                </a:lnTo>
                <a:cubicBezTo>
                  <a:pt x="56955" y="74282"/>
                  <a:pt x="59686" y="74054"/>
                  <a:pt x="62416" y="74184"/>
                </a:cubicBezTo>
                <a:lnTo>
                  <a:pt x="62416" y="53379"/>
                </a:lnTo>
                <a:cubicBezTo>
                  <a:pt x="66838" y="53509"/>
                  <a:pt x="71259" y="54224"/>
                  <a:pt x="75550" y="55460"/>
                </a:cubicBezTo>
                <a:lnTo>
                  <a:pt x="83222" y="57703"/>
                </a:lnTo>
                <a:lnTo>
                  <a:pt x="83222" y="79386"/>
                </a:lnTo>
                <a:lnTo>
                  <a:pt x="69666" y="75387"/>
                </a:lnTo>
                <a:cubicBezTo>
                  <a:pt x="67293" y="74705"/>
                  <a:pt x="64855" y="74282"/>
                  <a:pt x="62416" y="74152"/>
                </a:cubicBezTo>
                <a:lnTo>
                  <a:pt x="62416" y="97363"/>
                </a:lnTo>
                <a:cubicBezTo>
                  <a:pt x="69503" y="97981"/>
                  <a:pt x="76493" y="99541"/>
                  <a:pt x="83222" y="102044"/>
                </a:cubicBezTo>
                <a:lnTo>
                  <a:pt x="83222" y="79353"/>
                </a:lnTo>
                <a:lnTo>
                  <a:pt x="90601" y="81531"/>
                </a:lnTo>
                <a:cubicBezTo>
                  <a:pt x="94990" y="82832"/>
                  <a:pt x="99476" y="83612"/>
                  <a:pt x="104027" y="83937"/>
                </a:cubicBezTo>
                <a:lnTo>
                  <a:pt x="104027" y="63067"/>
                </a:lnTo>
                <a:cubicBezTo>
                  <a:pt x="101492" y="62806"/>
                  <a:pt x="98956" y="62319"/>
                  <a:pt x="96485" y="61604"/>
                </a:cubicBezTo>
                <a:lnTo>
                  <a:pt x="83222" y="57703"/>
                </a:lnTo>
                <a:lnTo>
                  <a:pt x="83222" y="37547"/>
                </a:lnTo>
                <a:cubicBezTo>
                  <a:pt x="78996" y="36312"/>
                  <a:pt x="74835" y="34687"/>
                  <a:pt x="70804" y="32671"/>
                </a:cubicBezTo>
                <a:cubicBezTo>
                  <a:pt x="68138" y="31338"/>
                  <a:pt x="65310" y="30395"/>
                  <a:pt x="62416" y="29810"/>
                </a:cubicBezTo>
                <a:lnTo>
                  <a:pt x="62416" y="53347"/>
                </a:lnTo>
                <a:cubicBezTo>
                  <a:pt x="58190" y="53216"/>
                  <a:pt x="53964" y="53607"/>
                  <a:pt x="49836" y="54517"/>
                </a:cubicBezTo>
                <a:lnTo>
                  <a:pt x="41611" y="56305"/>
                </a:lnTo>
                <a:lnTo>
                  <a:pt x="41611" y="31858"/>
                </a:lnTo>
                <a:lnTo>
                  <a:pt x="20805" y="37060"/>
                </a:lnTo>
                <a:lnTo>
                  <a:pt x="20805" y="60823"/>
                </a:lnTo>
                <a:close/>
                <a:moveTo>
                  <a:pt x="104027" y="109131"/>
                </a:moveTo>
                <a:cubicBezTo>
                  <a:pt x="109489" y="109619"/>
                  <a:pt x="115048" y="108904"/>
                  <a:pt x="120282" y="106921"/>
                </a:cubicBezTo>
                <a:lnTo>
                  <a:pt x="124833" y="105230"/>
                </a:lnTo>
                <a:lnTo>
                  <a:pt x="124833" y="81922"/>
                </a:lnTo>
                <a:lnTo>
                  <a:pt x="122265" y="82507"/>
                </a:lnTo>
                <a:cubicBezTo>
                  <a:pt x="116283" y="83905"/>
                  <a:pt x="110139" y="84360"/>
                  <a:pt x="104027" y="83970"/>
                </a:cubicBezTo>
                <a:lnTo>
                  <a:pt x="104027" y="109131"/>
                </a:lnTo>
                <a:close/>
                <a:moveTo>
                  <a:pt x="124833" y="60563"/>
                </a:moveTo>
                <a:lnTo>
                  <a:pt x="124833" y="37547"/>
                </a:lnTo>
                <a:cubicBezTo>
                  <a:pt x="118038" y="39530"/>
                  <a:pt x="111049" y="40506"/>
                  <a:pt x="104027" y="40506"/>
                </a:cubicBezTo>
                <a:lnTo>
                  <a:pt x="104027" y="63067"/>
                </a:lnTo>
                <a:cubicBezTo>
                  <a:pt x="108546" y="63522"/>
                  <a:pt x="113130" y="63229"/>
                  <a:pt x="117583" y="62221"/>
                </a:cubicBezTo>
                <a:lnTo>
                  <a:pt x="124833" y="60531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832218" y="382820"/>
            <a:ext cx="3270618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spc="46" kern="0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Cierre del Proyecto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218" y="549264"/>
            <a:ext cx="3312229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Recomendaciones y Próximos Pasos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332215" y="339545"/>
            <a:ext cx="520969" cy="520969"/>
          </a:xfrm>
          <a:custGeom>
            <a:avLst/>
            <a:gdLst/>
            <a:ahLst/>
            <a:cxnLst/>
            <a:rect l="l" t="t" r="r" b="b"/>
            <a:pathLst>
              <a:path w="520969" h="520969">
                <a:moveTo>
                  <a:pt x="260484" y="0"/>
                </a:moveTo>
                <a:lnTo>
                  <a:pt x="260484" y="0"/>
                </a:lnTo>
                <a:cubicBezTo>
                  <a:pt x="404250" y="0"/>
                  <a:pt x="520969" y="116719"/>
                  <a:pt x="520969" y="260484"/>
                </a:cubicBezTo>
                <a:lnTo>
                  <a:pt x="520969" y="260484"/>
                </a:lnTo>
                <a:cubicBezTo>
                  <a:pt x="520969" y="404250"/>
                  <a:pt x="404250" y="520969"/>
                  <a:pt x="260484" y="520969"/>
                </a:cubicBezTo>
                <a:lnTo>
                  <a:pt x="260484" y="520969"/>
                </a:lnTo>
                <a:cubicBezTo>
                  <a:pt x="116719" y="520969"/>
                  <a:pt x="0" y="404250"/>
                  <a:pt x="0" y="260484"/>
                </a:cubicBezTo>
                <a:lnTo>
                  <a:pt x="0" y="260484"/>
                </a:lnTo>
                <a:cubicBezTo>
                  <a:pt x="0" y="116719"/>
                  <a:pt x="116719" y="0"/>
                  <a:pt x="260484" y="0"/>
                </a:cubicBezTo>
                <a:close/>
              </a:path>
            </a:pathLst>
          </a:custGeom>
          <a:solidFill>
            <a:srgbClr val="F7C873">
              <a:alpha val="20000"/>
            </a:srgbClr>
          </a:solidFill>
          <a:ln w="20320">
            <a:solidFill>
              <a:srgbClr val="F7C8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504484" y="499331"/>
            <a:ext cx="174766" cy="199732"/>
          </a:xfrm>
          <a:custGeom>
            <a:avLst/>
            <a:gdLst/>
            <a:ahLst/>
            <a:cxnLst/>
            <a:rect l="l" t="t" r="r" b="b"/>
            <a:pathLst>
              <a:path w="174766" h="199732">
                <a:moveTo>
                  <a:pt x="169617" y="27346"/>
                </a:moveTo>
                <a:cubicBezTo>
                  <a:pt x="175195" y="31403"/>
                  <a:pt x="176443" y="39205"/>
                  <a:pt x="172386" y="44784"/>
                </a:cubicBezTo>
                <a:lnTo>
                  <a:pt x="72520" y="182100"/>
                </a:lnTo>
                <a:cubicBezTo>
                  <a:pt x="70374" y="185065"/>
                  <a:pt x="67059" y="186898"/>
                  <a:pt x="63392" y="187210"/>
                </a:cubicBezTo>
                <a:cubicBezTo>
                  <a:pt x="59725" y="187522"/>
                  <a:pt x="56175" y="186157"/>
                  <a:pt x="53600" y="183582"/>
                </a:cubicBezTo>
                <a:lnTo>
                  <a:pt x="3667" y="133649"/>
                </a:lnTo>
                <a:cubicBezTo>
                  <a:pt x="-1209" y="128773"/>
                  <a:pt x="-1209" y="120854"/>
                  <a:pt x="3667" y="115977"/>
                </a:cubicBezTo>
                <a:cubicBezTo>
                  <a:pt x="8543" y="111101"/>
                  <a:pt x="16462" y="111101"/>
                  <a:pt x="21339" y="115977"/>
                </a:cubicBezTo>
                <a:lnTo>
                  <a:pt x="60934" y="155573"/>
                </a:lnTo>
                <a:lnTo>
                  <a:pt x="152218" y="30077"/>
                </a:lnTo>
                <a:cubicBezTo>
                  <a:pt x="156275" y="24498"/>
                  <a:pt x="164077" y="23250"/>
                  <a:pt x="169656" y="27307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0" name="Shape 7"/>
          <p:cNvSpPr/>
          <p:nvPr/>
        </p:nvSpPr>
        <p:spPr>
          <a:xfrm>
            <a:off x="349532" y="1065240"/>
            <a:ext cx="5642441" cy="1564571"/>
          </a:xfrm>
          <a:custGeom>
            <a:avLst/>
            <a:gdLst/>
            <a:ahLst/>
            <a:cxnLst/>
            <a:rect l="l" t="t" r="r" b="b"/>
            <a:pathLst>
              <a:path w="5642441" h="1564571">
                <a:moveTo>
                  <a:pt x="33289" y="0"/>
                </a:moveTo>
                <a:lnTo>
                  <a:pt x="5575868" y="0"/>
                </a:lnTo>
                <a:cubicBezTo>
                  <a:pt x="5612635" y="0"/>
                  <a:pt x="5642441" y="29806"/>
                  <a:pt x="5642441" y="66572"/>
                </a:cubicBezTo>
                <a:lnTo>
                  <a:pt x="5642441" y="1497998"/>
                </a:lnTo>
                <a:cubicBezTo>
                  <a:pt x="5642441" y="1534765"/>
                  <a:pt x="5612635" y="1564571"/>
                  <a:pt x="5575868" y="1564571"/>
                </a:cubicBezTo>
                <a:lnTo>
                  <a:pt x="33289" y="1564571"/>
                </a:lnTo>
                <a:cubicBezTo>
                  <a:pt x="14904" y="1564571"/>
                  <a:pt x="0" y="1549667"/>
                  <a:pt x="0" y="1531282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49532" y="1065240"/>
            <a:ext cx="33289" cy="1564571"/>
          </a:xfrm>
          <a:custGeom>
            <a:avLst/>
            <a:gdLst/>
            <a:ahLst/>
            <a:cxnLst/>
            <a:rect l="l" t="t" r="r" b="b"/>
            <a:pathLst>
              <a:path w="33289" h="1564571">
                <a:moveTo>
                  <a:pt x="33289" y="0"/>
                </a:moveTo>
                <a:lnTo>
                  <a:pt x="33289" y="0"/>
                </a:lnTo>
                <a:lnTo>
                  <a:pt x="33289" y="1564571"/>
                </a:lnTo>
                <a:lnTo>
                  <a:pt x="33289" y="1564571"/>
                </a:lnTo>
                <a:cubicBezTo>
                  <a:pt x="14904" y="1564571"/>
                  <a:pt x="0" y="1549667"/>
                  <a:pt x="0" y="1531282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2" name="Shape 9"/>
          <p:cNvSpPr/>
          <p:nvPr/>
        </p:nvSpPr>
        <p:spPr>
          <a:xfrm>
            <a:off x="499331" y="1198395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3" name="Shape 10"/>
          <p:cNvSpPr/>
          <p:nvPr/>
        </p:nvSpPr>
        <p:spPr>
          <a:xfrm>
            <a:off x="611681" y="1289939"/>
            <a:ext cx="112349" cy="149799"/>
          </a:xfrm>
          <a:custGeom>
            <a:avLst/>
            <a:gdLst/>
            <a:ahLst/>
            <a:cxnLst/>
            <a:rect l="l" t="t" r="r" b="b"/>
            <a:pathLst>
              <a:path w="112349" h="149799">
                <a:moveTo>
                  <a:pt x="85696" y="112349"/>
                </a:moveTo>
                <a:cubicBezTo>
                  <a:pt x="87832" y="105825"/>
                  <a:pt x="92103" y="99915"/>
                  <a:pt x="96931" y="94824"/>
                </a:cubicBezTo>
                <a:cubicBezTo>
                  <a:pt x="106498" y="84759"/>
                  <a:pt x="112349" y="71155"/>
                  <a:pt x="112349" y="56175"/>
                </a:cubicBezTo>
                <a:cubicBezTo>
                  <a:pt x="112349" y="25162"/>
                  <a:pt x="87188" y="0"/>
                  <a:pt x="56175" y="0"/>
                </a:cubicBezTo>
                <a:cubicBezTo>
                  <a:pt x="25162" y="0"/>
                  <a:pt x="0" y="25162"/>
                  <a:pt x="0" y="56175"/>
                </a:cubicBezTo>
                <a:cubicBezTo>
                  <a:pt x="0" y="71155"/>
                  <a:pt x="5852" y="84759"/>
                  <a:pt x="15419" y="94824"/>
                </a:cubicBezTo>
                <a:cubicBezTo>
                  <a:pt x="20246" y="99915"/>
                  <a:pt x="24547" y="105825"/>
                  <a:pt x="26654" y="112349"/>
                </a:cubicBezTo>
                <a:lnTo>
                  <a:pt x="85666" y="112349"/>
                </a:lnTo>
                <a:close/>
                <a:moveTo>
                  <a:pt x="84262" y="126393"/>
                </a:moveTo>
                <a:lnTo>
                  <a:pt x="28087" y="126393"/>
                </a:lnTo>
                <a:lnTo>
                  <a:pt x="28087" y="131074"/>
                </a:lnTo>
                <a:cubicBezTo>
                  <a:pt x="28087" y="144006"/>
                  <a:pt x="38562" y="154481"/>
                  <a:pt x="51494" y="154481"/>
                </a:cubicBezTo>
                <a:lnTo>
                  <a:pt x="60856" y="154481"/>
                </a:lnTo>
                <a:cubicBezTo>
                  <a:pt x="73788" y="154481"/>
                  <a:pt x="84262" y="144006"/>
                  <a:pt x="84262" y="131074"/>
                </a:cubicBezTo>
                <a:lnTo>
                  <a:pt x="84262" y="126393"/>
                </a:lnTo>
                <a:close/>
                <a:moveTo>
                  <a:pt x="53834" y="32769"/>
                </a:moveTo>
                <a:cubicBezTo>
                  <a:pt x="42190" y="32769"/>
                  <a:pt x="32769" y="42190"/>
                  <a:pt x="32769" y="53834"/>
                </a:cubicBezTo>
                <a:cubicBezTo>
                  <a:pt x="32769" y="57725"/>
                  <a:pt x="29638" y="60856"/>
                  <a:pt x="25747" y="60856"/>
                </a:cubicBezTo>
                <a:cubicBezTo>
                  <a:pt x="21855" y="60856"/>
                  <a:pt x="18725" y="57725"/>
                  <a:pt x="18725" y="53834"/>
                </a:cubicBezTo>
                <a:cubicBezTo>
                  <a:pt x="18725" y="34436"/>
                  <a:pt x="34436" y="18725"/>
                  <a:pt x="53834" y="18725"/>
                </a:cubicBezTo>
                <a:cubicBezTo>
                  <a:pt x="57725" y="18725"/>
                  <a:pt x="60856" y="21855"/>
                  <a:pt x="60856" y="25747"/>
                </a:cubicBezTo>
                <a:cubicBezTo>
                  <a:pt x="60856" y="29638"/>
                  <a:pt x="57725" y="32769"/>
                  <a:pt x="53834" y="32769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932085" y="1198395"/>
            <a:ext cx="1939069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Recomendación Principal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9331" y="1631148"/>
            <a:ext cx="5426064" cy="865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Este trabajo demuestra cómo un </a:t>
            </a:r>
            <a:pPr>
              <a:lnSpc>
                <a:spcPct val="14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exploratorio bien planteado puede evolucionar hacia un sistema de inteligencia operativa</a:t>
            </a:r>
            <a:pPr>
              <a:lnSpc>
                <a:spcPct val="14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El enfoque utilizado es ideal para contextos donde la previsibilidad temporal es clave y las decisiones dependen más de la simulación de escenarios que de predicciones puntuales aisladas.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9532" y="2762965"/>
            <a:ext cx="5642441" cy="1697726"/>
          </a:xfrm>
          <a:custGeom>
            <a:avLst/>
            <a:gdLst/>
            <a:ahLst/>
            <a:cxnLst/>
            <a:rect l="l" t="t" r="r" b="b"/>
            <a:pathLst>
              <a:path w="5642441" h="1697726">
                <a:moveTo>
                  <a:pt x="33289" y="0"/>
                </a:moveTo>
                <a:lnTo>
                  <a:pt x="5575856" y="0"/>
                </a:lnTo>
                <a:cubicBezTo>
                  <a:pt x="5612630" y="0"/>
                  <a:pt x="5642441" y="29811"/>
                  <a:pt x="5642441" y="66585"/>
                </a:cubicBezTo>
                <a:lnTo>
                  <a:pt x="5642441" y="1631141"/>
                </a:lnTo>
                <a:cubicBezTo>
                  <a:pt x="5642441" y="1667915"/>
                  <a:pt x="5612630" y="1697726"/>
                  <a:pt x="5575856" y="1697726"/>
                </a:cubicBezTo>
                <a:lnTo>
                  <a:pt x="33289" y="1697726"/>
                </a:lnTo>
                <a:cubicBezTo>
                  <a:pt x="14904" y="1697726"/>
                  <a:pt x="0" y="1682822"/>
                  <a:pt x="0" y="1664437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349532" y="2762965"/>
            <a:ext cx="33289" cy="1697726"/>
          </a:xfrm>
          <a:custGeom>
            <a:avLst/>
            <a:gdLst/>
            <a:ahLst/>
            <a:cxnLst/>
            <a:rect l="l" t="t" r="r" b="b"/>
            <a:pathLst>
              <a:path w="33289" h="1697726">
                <a:moveTo>
                  <a:pt x="33289" y="0"/>
                </a:moveTo>
                <a:lnTo>
                  <a:pt x="33289" y="0"/>
                </a:lnTo>
                <a:lnTo>
                  <a:pt x="33289" y="1697726"/>
                </a:lnTo>
                <a:lnTo>
                  <a:pt x="33289" y="1697726"/>
                </a:lnTo>
                <a:cubicBezTo>
                  <a:pt x="14904" y="1697726"/>
                  <a:pt x="0" y="1682822"/>
                  <a:pt x="0" y="1664437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8" name="Shape 15"/>
          <p:cNvSpPr/>
          <p:nvPr/>
        </p:nvSpPr>
        <p:spPr>
          <a:xfrm>
            <a:off x="499331" y="2896120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19" name="Shape 16"/>
          <p:cNvSpPr/>
          <p:nvPr/>
        </p:nvSpPr>
        <p:spPr>
          <a:xfrm>
            <a:off x="592956" y="2987664"/>
            <a:ext cx="149799" cy="149799"/>
          </a:xfrm>
          <a:custGeom>
            <a:avLst/>
            <a:gdLst/>
            <a:ahLst/>
            <a:cxnLst/>
            <a:rect l="l" t="t" r="r" b="b"/>
            <a:pathLst>
              <a:path w="149799" h="149799">
                <a:moveTo>
                  <a:pt x="98306" y="102987"/>
                </a:moveTo>
                <a:cubicBezTo>
                  <a:pt x="126744" y="102987"/>
                  <a:pt x="149799" y="79932"/>
                  <a:pt x="149799" y="51494"/>
                </a:cubicBezTo>
                <a:cubicBezTo>
                  <a:pt x="149799" y="23055"/>
                  <a:pt x="126744" y="0"/>
                  <a:pt x="98306" y="0"/>
                </a:cubicBezTo>
                <a:cubicBezTo>
                  <a:pt x="69867" y="0"/>
                  <a:pt x="46812" y="23055"/>
                  <a:pt x="46812" y="51494"/>
                </a:cubicBezTo>
                <a:cubicBezTo>
                  <a:pt x="46812" y="56965"/>
                  <a:pt x="47661" y="62260"/>
                  <a:pt x="49241" y="67205"/>
                </a:cubicBezTo>
                <a:lnTo>
                  <a:pt x="2048" y="114398"/>
                </a:lnTo>
                <a:cubicBezTo>
                  <a:pt x="731" y="115714"/>
                  <a:pt x="0" y="117499"/>
                  <a:pt x="0" y="119371"/>
                </a:cubicBezTo>
                <a:lnTo>
                  <a:pt x="0" y="142777"/>
                </a:lnTo>
                <a:cubicBezTo>
                  <a:pt x="0" y="146669"/>
                  <a:pt x="3131" y="149799"/>
                  <a:pt x="7022" y="149799"/>
                </a:cubicBezTo>
                <a:lnTo>
                  <a:pt x="30428" y="149799"/>
                </a:lnTo>
                <a:cubicBezTo>
                  <a:pt x="34319" y="149799"/>
                  <a:pt x="37450" y="146669"/>
                  <a:pt x="37450" y="142777"/>
                </a:cubicBezTo>
                <a:lnTo>
                  <a:pt x="37450" y="131074"/>
                </a:lnTo>
                <a:lnTo>
                  <a:pt x="49153" y="131074"/>
                </a:lnTo>
                <a:cubicBezTo>
                  <a:pt x="53044" y="131074"/>
                  <a:pt x="56175" y="127944"/>
                  <a:pt x="56175" y="124053"/>
                </a:cubicBezTo>
                <a:lnTo>
                  <a:pt x="56175" y="112349"/>
                </a:lnTo>
                <a:lnTo>
                  <a:pt x="67878" y="112349"/>
                </a:lnTo>
                <a:cubicBezTo>
                  <a:pt x="69750" y="112349"/>
                  <a:pt x="71535" y="111618"/>
                  <a:pt x="72852" y="110301"/>
                </a:cubicBezTo>
                <a:lnTo>
                  <a:pt x="82594" y="100559"/>
                </a:lnTo>
                <a:cubicBezTo>
                  <a:pt x="87539" y="102139"/>
                  <a:pt x="92835" y="102987"/>
                  <a:pt x="98306" y="102987"/>
                </a:cubicBezTo>
                <a:close/>
                <a:moveTo>
                  <a:pt x="110009" y="28087"/>
                </a:moveTo>
                <a:cubicBezTo>
                  <a:pt x="116468" y="28087"/>
                  <a:pt x="121712" y="33331"/>
                  <a:pt x="121712" y="39790"/>
                </a:cubicBezTo>
                <a:cubicBezTo>
                  <a:pt x="121712" y="46250"/>
                  <a:pt x="116468" y="51494"/>
                  <a:pt x="110009" y="51494"/>
                </a:cubicBezTo>
                <a:cubicBezTo>
                  <a:pt x="103550" y="51494"/>
                  <a:pt x="98306" y="46250"/>
                  <a:pt x="98306" y="39790"/>
                </a:cubicBezTo>
                <a:cubicBezTo>
                  <a:pt x="98306" y="33331"/>
                  <a:pt x="103550" y="28087"/>
                  <a:pt x="110009" y="2808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932085" y="2896120"/>
            <a:ext cx="169772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Diferenciadores Clave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9331" y="3395451"/>
            <a:ext cx="66577" cy="66577"/>
          </a:xfrm>
          <a:custGeom>
            <a:avLst/>
            <a:gdLst/>
            <a:ahLst/>
            <a:cxnLst/>
            <a:rect l="l" t="t" r="r" b="b"/>
            <a:pathLst>
              <a:path w="66577" h="66577">
                <a:moveTo>
                  <a:pt x="33289" y="0"/>
                </a:moveTo>
                <a:lnTo>
                  <a:pt x="33289" y="0"/>
                </a:lnTo>
                <a:cubicBezTo>
                  <a:pt x="51674" y="0"/>
                  <a:pt x="66577" y="14904"/>
                  <a:pt x="66577" y="33289"/>
                </a:cubicBezTo>
                <a:lnTo>
                  <a:pt x="66577" y="33289"/>
                </a:lnTo>
                <a:cubicBezTo>
                  <a:pt x="66577" y="51674"/>
                  <a:pt x="51674" y="66577"/>
                  <a:pt x="33289" y="66577"/>
                </a:cubicBezTo>
                <a:lnTo>
                  <a:pt x="33289" y="66577"/>
                </a:lnTo>
                <a:cubicBezTo>
                  <a:pt x="14904" y="66577"/>
                  <a:pt x="0" y="51674"/>
                  <a:pt x="0" y="33289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2" name="Text 19"/>
          <p:cNvSpPr/>
          <p:nvPr/>
        </p:nvSpPr>
        <p:spPr>
          <a:xfrm>
            <a:off x="632486" y="3328874"/>
            <a:ext cx="2704710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Simulación interactiva</a:t>
            </a:r>
            <a:pPr>
              <a:lnSpc>
                <a:spcPct val="13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vs. predicciones rígidas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99331" y="3661761"/>
            <a:ext cx="66577" cy="66577"/>
          </a:xfrm>
          <a:custGeom>
            <a:avLst/>
            <a:gdLst/>
            <a:ahLst/>
            <a:cxnLst/>
            <a:rect l="l" t="t" r="r" b="b"/>
            <a:pathLst>
              <a:path w="66577" h="66577">
                <a:moveTo>
                  <a:pt x="33289" y="0"/>
                </a:moveTo>
                <a:lnTo>
                  <a:pt x="33289" y="0"/>
                </a:lnTo>
                <a:cubicBezTo>
                  <a:pt x="51674" y="0"/>
                  <a:pt x="66577" y="14904"/>
                  <a:pt x="66577" y="33289"/>
                </a:cubicBezTo>
                <a:lnTo>
                  <a:pt x="66577" y="33289"/>
                </a:lnTo>
                <a:cubicBezTo>
                  <a:pt x="66577" y="51674"/>
                  <a:pt x="51674" y="66577"/>
                  <a:pt x="33289" y="66577"/>
                </a:cubicBezTo>
                <a:lnTo>
                  <a:pt x="33289" y="66577"/>
                </a:lnTo>
                <a:cubicBezTo>
                  <a:pt x="14904" y="66577"/>
                  <a:pt x="0" y="51674"/>
                  <a:pt x="0" y="33289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4" name="Text 21"/>
          <p:cNvSpPr/>
          <p:nvPr/>
        </p:nvSpPr>
        <p:spPr>
          <a:xfrm>
            <a:off x="632486" y="3595184"/>
            <a:ext cx="3004309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Bandas de confianza</a:t>
            </a:r>
            <a:pPr>
              <a:lnSpc>
                <a:spcPct val="13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comunican incertidumbre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99331" y="3928071"/>
            <a:ext cx="66577" cy="66577"/>
          </a:xfrm>
          <a:custGeom>
            <a:avLst/>
            <a:gdLst/>
            <a:ahLst/>
            <a:cxnLst/>
            <a:rect l="l" t="t" r="r" b="b"/>
            <a:pathLst>
              <a:path w="66577" h="66577">
                <a:moveTo>
                  <a:pt x="33289" y="0"/>
                </a:moveTo>
                <a:lnTo>
                  <a:pt x="33289" y="0"/>
                </a:lnTo>
                <a:cubicBezTo>
                  <a:pt x="51674" y="0"/>
                  <a:pt x="66577" y="14904"/>
                  <a:pt x="66577" y="33289"/>
                </a:cubicBezTo>
                <a:lnTo>
                  <a:pt x="66577" y="33289"/>
                </a:lnTo>
                <a:cubicBezTo>
                  <a:pt x="66577" y="51674"/>
                  <a:pt x="51674" y="66577"/>
                  <a:pt x="33289" y="66577"/>
                </a:cubicBezTo>
                <a:lnTo>
                  <a:pt x="33289" y="66577"/>
                </a:lnTo>
                <a:cubicBezTo>
                  <a:pt x="14904" y="66577"/>
                  <a:pt x="0" y="51674"/>
                  <a:pt x="0" y="33289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6" name="Text 23"/>
          <p:cNvSpPr/>
          <p:nvPr/>
        </p:nvSpPr>
        <p:spPr>
          <a:xfrm>
            <a:off x="632486" y="3861494"/>
            <a:ext cx="259652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 accesible</a:t>
            </a:r>
            <a:pPr>
              <a:lnSpc>
                <a:spcPct val="13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perfiles no técnicos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99331" y="4194381"/>
            <a:ext cx="66577" cy="66577"/>
          </a:xfrm>
          <a:custGeom>
            <a:avLst/>
            <a:gdLst/>
            <a:ahLst/>
            <a:cxnLst/>
            <a:rect l="l" t="t" r="r" b="b"/>
            <a:pathLst>
              <a:path w="66577" h="66577">
                <a:moveTo>
                  <a:pt x="33289" y="0"/>
                </a:moveTo>
                <a:lnTo>
                  <a:pt x="33289" y="0"/>
                </a:lnTo>
                <a:cubicBezTo>
                  <a:pt x="51674" y="0"/>
                  <a:pt x="66577" y="14904"/>
                  <a:pt x="66577" y="33289"/>
                </a:cubicBezTo>
                <a:lnTo>
                  <a:pt x="66577" y="33289"/>
                </a:lnTo>
                <a:cubicBezTo>
                  <a:pt x="66577" y="51674"/>
                  <a:pt x="51674" y="66577"/>
                  <a:pt x="33289" y="66577"/>
                </a:cubicBezTo>
                <a:lnTo>
                  <a:pt x="33289" y="66577"/>
                </a:lnTo>
                <a:cubicBezTo>
                  <a:pt x="14904" y="66577"/>
                  <a:pt x="0" y="51674"/>
                  <a:pt x="0" y="33289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28" name="Text 25"/>
          <p:cNvSpPr/>
          <p:nvPr/>
        </p:nvSpPr>
        <p:spPr>
          <a:xfrm>
            <a:off x="632486" y="4127803"/>
            <a:ext cx="2896120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completo</a:t>
            </a:r>
            <a:pPr>
              <a:lnSpc>
                <a:spcPct val="13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desde datos hasta aplicación web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11990" y="1065240"/>
            <a:ext cx="5642441" cy="3295585"/>
          </a:xfrm>
          <a:custGeom>
            <a:avLst/>
            <a:gdLst/>
            <a:ahLst/>
            <a:cxnLst/>
            <a:rect l="l" t="t" r="r" b="b"/>
            <a:pathLst>
              <a:path w="5642441" h="3295585">
                <a:moveTo>
                  <a:pt x="33289" y="0"/>
                </a:moveTo>
                <a:lnTo>
                  <a:pt x="5575870" y="0"/>
                </a:lnTo>
                <a:cubicBezTo>
                  <a:pt x="5612636" y="0"/>
                  <a:pt x="5642441" y="29805"/>
                  <a:pt x="5642441" y="66571"/>
                </a:cubicBezTo>
                <a:lnTo>
                  <a:pt x="5642441" y="3229014"/>
                </a:lnTo>
                <a:cubicBezTo>
                  <a:pt x="5642441" y="3265780"/>
                  <a:pt x="5612636" y="3295585"/>
                  <a:pt x="5575870" y="3295585"/>
                </a:cubicBezTo>
                <a:lnTo>
                  <a:pt x="33289" y="3295585"/>
                </a:lnTo>
                <a:cubicBezTo>
                  <a:pt x="14904" y="3295585"/>
                  <a:pt x="0" y="3280681"/>
                  <a:pt x="0" y="32622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4A4A4A">
              <a:alpha val="4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211990" y="1065240"/>
            <a:ext cx="33289" cy="3295585"/>
          </a:xfrm>
          <a:custGeom>
            <a:avLst/>
            <a:gdLst/>
            <a:ahLst/>
            <a:cxnLst/>
            <a:rect l="l" t="t" r="r" b="b"/>
            <a:pathLst>
              <a:path w="33289" h="3295585">
                <a:moveTo>
                  <a:pt x="33289" y="0"/>
                </a:moveTo>
                <a:lnTo>
                  <a:pt x="33289" y="0"/>
                </a:lnTo>
                <a:lnTo>
                  <a:pt x="33289" y="3295585"/>
                </a:lnTo>
                <a:lnTo>
                  <a:pt x="33289" y="3295585"/>
                </a:lnTo>
                <a:cubicBezTo>
                  <a:pt x="14904" y="3295585"/>
                  <a:pt x="0" y="3280681"/>
                  <a:pt x="0" y="32622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1" name="Shape 28"/>
          <p:cNvSpPr/>
          <p:nvPr/>
        </p:nvSpPr>
        <p:spPr>
          <a:xfrm>
            <a:off x="6361790" y="1198395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32" name="Shape 29"/>
          <p:cNvSpPr/>
          <p:nvPr/>
        </p:nvSpPr>
        <p:spPr>
          <a:xfrm>
            <a:off x="6455414" y="1289939"/>
            <a:ext cx="149799" cy="149799"/>
          </a:xfrm>
          <a:custGeom>
            <a:avLst/>
            <a:gdLst/>
            <a:ahLst/>
            <a:cxnLst/>
            <a:rect l="l" t="t" r="r" b="b"/>
            <a:pathLst>
              <a:path w="149799" h="149799">
                <a:moveTo>
                  <a:pt x="149799" y="28087"/>
                </a:moveTo>
                <a:cubicBezTo>
                  <a:pt x="149799" y="42775"/>
                  <a:pt x="132508" y="64689"/>
                  <a:pt x="125047" y="73437"/>
                </a:cubicBezTo>
                <a:cubicBezTo>
                  <a:pt x="123936" y="74724"/>
                  <a:pt x="122297" y="75221"/>
                  <a:pt x="120805" y="74900"/>
                </a:cubicBezTo>
                <a:lnTo>
                  <a:pt x="93625" y="74900"/>
                </a:lnTo>
                <a:cubicBezTo>
                  <a:pt x="88446" y="74900"/>
                  <a:pt x="84262" y="79084"/>
                  <a:pt x="84262" y="84262"/>
                </a:cubicBezTo>
                <a:cubicBezTo>
                  <a:pt x="84262" y="89441"/>
                  <a:pt x="88446" y="93625"/>
                  <a:pt x="93625" y="93625"/>
                </a:cubicBezTo>
                <a:lnTo>
                  <a:pt x="121712" y="93625"/>
                </a:lnTo>
                <a:cubicBezTo>
                  <a:pt x="137219" y="93625"/>
                  <a:pt x="149799" y="106205"/>
                  <a:pt x="149799" y="121712"/>
                </a:cubicBezTo>
                <a:cubicBezTo>
                  <a:pt x="149799" y="137219"/>
                  <a:pt x="137219" y="149799"/>
                  <a:pt x="121712" y="149799"/>
                </a:cubicBezTo>
                <a:lnTo>
                  <a:pt x="40844" y="149799"/>
                </a:lnTo>
                <a:cubicBezTo>
                  <a:pt x="43389" y="146903"/>
                  <a:pt x="46490" y="143187"/>
                  <a:pt x="49621" y="139032"/>
                </a:cubicBezTo>
                <a:cubicBezTo>
                  <a:pt x="51464" y="136575"/>
                  <a:pt x="53366" y="133883"/>
                  <a:pt x="55180" y="131074"/>
                </a:cubicBezTo>
                <a:lnTo>
                  <a:pt x="121712" y="131074"/>
                </a:lnTo>
                <a:cubicBezTo>
                  <a:pt x="126891" y="131074"/>
                  <a:pt x="131074" y="126891"/>
                  <a:pt x="131074" y="121712"/>
                </a:cubicBezTo>
                <a:cubicBezTo>
                  <a:pt x="131074" y="116533"/>
                  <a:pt x="126891" y="112349"/>
                  <a:pt x="121712" y="112349"/>
                </a:cubicBezTo>
                <a:lnTo>
                  <a:pt x="93625" y="112349"/>
                </a:lnTo>
                <a:cubicBezTo>
                  <a:pt x="78118" y="112349"/>
                  <a:pt x="65537" y="99769"/>
                  <a:pt x="65537" y="84262"/>
                </a:cubicBezTo>
                <a:cubicBezTo>
                  <a:pt x="65537" y="68756"/>
                  <a:pt x="78118" y="56175"/>
                  <a:pt x="93625" y="56175"/>
                </a:cubicBezTo>
                <a:lnTo>
                  <a:pt x="105269" y="56175"/>
                </a:lnTo>
                <a:cubicBezTo>
                  <a:pt x="99125" y="46959"/>
                  <a:pt x="93625" y="36367"/>
                  <a:pt x="93625" y="28087"/>
                </a:cubicBezTo>
                <a:cubicBezTo>
                  <a:pt x="93625" y="12581"/>
                  <a:pt x="106205" y="0"/>
                  <a:pt x="121712" y="0"/>
                </a:cubicBezTo>
                <a:cubicBezTo>
                  <a:pt x="137219" y="0"/>
                  <a:pt x="149799" y="12581"/>
                  <a:pt x="149799" y="28087"/>
                </a:cubicBezTo>
                <a:close/>
                <a:moveTo>
                  <a:pt x="34261" y="143099"/>
                </a:moveTo>
                <a:cubicBezTo>
                  <a:pt x="33149" y="144357"/>
                  <a:pt x="32154" y="145469"/>
                  <a:pt x="31306" y="146405"/>
                </a:cubicBezTo>
                <a:lnTo>
                  <a:pt x="30779" y="146991"/>
                </a:lnTo>
                <a:lnTo>
                  <a:pt x="30721" y="146932"/>
                </a:lnTo>
                <a:cubicBezTo>
                  <a:pt x="28965" y="148278"/>
                  <a:pt x="26449" y="148102"/>
                  <a:pt x="24869" y="146405"/>
                </a:cubicBezTo>
                <a:cubicBezTo>
                  <a:pt x="17496" y="138389"/>
                  <a:pt x="0" y="117762"/>
                  <a:pt x="0" y="102987"/>
                </a:cubicBezTo>
                <a:cubicBezTo>
                  <a:pt x="0" y="87480"/>
                  <a:pt x="12581" y="74900"/>
                  <a:pt x="28087" y="74900"/>
                </a:cubicBezTo>
                <a:cubicBezTo>
                  <a:pt x="43594" y="74900"/>
                  <a:pt x="56175" y="87480"/>
                  <a:pt x="56175" y="102987"/>
                </a:cubicBezTo>
                <a:cubicBezTo>
                  <a:pt x="56175" y="111764"/>
                  <a:pt x="50001" y="122590"/>
                  <a:pt x="43448" y="131630"/>
                </a:cubicBezTo>
                <a:cubicBezTo>
                  <a:pt x="40317" y="135931"/>
                  <a:pt x="37099" y="139822"/>
                  <a:pt x="34436" y="142895"/>
                </a:cubicBezTo>
                <a:lnTo>
                  <a:pt x="34261" y="143099"/>
                </a:lnTo>
                <a:close/>
                <a:moveTo>
                  <a:pt x="37450" y="102987"/>
                </a:moveTo>
                <a:cubicBezTo>
                  <a:pt x="37450" y="97820"/>
                  <a:pt x="33255" y="93625"/>
                  <a:pt x="28087" y="93625"/>
                </a:cubicBezTo>
                <a:cubicBezTo>
                  <a:pt x="22920" y="93625"/>
                  <a:pt x="18725" y="97820"/>
                  <a:pt x="18725" y="102987"/>
                </a:cubicBezTo>
                <a:cubicBezTo>
                  <a:pt x="18725" y="108154"/>
                  <a:pt x="22920" y="112349"/>
                  <a:pt x="28087" y="112349"/>
                </a:cubicBezTo>
                <a:cubicBezTo>
                  <a:pt x="33255" y="112349"/>
                  <a:pt x="37450" y="108154"/>
                  <a:pt x="37450" y="102987"/>
                </a:cubicBezTo>
                <a:close/>
                <a:moveTo>
                  <a:pt x="121712" y="37450"/>
                </a:moveTo>
                <a:cubicBezTo>
                  <a:pt x="126879" y="37450"/>
                  <a:pt x="131074" y="33255"/>
                  <a:pt x="131074" y="28087"/>
                </a:cubicBezTo>
                <a:cubicBezTo>
                  <a:pt x="131074" y="22920"/>
                  <a:pt x="126879" y="18725"/>
                  <a:pt x="121712" y="18725"/>
                </a:cubicBezTo>
                <a:cubicBezTo>
                  <a:pt x="116545" y="18725"/>
                  <a:pt x="112349" y="22920"/>
                  <a:pt x="112349" y="28087"/>
                </a:cubicBezTo>
                <a:cubicBezTo>
                  <a:pt x="112349" y="33255"/>
                  <a:pt x="116545" y="37450"/>
                  <a:pt x="121712" y="3745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3" name="Text 30"/>
          <p:cNvSpPr/>
          <p:nvPr/>
        </p:nvSpPr>
        <p:spPr>
          <a:xfrm>
            <a:off x="6794543" y="1198395"/>
            <a:ext cx="124832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61790" y="1631148"/>
            <a:ext cx="5359487" cy="599197"/>
          </a:xfrm>
          <a:custGeom>
            <a:avLst/>
            <a:gdLst/>
            <a:ahLst/>
            <a:cxnLst/>
            <a:rect l="l" t="t" r="r" b="b"/>
            <a:pathLst>
              <a:path w="5359487" h="599197">
                <a:moveTo>
                  <a:pt x="33291" y="0"/>
                </a:moveTo>
                <a:lnTo>
                  <a:pt x="5326195" y="0"/>
                </a:lnTo>
                <a:cubicBezTo>
                  <a:pt x="5344582" y="0"/>
                  <a:pt x="5359487" y="14905"/>
                  <a:pt x="5359487" y="33291"/>
                </a:cubicBezTo>
                <a:lnTo>
                  <a:pt x="5359487" y="565906"/>
                </a:lnTo>
                <a:cubicBezTo>
                  <a:pt x="5359487" y="584292"/>
                  <a:pt x="5344582" y="599197"/>
                  <a:pt x="5326195" y="599197"/>
                </a:cubicBezTo>
                <a:lnTo>
                  <a:pt x="33291" y="599197"/>
                </a:lnTo>
                <a:cubicBezTo>
                  <a:pt x="14905" y="599197"/>
                  <a:pt x="0" y="584292"/>
                  <a:pt x="0" y="565906"/>
                </a:cubicBezTo>
                <a:lnTo>
                  <a:pt x="0" y="33291"/>
                </a:lnTo>
                <a:cubicBezTo>
                  <a:pt x="0" y="14917"/>
                  <a:pt x="14917" y="0"/>
                  <a:pt x="3329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461656" y="1731014"/>
            <a:ext cx="522633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Enriquecimiento de Datos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61656" y="1964035"/>
            <a:ext cx="521801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Incorporar variables externas: clima, eventos deportivos, festivos, construcción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61790" y="2296923"/>
            <a:ext cx="5359487" cy="599197"/>
          </a:xfrm>
          <a:custGeom>
            <a:avLst/>
            <a:gdLst/>
            <a:ahLst/>
            <a:cxnLst/>
            <a:rect l="l" t="t" r="r" b="b"/>
            <a:pathLst>
              <a:path w="5359487" h="599197">
                <a:moveTo>
                  <a:pt x="33291" y="0"/>
                </a:moveTo>
                <a:lnTo>
                  <a:pt x="5326195" y="0"/>
                </a:lnTo>
                <a:cubicBezTo>
                  <a:pt x="5344582" y="0"/>
                  <a:pt x="5359487" y="14905"/>
                  <a:pt x="5359487" y="33291"/>
                </a:cubicBezTo>
                <a:lnTo>
                  <a:pt x="5359487" y="565906"/>
                </a:lnTo>
                <a:cubicBezTo>
                  <a:pt x="5359487" y="584292"/>
                  <a:pt x="5344582" y="599197"/>
                  <a:pt x="5326195" y="599197"/>
                </a:cubicBezTo>
                <a:lnTo>
                  <a:pt x="33291" y="599197"/>
                </a:lnTo>
                <a:cubicBezTo>
                  <a:pt x="14905" y="599197"/>
                  <a:pt x="0" y="584292"/>
                  <a:pt x="0" y="565906"/>
                </a:cubicBezTo>
                <a:lnTo>
                  <a:pt x="0" y="33291"/>
                </a:lnTo>
                <a:cubicBezTo>
                  <a:pt x="0" y="14917"/>
                  <a:pt x="14917" y="0"/>
                  <a:pt x="3329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461656" y="2396789"/>
            <a:ext cx="522633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Optimización de Modelo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61656" y="2629810"/>
            <a:ext cx="521801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search de hiperparámetros, comparación con SARIMA, incorporación de regresores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61790" y="2962698"/>
            <a:ext cx="5359487" cy="599197"/>
          </a:xfrm>
          <a:custGeom>
            <a:avLst/>
            <a:gdLst/>
            <a:ahLst/>
            <a:cxnLst/>
            <a:rect l="l" t="t" r="r" b="b"/>
            <a:pathLst>
              <a:path w="5359487" h="599197">
                <a:moveTo>
                  <a:pt x="33291" y="0"/>
                </a:moveTo>
                <a:lnTo>
                  <a:pt x="5326195" y="0"/>
                </a:lnTo>
                <a:cubicBezTo>
                  <a:pt x="5344582" y="0"/>
                  <a:pt x="5359487" y="14905"/>
                  <a:pt x="5359487" y="33291"/>
                </a:cubicBezTo>
                <a:lnTo>
                  <a:pt x="5359487" y="565906"/>
                </a:lnTo>
                <a:cubicBezTo>
                  <a:pt x="5359487" y="584292"/>
                  <a:pt x="5344582" y="599197"/>
                  <a:pt x="5326195" y="599197"/>
                </a:cubicBezTo>
                <a:lnTo>
                  <a:pt x="33291" y="599197"/>
                </a:lnTo>
                <a:cubicBezTo>
                  <a:pt x="14905" y="599197"/>
                  <a:pt x="0" y="584292"/>
                  <a:pt x="0" y="565906"/>
                </a:cubicBezTo>
                <a:lnTo>
                  <a:pt x="0" y="33291"/>
                </a:lnTo>
                <a:cubicBezTo>
                  <a:pt x="0" y="14917"/>
                  <a:pt x="14917" y="0"/>
                  <a:pt x="3329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461656" y="3062564"/>
            <a:ext cx="522633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Sistema de Alertas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61656" y="3295585"/>
            <a:ext cx="521801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Notificaciones automáticas cuando predicciones se desvíen del rango esperado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61790" y="3628472"/>
            <a:ext cx="5359487" cy="599197"/>
          </a:xfrm>
          <a:custGeom>
            <a:avLst/>
            <a:gdLst/>
            <a:ahLst/>
            <a:cxnLst/>
            <a:rect l="l" t="t" r="r" b="b"/>
            <a:pathLst>
              <a:path w="5359487" h="599197">
                <a:moveTo>
                  <a:pt x="33291" y="0"/>
                </a:moveTo>
                <a:lnTo>
                  <a:pt x="5326195" y="0"/>
                </a:lnTo>
                <a:cubicBezTo>
                  <a:pt x="5344582" y="0"/>
                  <a:pt x="5359487" y="14905"/>
                  <a:pt x="5359487" y="33291"/>
                </a:cubicBezTo>
                <a:lnTo>
                  <a:pt x="5359487" y="565906"/>
                </a:lnTo>
                <a:cubicBezTo>
                  <a:pt x="5359487" y="584292"/>
                  <a:pt x="5344582" y="599197"/>
                  <a:pt x="5326195" y="599197"/>
                </a:cubicBezTo>
                <a:lnTo>
                  <a:pt x="33291" y="599197"/>
                </a:lnTo>
                <a:cubicBezTo>
                  <a:pt x="14905" y="599197"/>
                  <a:pt x="0" y="584292"/>
                  <a:pt x="0" y="565906"/>
                </a:cubicBezTo>
                <a:lnTo>
                  <a:pt x="0" y="33291"/>
                </a:lnTo>
                <a:cubicBezTo>
                  <a:pt x="0" y="14917"/>
                  <a:pt x="14917" y="0"/>
                  <a:pt x="33291" y="0"/>
                </a:cubicBezTo>
                <a:close/>
              </a:path>
            </a:pathLst>
          </a:custGeom>
          <a:solidFill>
            <a:srgbClr val="1A1A1A">
              <a:alpha val="5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461656" y="3728339"/>
            <a:ext cx="522633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Escalabilidad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61656" y="3961360"/>
            <a:ext cx="521801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E8E8E8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Extender a taxis verdes, Uber, Lyft; análisis por zonas geográficas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202004" y="4500637"/>
            <a:ext cx="5647434" cy="978689"/>
          </a:xfrm>
          <a:custGeom>
            <a:avLst/>
            <a:gdLst/>
            <a:ahLst/>
            <a:cxnLst/>
            <a:rect l="l" t="t" r="r" b="b"/>
            <a:pathLst>
              <a:path w="5647434" h="978689">
                <a:moveTo>
                  <a:pt x="66580" y="0"/>
                </a:moveTo>
                <a:lnTo>
                  <a:pt x="5580854" y="0"/>
                </a:lnTo>
                <a:cubicBezTo>
                  <a:pt x="5617625" y="0"/>
                  <a:pt x="5647434" y="29809"/>
                  <a:pt x="5647434" y="66580"/>
                </a:cubicBezTo>
                <a:lnTo>
                  <a:pt x="5647434" y="912109"/>
                </a:lnTo>
                <a:cubicBezTo>
                  <a:pt x="5647434" y="948880"/>
                  <a:pt x="5617625" y="978689"/>
                  <a:pt x="5580854" y="978689"/>
                </a:cubicBezTo>
                <a:lnTo>
                  <a:pt x="66580" y="978689"/>
                </a:lnTo>
                <a:cubicBezTo>
                  <a:pt x="29809" y="978689"/>
                  <a:pt x="0" y="948880"/>
                  <a:pt x="0" y="912109"/>
                </a:cubicBezTo>
                <a:lnTo>
                  <a:pt x="0" y="66580"/>
                </a:lnTo>
                <a:cubicBezTo>
                  <a:pt x="0" y="29834"/>
                  <a:pt x="29834" y="0"/>
                  <a:pt x="66580" y="0"/>
                </a:cubicBezTo>
                <a:close/>
              </a:path>
            </a:pathLst>
          </a:custGeom>
          <a:solidFill>
            <a:srgbClr val="F7C873">
              <a:alpha val="20000"/>
            </a:srgbClr>
          </a:solidFill>
          <a:ln w="20320">
            <a:solidFill>
              <a:srgbClr val="F7C87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66783" y="4657091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9933" y="124833"/>
                </a:moveTo>
                <a:lnTo>
                  <a:pt x="9558" y="124833"/>
                </a:lnTo>
                <a:cubicBezTo>
                  <a:pt x="-156" y="124833"/>
                  <a:pt x="-6125" y="114261"/>
                  <a:pt x="-1131" y="105913"/>
                </a:cubicBezTo>
                <a:lnTo>
                  <a:pt x="19505" y="71506"/>
                </a:lnTo>
                <a:cubicBezTo>
                  <a:pt x="22899" y="65849"/>
                  <a:pt x="28985" y="62416"/>
                  <a:pt x="35577" y="62416"/>
                </a:cubicBezTo>
                <a:lnTo>
                  <a:pt x="72637" y="62416"/>
                </a:lnTo>
                <a:cubicBezTo>
                  <a:pt x="102324" y="12132"/>
                  <a:pt x="146600" y="9597"/>
                  <a:pt x="176209" y="13927"/>
                </a:cubicBezTo>
                <a:cubicBezTo>
                  <a:pt x="181203" y="14668"/>
                  <a:pt x="185104" y="18569"/>
                  <a:pt x="185806" y="23523"/>
                </a:cubicBezTo>
                <a:cubicBezTo>
                  <a:pt x="190136" y="53132"/>
                  <a:pt x="187600" y="97409"/>
                  <a:pt x="137316" y="127095"/>
                </a:cubicBezTo>
                <a:lnTo>
                  <a:pt x="137316" y="164155"/>
                </a:lnTo>
                <a:cubicBezTo>
                  <a:pt x="137316" y="170748"/>
                  <a:pt x="133883" y="176833"/>
                  <a:pt x="128227" y="180227"/>
                </a:cubicBezTo>
                <a:lnTo>
                  <a:pt x="93820" y="200864"/>
                </a:lnTo>
                <a:cubicBezTo>
                  <a:pt x="85510" y="205857"/>
                  <a:pt x="74900" y="199849"/>
                  <a:pt x="74900" y="190175"/>
                </a:cubicBezTo>
                <a:lnTo>
                  <a:pt x="74900" y="149799"/>
                </a:lnTo>
                <a:cubicBezTo>
                  <a:pt x="74900" y="136029"/>
                  <a:pt x="63704" y="124833"/>
                  <a:pt x="49933" y="124833"/>
                </a:cubicBezTo>
                <a:lnTo>
                  <a:pt x="49894" y="124833"/>
                </a:lnTo>
                <a:close/>
                <a:moveTo>
                  <a:pt x="156041" y="62416"/>
                </a:moveTo>
                <a:cubicBezTo>
                  <a:pt x="156041" y="52082"/>
                  <a:pt x="147651" y="43691"/>
                  <a:pt x="137316" y="43691"/>
                </a:cubicBezTo>
                <a:cubicBezTo>
                  <a:pt x="126981" y="43691"/>
                  <a:pt x="118591" y="52082"/>
                  <a:pt x="118591" y="62416"/>
                </a:cubicBezTo>
                <a:cubicBezTo>
                  <a:pt x="118591" y="72751"/>
                  <a:pt x="126981" y="81141"/>
                  <a:pt x="137316" y="81141"/>
                </a:cubicBezTo>
                <a:cubicBezTo>
                  <a:pt x="147651" y="81141"/>
                  <a:pt x="156041" y="72751"/>
                  <a:pt x="156041" y="62416"/>
                </a:cubicBezTo>
                <a:close/>
              </a:path>
            </a:pathLst>
          </a:custGeom>
          <a:solidFill>
            <a:srgbClr val="F7C873"/>
          </a:solidFill>
          <a:ln/>
        </p:spPr>
      </p:sp>
      <p:sp>
        <p:nvSpPr>
          <p:cNvPr id="48" name="Text 45"/>
          <p:cNvSpPr/>
          <p:nvPr/>
        </p:nvSpPr>
        <p:spPr>
          <a:xfrm>
            <a:off x="6691349" y="4640447"/>
            <a:ext cx="109852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7C8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Estado Actual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41817" y="4940045"/>
            <a:ext cx="5434386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Proyecto </a:t>
            </a:r>
            <a:pPr>
              <a:lnSpc>
                <a:spcPct val="130000"/>
              </a:lnSpc>
            </a:pPr>
            <a:r>
              <a:rPr lang="en-US" sz="1048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funcional y desplegable</a:t>
            </a:r>
            <a:pPr>
              <a:lnSpc>
                <a:spcPct val="130000"/>
              </a:lnSpc>
            </a:pPr>
            <a:r>
              <a:rPr lang="en-US" sz="1048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Dashboard interactivo lista para uso inmediato. Repositorio con CI/CD configurado.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32887" y="6322573"/>
            <a:ext cx="11526225" cy="6658"/>
          </a:xfrm>
          <a:custGeom>
            <a:avLst/>
            <a:gdLst/>
            <a:ahLst/>
            <a:cxnLst/>
            <a:rect l="l" t="t" r="r" b="b"/>
            <a:pathLst>
              <a:path w="11526225" h="6658">
                <a:moveTo>
                  <a:pt x="0" y="0"/>
                </a:moveTo>
                <a:lnTo>
                  <a:pt x="11526225" y="0"/>
                </a:lnTo>
                <a:lnTo>
                  <a:pt x="11526225" y="6658"/>
                </a:lnTo>
                <a:lnTo>
                  <a:pt x="0" y="6658"/>
                </a:lnTo>
                <a:lnTo>
                  <a:pt x="0" y="0"/>
                </a:lnTo>
                <a:close/>
              </a:path>
            </a:pathLst>
          </a:custGeom>
          <a:solidFill>
            <a:srgbClr val="F7C873">
              <a:alpha val="3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303760" y="6459055"/>
            <a:ext cx="381156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del Modelo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270471" y="6658788"/>
            <a:ext cx="3878138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66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97.7%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4189908" y="6459055"/>
            <a:ext cx="381156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Horizonte de Forecast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4156619" y="6658788"/>
            <a:ext cx="3878138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66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Días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076056" y="6459055"/>
            <a:ext cx="381156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de Respuesta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042767" y="6658788"/>
            <a:ext cx="3878138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66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295438" y="7091541"/>
            <a:ext cx="1160112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7C8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NYC Yellow Taxi Analytics</a:t>
            </a:r>
            <a:pPr algn="ctr">
              <a:lnSpc>
                <a:spcPct val="130000"/>
              </a:lnSpc>
            </a:pPr>
            <a:r>
              <a:rPr lang="en-US" sz="118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Del análisis exploratorio al sistema de inteligencia operativa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Yellow Taxi Analytics: Del Análisis Exploratorio al Sistema de Inteligencia Operativa</dc:title>
  <dc:subject>NYC Yellow Taxi Analytics: Del Análisis Exploratorio al Sistema de Inteligencia Operativa</dc:subject>
  <dc:creator>Kimi</dc:creator>
  <cp:lastModifiedBy>Kimi</cp:lastModifiedBy>
  <cp:revision>1</cp:revision>
  <dcterms:created xsi:type="dcterms:W3CDTF">2026-01-15T16:59:53Z</dcterms:created>
  <dcterms:modified xsi:type="dcterms:W3CDTF">2026-01-15T16:59:53Z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{"Label":"NYC Yellow Taxi Analytics: Del Análisis Exploratorio al Sistema de Inteligencia Operativa","ContentProducer":"001191110108MACG2KBH8F10000","ProduceID":"19bc28ff-c712-8808-8000-00007f244fd3","ReservedCode1":"","ContentPropagator":"001191110108MACG2KBH8F20000","PropagateID":"19bc28ff-c712-8808-8000-00007f244fd3","ReservedCode2":""}</vt:lpwstr>
  </property>
</Properties>
</file>