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19852952220fa4207c444e876a664ffaa86c0df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A556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8100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 Ejecutivo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19413"/>
            <a:ext cx="3952161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F7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Análisis 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41433"/>
            <a:ext cx="53854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F7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Modelado 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863453"/>
            <a:ext cx="871644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 dirty="0">
                <a:solidFill>
                  <a:srgbClr val="4FD1C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Ventas y Rentabilidad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18933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551283"/>
            <a:ext cx="11572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Ciencia de Datos Aplicada al Negocio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091827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• Predictive Analytics • Maximización de ROI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62484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Enero 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46206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5" name="Text 12"/>
          <p:cNvSpPr/>
          <p:nvPr/>
        </p:nvSpPr>
        <p:spPr>
          <a:xfrm>
            <a:off x="9931955" y="624840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Predictivo Avanzado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5285" y="381000"/>
            <a:ext cx="7620" cy="6096000"/>
          </a:xfrm>
          <a:custGeom>
            <a:avLst/>
            <a:gdLst/>
            <a:ahLst/>
            <a:cxnLst/>
            <a:rect l="l" t="t" r="r" b="b"/>
            <a:pathLst>
              <a:path w="7620" h="6096000">
                <a:moveTo>
                  <a:pt x="0" y="0"/>
                </a:moveTo>
                <a:lnTo>
                  <a:pt x="7620" y="0"/>
                </a:lnTo>
                <a:lnTo>
                  <a:pt x="762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324" y="26789"/>
                </a:moveTo>
                <a:cubicBezTo>
                  <a:pt x="14901" y="26789"/>
                  <a:pt x="8930" y="32761"/>
                  <a:pt x="8930" y="40184"/>
                </a:cubicBezTo>
                <a:lnTo>
                  <a:pt x="8930" y="66973"/>
                </a:lnTo>
                <a:cubicBezTo>
                  <a:pt x="8930" y="74395"/>
                  <a:pt x="14901" y="80367"/>
                  <a:pt x="22324" y="80367"/>
                </a:cubicBezTo>
                <a:lnTo>
                  <a:pt x="49113" y="80367"/>
                </a:lnTo>
                <a:cubicBezTo>
                  <a:pt x="56536" y="80367"/>
                  <a:pt x="62508" y="74395"/>
                  <a:pt x="62508" y="66973"/>
                </a:cubicBezTo>
                <a:lnTo>
                  <a:pt x="62508" y="40184"/>
                </a:lnTo>
                <a:cubicBezTo>
                  <a:pt x="62508" y="32761"/>
                  <a:pt x="56536" y="26789"/>
                  <a:pt x="49113" y="26789"/>
                </a:cubicBezTo>
                <a:lnTo>
                  <a:pt x="22324" y="26789"/>
                </a:lnTo>
                <a:close/>
                <a:moveTo>
                  <a:pt x="107156" y="35719"/>
                </a:moveTo>
                <a:cubicBezTo>
                  <a:pt x="97278" y="35719"/>
                  <a:pt x="89297" y="43700"/>
                  <a:pt x="89297" y="53578"/>
                </a:cubicBezTo>
                <a:cubicBezTo>
                  <a:pt x="89297" y="63457"/>
                  <a:pt x="97278" y="71438"/>
                  <a:pt x="107156" y="71438"/>
                </a:cubicBezTo>
                <a:lnTo>
                  <a:pt x="267891" y="71438"/>
                </a:lnTo>
                <a:cubicBezTo>
                  <a:pt x="277769" y="71438"/>
                  <a:pt x="285750" y="63457"/>
                  <a:pt x="285750" y="53578"/>
                </a:cubicBezTo>
                <a:cubicBezTo>
                  <a:pt x="285750" y="43700"/>
                  <a:pt x="277769" y="35719"/>
                  <a:pt x="267891" y="35719"/>
                </a:cubicBezTo>
                <a:lnTo>
                  <a:pt x="107156" y="35719"/>
                </a:lnTo>
                <a:close/>
                <a:moveTo>
                  <a:pt x="107156" y="125016"/>
                </a:moveTo>
                <a:cubicBezTo>
                  <a:pt x="97278" y="125016"/>
                  <a:pt x="89297" y="132997"/>
                  <a:pt x="89297" y="142875"/>
                </a:cubicBezTo>
                <a:cubicBezTo>
                  <a:pt x="89297" y="152753"/>
                  <a:pt x="97278" y="160734"/>
                  <a:pt x="107156" y="160734"/>
                </a:cubicBezTo>
                <a:lnTo>
                  <a:pt x="267891" y="160734"/>
                </a:lnTo>
                <a:cubicBezTo>
                  <a:pt x="277769" y="160734"/>
                  <a:pt x="285750" y="152753"/>
                  <a:pt x="285750" y="142875"/>
                </a:cubicBezTo>
                <a:cubicBezTo>
                  <a:pt x="285750" y="132997"/>
                  <a:pt x="277769" y="125016"/>
                  <a:pt x="267891" y="125016"/>
                </a:cubicBezTo>
                <a:lnTo>
                  <a:pt x="107156" y="125016"/>
                </a:lnTo>
                <a:close/>
                <a:moveTo>
                  <a:pt x="107156" y="214313"/>
                </a:moveTo>
                <a:cubicBezTo>
                  <a:pt x="97278" y="214313"/>
                  <a:pt x="89297" y="222293"/>
                  <a:pt x="89297" y="232172"/>
                </a:cubicBezTo>
                <a:cubicBezTo>
                  <a:pt x="89297" y="242050"/>
                  <a:pt x="97278" y="250031"/>
                  <a:pt x="107156" y="250031"/>
                </a:cubicBez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ubicBezTo>
                  <a:pt x="285750" y="222293"/>
                  <a:pt x="277769" y="214313"/>
                  <a:pt x="267891" y="214313"/>
                </a:cubicBezTo>
                <a:lnTo>
                  <a:pt x="107156" y="214313"/>
                </a:lnTo>
                <a:close/>
                <a:moveTo>
                  <a:pt x="8930" y="129480"/>
                </a:moveTo>
                <a:lnTo>
                  <a:pt x="8930" y="156270"/>
                </a:lnTo>
                <a:cubicBezTo>
                  <a:pt x="8930" y="163692"/>
                  <a:pt x="14901" y="169664"/>
                  <a:pt x="22324" y="169664"/>
                </a:cubicBezTo>
                <a:lnTo>
                  <a:pt x="49113" y="169664"/>
                </a:lnTo>
                <a:cubicBezTo>
                  <a:pt x="56536" y="169664"/>
                  <a:pt x="62508" y="163692"/>
                  <a:pt x="62508" y="156270"/>
                </a:cubicBezTo>
                <a:lnTo>
                  <a:pt x="62508" y="129480"/>
                </a:lnTo>
                <a:cubicBezTo>
                  <a:pt x="62508" y="122058"/>
                  <a:pt x="56536" y="116086"/>
                  <a:pt x="49113" y="116086"/>
                </a:cubicBezTo>
                <a:lnTo>
                  <a:pt x="22324" y="116086"/>
                </a:lnTo>
                <a:cubicBezTo>
                  <a:pt x="14901" y="116086"/>
                  <a:pt x="8930" y="122058"/>
                  <a:pt x="8930" y="129480"/>
                </a:cubicBezTo>
                <a:close/>
                <a:moveTo>
                  <a:pt x="22324" y="205383"/>
                </a:moveTo>
                <a:cubicBezTo>
                  <a:pt x="14901" y="205383"/>
                  <a:pt x="8930" y="211355"/>
                  <a:pt x="8930" y="218777"/>
                </a:cubicBezTo>
                <a:lnTo>
                  <a:pt x="8930" y="245566"/>
                </a:lnTo>
                <a:cubicBezTo>
                  <a:pt x="8930" y="252989"/>
                  <a:pt x="14901" y="258961"/>
                  <a:pt x="22324" y="258961"/>
                </a:cubicBezTo>
                <a:lnTo>
                  <a:pt x="49113" y="258961"/>
                </a:lnTo>
                <a:cubicBezTo>
                  <a:pt x="56536" y="258961"/>
                  <a:pt x="62508" y="252989"/>
                  <a:pt x="62508" y="245566"/>
                </a:cubicBezTo>
                <a:lnTo>
                  <a:pt x="62508" y="218777"/>
                </a:lnTo>
                <a:cubicBezTo>
                  <a:pt x="62508" y="211355"/>
                  <a:pt x="56536" y="205383"/>
                  <a:pt x="49113" y="205383"/>
                </a:cubicBezTo>
                <a:lnTo>
                  <a:pt x="22324" y="205383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295400"/>
            <a:ext cx="37814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 de Contenidos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287655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4572000"/>
            <a:ext cx="35909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 de ciencia de datos aplicada al negocio: desde la exploración de datos históricos hasta la generación de insights accionables para maximizar la rentabilidad empresarial.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48200" y="146923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4576763" y="1469231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507331"/>
            <a:ext cx="646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Resumen Ejecutivo y Objetivos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964531"/>
            <a:ext cx="6410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 de ciencia de datos, integración de modelos predictivos y maximización de rentabilidad mediante Business Intelligence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48200" y="290274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6763" y="2902744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940844"/>
            <a:ext cx="646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 y Desarrollo Analítico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3398044"/>
            <a:ext cx="6410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• Modelado Random Forest • Simulación de Escenarios • Dashboards Interactivos con Plotly y Streamlit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48200" y="433625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6763" y="4336256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4374356"/>
            <a:ext cx="6467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Hallazgos Clave y Recomendaciones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831556"/>
            <a:ext cx="64103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estratégicos sobre productos y canales • Decisiones basadas en datos • Optimización de márgenes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93757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113946" y="0"/>
                </a:moveTo>
                <a:lnTo>
                  <a:pt x="417792" y="0"/>
                </a:lnTo>
                <a:cubicBezTo>
                  <a:pt x="480681" y="0"/>
                  <a:pt x="531738" y="51058"/>
                  <a:pt x="531738" y="113946"/>
                </a:cubicBezTo>
                <a:lnTo>
                  <a:pt x="531738" y="417792"/>
                </a:lnTo>
                <a:cubicBezTo>
                  <a:pt x="531738" y="480681"/>
                  <a:pt x="480681" y="531738"/>
                  <a:pt x="417792" y="531738"/>
                </a:cubicBezTo>
                <a:lnTo>
                  <a:pt x="113946" y="531738"/>
                </a:lnTo>
                <a:cubicBezTo>
                  <a:pt x="51058" y="531738"/>
                  <a:pt x="0" y="480681"/>
                  <a:pt x="0" y="417792"/>
                </a:cubicBez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531738" y="64568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9332" y="101704"/>
                </a:moveTo>
                <a:cubicBezTo>
                  <a:pt x="35251" y="60310"/>
                  <a:pt x="70903" y="28486"/>
                  <a:pt x="113944" y="28486"/>
                </a:cubicBezTo>
                <a:cubicBezTo>
                  <a:pt x="137534" y="28486"/>
                  <a:pt x="158898" y="38055"/>
                  <a:pt x="174388" y="53500"/>
                </a:cubicBezTo>
                <a:cubicBezTo>
                  <a:pt x="174477" y="53589"/>
                  <a:pt x="174566" y="53678"/>
                  <a:pt x="174655" y="53767"/>
                </a:cubicBezTo>
                <a:lnTo>
                  <a:pt x="178037" y="56972"/>
                </a:lnTo>
                <a:lnTo>
                  <a:pt x="156717" y="56972"/>
                </a:lnTo>
                <a:cubicBezTo>
                  <a:pt x="148839" y="56972"/>
                  <a:pt x="142474" y="63337"/>
                  <a:pt x="142474" y="71215"/>
                </a:cubicBezTo>
                <a:cubicBezTo>
                  <a:pt x="142474" y="79093"/>
                  <a:pt x="148839" y="85458"/>
                  <a:pt x="156717" y="85458"/>
                </a:cubicBezTo>
                <a:lnTo>
                  <a:pt x="213689" y="85458"/>
                </a:lnTo>
                <a:cubicBezTo>
                  <a:pt x="221568" y="85458"/>
                  <a:pt x="227932" y="79093"/>
                  <a:pt x="227932" y="71215"/>
                </a:cubicBezTo>
                <a:lnTo>
                  <a:pt x="227932" y="14243"/>
                </a:lnTo>
                <a:cubicBezTo>
                  <a:pt x="227932" y="6365"/>
                  <a:pt x="221568" y="0"/>
                  <a:pt x="213689" y="0"/>
                </a:cubicBezTo>
                <a:cubicBezTo>
                  <a:pt x="205811" y="0"/>
                  <a:pt x="199446" y="6365"/>
                  <a:pt x="199446" y="14243"/>
                </a:cubicBezTo>
                <a:lnTo>
                  <a:pt x="199446" y="38011"/>
                </a:lnTo>
                <a:lnTo>
                  <a:pt x="194417" y="33248"/>
                </a:lnTo>
                <a:cubicBezTo>
                  <a:pt x="173809" y="12730"/>
                  <a:pt x="145323" y="0"/>
                  <a:pt x="113944" y="0"/>
                </a:cubicBezTo>
                <a:cubicBezTo>
                  <a:pt x="56527" y="0"/>
                  <a:pt x="9035" y="42462"/>
                  <a:pt x="1157" y="97698"/>
                </a:cubicBezTo>
                <a:cubicBezTo>
                  <a:pt x="45" y="105487"/>
                  <a:pt x="5430" y="112698"/>
                  <a:pt x="13219" y="113810"/>
                </a:cubicBezTo>
                <a:cubicBezTo>
                  <a:pt x="21008" y="114923"/>
                  <a:pt x="28219" y="109493"/>
                  <a:pt x="29332" y="101748"/>
                </a:cubicBezTo>
                <a:close/>
                <a:moveTo>
                  <a:pt x="226731" y="130190"/>
                </a:moveTo>
                <a:cubicBezTo>
                  <a:pt x="227843" y="122401"/>
                  <a:pt x="222413" y="115190"/>
                  <a:pt x="214669" y="114077"/>
                </a:cubicBezTo>
                <a:cubicBezTo>
                  <a:pt x="206924" y="112965"/>
                  <a:pt x="199669" y="118395"/>
                  <a:pt x="198556" y="126139"/>
                </a:cubicBezTo>
                <a:cubicBezTo>
                  <a:pt x="192636" y="167533"/>
                  <a:pt x="156984" y="199357"/>
                  <a:pt x="113944" y="199357"/>
                </a:cubicBezTo>
                <a:cubicBezTo>
                  <a:pt x="90354" y="199357"/>
                  <a:pt x="68989" y="189788"/>
                  <a:pt x="53500" y="174343"/>
                </a:cubicBezTo>
                <a:cubicBezTo>
                  <a:pt x="53411" y="174254"/>
                  <a:pt x="53322" y="174165"/>
                  <a:pt x="53233" y="174076"/>
                </a:cubicBezTo>
                <a:lnTo>
                  <a:pt x="49850" y="170871"/>
                </a:lnTo>
                <a:lnTo>
                  <a:pt x="71170" y="170871"/>
                </a:lnTo>
                <a:cubicBezTo>
                  <a:pt x="79049" y="170871"/>
                  <a:pt x="85413" y="164507"/>
                  <a:pt x="85413" y="156628"/>
                </a:cubicBezTo>
                <a:cubicBezTo>
                  <a:pt x="85413" y="148750"/>
                  <a:pt x="79049" y="142385"/>
                  <a:pt x="71170" y="142385"/>
                </a:cubicBezTo>
                <a:lnTo>
                  <a:pt x="14243" y="142430"/>
                </a:lnTo>
                <a:cubicBezTo>
                  <a:pt x="10460" y="142430"/>
                  <a:pt x="6810" y="143943"/>
                  <a:pt x="4139" y="146658"/>
                </a:cubicBezTo>
                <a:cubicBezTo>
                  <a:pt x="1469" y="149373"/>
                  <a:pt x="-45" y="152979"/>
                  <a:pt x="0" y="156806"/>
                </a:cubicBezTo>
                <a:lnTo>
                  <a:pt x="445" y="213333"/>
                </a:lnTo>
                <a:cubicBezTo>
                  <a:pt x="490" y="221211"/>
                  <a:pt x="6943" y="227532"/>
                  <a:pt x="14822" y="227443"/>
                </a:cubicBezTo>
                <a:cubicBezTo>
                  <a:pt x="22700" y="227354"/>
                  <a:pt x="29020" y="220944"/>
                  <a:pt x="28931" y="213066"/>
                </a:cubicBezTo>
                <a:lnTo>
                  <a:pt x="28753" y="190144"/>
                </a:lnTo>
                <a:lnTo>
                  <a:pt x="33516" y="194639"/>
                </a:lnTo>
                <a:cubicBezTo>
                  <a:pt x="54123" y="215158"/>
                  <a:pt x="82565" y="227888"/>
                  <a:pt x="113944" y="227888"/>
                </a:cubicBezTo>
                <a:cubicBezTo>
                  <a:pt x="171361" y="227888"/>
                  <a:pt x="218852" y="185426"/>
                  <a:pt x="226731" y="13019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1025495" y="379813"/>
            <a:ext cx="404500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Resumen Ejecutivo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5495" y="873570"/>
            <a:ext cx="391207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 de Ciencia de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611" y="1447088"/>
            <a:ext cx="7537391" cy="3482886"/>
          </a:xfrm>
          <a:custGeom>
            <a:avLst/>
            <a:gdLst/>
            <a:ahLst/>
            <a:cxnLst/>
            <a:rect l="l" t="t" r="r" b="b"/>
            <a:pathLst>
              <a:path w="7537391" h="3482886">
                <a:moveTo>
                  <a:pt x="151923" y="0"/>
                </a:moveTo>
                <a:lnTo>
                  <a:pt x="7385467" y="0"/>
                </a:lnTo>
                <a:cubicBezTo>
                  <a:pt x="7469372" y="0"/>
                  <a:pt x="7537391" y="68018"/>
                  <a:pt x="7537391" y="151923"/>
                </a:cubicBezTo>
                <a:lnTo>
                  <a:pt x="7537391" y="3330962"/>
                </a:lnTo>
                <a:cubicBezTo>
                  <a:pt x="7537391" y="3414868"/>
                  <a:pt x="7469372" y="3482886"/>
                  <a:pt x="7385467" y="3482886"/>
                </a:cubicBezTo>
                <a:lnTo>
                  <a:pt x="151923" y="3482886"/>
                </a:lnTo>
                <a:cubicBezTo>
                  <a:pt x="68018" y="3482886"/>
                  <a:pt x="0" y="3414868"/>
                  <a:pt x="0" y="3330962"/>
                </a:cubicBezTo>
                <a:lnTo>
                  <a:pt x="0" y="151923"/>
                </a:lnTo>
                <a:cubicBezTo>
                  <a:pt x="0" y="68018"/>
                  <a:pt x="68018" y="0"/>
                  <a:pt x="151923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260" y="1754737"/>
            <a:ext cx="7064523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Integral de Business 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1260" y="2324457"/>
            <a:ext cx="7017047" cy="1234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desarrolló un flujo completo de </a:t>
            </a:r>
            <a:pPr>
              <a:lnSpc>
                <a:spcPct val="140000"/>
              </a:lnSpc>
            </a:pPr>
            <a:r>
              <a:rPr lang="en-US" sz="149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ciencia de datos aplicada al negocio</a:t>
            </a:r>
            <a:pPr>
              <a:lnSpc>
                <a:spcPct val="140000"/>
              </a:lnSpc>
            </a:pPr>
            <a:r>
              <a:rPr lang="en-US" sz="14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comenzando por la exploración de datos históricos de ventas, construcción de un modelo predictivo basado en </a:t>
            </a:r>
            <a:pPr>
              <a:lnSpc>
                <a:spcPct val="140000"/>
              </a:lnSpc>
            </a:pPr>
            <a:r>
              <a:rPr lang="en-US" sz="149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40000"/>
              </a:lnSpc>
            </a:pPr>
            <a:r>
              <a:rPr lang="en-US" sz="14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simulación de escenarios comerciales y creación de dashboards interactivos con </a:t>
            </a:r>
            <a:pPr>
              <a:lnSpc>
                <a:spcPct val="140000"/>
              </a:lnSpc>
            </a:pPr>
            <a:r>
              <a:rPr lang="en-US" sz="149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</a:t>
            </a:r>
            <a:pPr>
              <a:lnSpc>
                <a:spcPct val="140000"/>
              </a:lnSpc>
            </a:pPr>
            <a:r>
              <a:rPr lang="en-US" sz="149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1260" y="3786737"/>
            <a:ext cx="7007551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proyecto se centró en </a:t>
            </a:r>
            <a:pPr>
              <a:lnSpc>
                <a:spcPct val="140000"/>
              </a:lnSpc>
            </a:pPr>
            <a:r>
              <a:rPr lang="en-US" sz="1346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maximizar la rentabilidad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mediante la integración de ingresos, costos y márgenes en un solo entorno visual y analítico, permitiendo identificar productos, canales y períodos con mayor aporte económico.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4231" y="1447088"/>
            <a:ext cx="3653802" cy="3482886"/>
          </a:xfrm>
          <a:custGeom>
            <a:avLst/>
            <a:gdLst/>
            <a:ahLst/>
            <a:cxnLst/>
            <a:rect l="l" t="t" r="r" b="b"/>
            <a:pathLst>
              <a:path w="3653802" h="3482886">
                <a:moveTo>
                  <a:pt x="151923" y="0"/>
                </a:moveTo>
                <a:lnTo>
                  <a:pt x="3501878" y="0"/>
                </a:lnTo>
                <a:cubicBezTo>
                  <a:pt x="3585783" y="0"/>
                  <a:pt x="3653802" y="68018"/>
                  <a:pt x="3653802" y="151923"/>
                </a:cubicBezTo>
                <a:lnTo>
                  <a:pt x="3653802" y="3330962"/>
                </a:lnTo>
                <a:cubicBezTo>
                  <a:pt x="3653802" y="3414868"/>
                  <a:pt x="3585783" y="3482886"/>
                  <a:pt x="3501878" y="3482886"/>
                </a:cubicBezTo>
                <a:lnTo>
                  <a:pt x="151923" y="3482886"/>
                </a:lnTo>
                <a:cubicBezTo>
                  <a:pt x="68018" y="3482886"/>
                  <a:pt x="0" y="3414868"/>
                  <a:pt x="0" y="3330962"/>
                </a:cubicBezTo>
                <a:lnTo>
                  <a:pt x="0" y="151923"/>
                </a:lnTo>
                <a:cubicBezTo>
                  <a:pt x="0" y="68018"/>
                  <a:pt x="68018" y="0"/>
                  <a:pt x="15192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9563" y="2180840"/>
            <a:ext cx="299103" cy="341832"/>
          </a:xfrm>
          <a:custGeom>
            <a:avLst/>
            <a:gdLst/>
            <a:ahLst/>
            <a:cxnLst/>
            <a:rect l="l" t="t" r="r" b="b"/>
            <a:pathLst>
              <a:path w="299103" h="341832">
                <a:moveTo>
                  <a:pt x="299103" y="137400"/>
                </a:moveTo>
                <a:cubicBezTo>
                  <a:pt x="289222" y="143943"/>
                  <a:pt x="277872" y="149218"/>
                  <a:pt x="266055" y="153424"/>
                </a:cubicBezTo>
                <a:cubicBezTo>
                  <a:pt x="234676" y="164640"/>
                  <a:pt x="193482" y="170916"/>
                  <a:pt x="149551" y="170916"/>
                </a:cubicBezTo>
                <a:cubicBezTo>
                  <a:pt x="105621" y="170916"/>
                  <a:pt x="64361" y="164573"/>
                  <a:pt x="33048" y="153424"/>
                </a:cubicBezTo>
                <a:cubicBezTo>
                  <a:pt x="21298" y="149218"/>
                  <a:pt x="9881" y="143943"/>
                  <a:pt x="0" y="137400"/>
                </a:cubicBezTo>
                <a:lnTo>
                  <a:pt x="0" y="192280"/>
                </a:lnTo>
                <a:cubicBezTo>
                  <a:pt x="0" y="221790"/>
                  <a:pt x="66964" y="245692"/>
                  <a:pt x="149551" y="245692"/>
                </a:cubicBezTo>
                <a:cubicBezTo>
                  <a:pt x="232138" y="245692"/>
                  <a:pt x="299103" y="221790"/>
                  <a:pt x="299103" y="192280"/>
                </a:cubicBezTo>
                <a:lnTo>
                  <a:pt x="299103" y="137400"/>
                </a:lnTo>
                <a:close/>
                <a:moveTo>
                  <a:pt x="299103" y="85458"/>
                </a:moveTo>
                <a:lnTo>
                  <a:pt x="299103" y="53411"/>
                </a:lnTo>
                <a:cubicBezTo>
                  <a:pt x="299103" y="23902"/>
                  <a:pt x="232138" y="0"/>
                  <a:pt x="149551" y="0"/>
                </a:cubicBezTo>
                <a:cubicBezTo>
                  <a:pt x="66964" y="0"/>
                  <a:pt x="0" y="23902"/>
                  <a:pt x="0" y="53411"/>
                </a:cubicBezTo>
                <a:lnTo>
                  <a:pt x="0" y="85458"/>
                </a:lnTo>
                <a:cubicBezTo>
                  <a:pt x="0" y="114968"/>
                  <a:pt x="66964" y="138869"/>
                  <a:pt x="149551" y="138869"/>
                </a:cubicBezTo>
                <a:cubicBezTo>
                  <a:pt x="232138" y="138869"/>
                  <a:pt x="299103" y="114968"/>
                  <a:pt x="299103" y="85458"/>
                </a:cubicBezTo>
                <a:close/>
                <a:moveTo>
                  <a:pt x="266055" y="260246"/>
                </a:moveTo>
                <a:cubicBezTo>
                  <a:pt x="234742" y="271396"/>
                  <a:pt x="193549" y="277738"/>
                  <a:pt x="149551" y="277738"/>
                </a:cubicBezTo>
                <a:cubicBezTo>
                  <a:pt x="105554" y="277738"/>
                  <a:pt x="64361" y="271396"/>
                  <a:pt x="33048" y="260246"/>
                </a:cubicBezTo>
                <a:cubicBezTo>
                  <a:pt x="21298" y="256040"/>
                  <a:pt x="9881" y="250766"/>
                  <a:pt x="0" y="244223"/>
                </a:cubicBezTo>
                <a:lnTo>
                  <a:pt x="0" y="288421"/>
                </a:lnTo>
                <a:cubicBezTo>
                  <a:pt x="0" y="317930"/>
                  <a:pt x="66964" y="341832"/>
                  <a:pt x="149551" y="341832"/>
                </a:cubicBezTo>
                <a:cubicBezTo>
                  <a:pt x="232138" y="341832"/>
                  <a:pt x="299103" y="317930"/>
                  <a:pt x="299103" y="288421"/>
                </a:cubicBezTo>
                <a:lnTo>
                  <a:pt x="299103" y="244223"/>
                </a:lnTo>
                <a:cubicBezTo>
                  <a:pt x="289222" y="250766"/>
                  <a:pt x="277872" y="256040"/>
                  <a:pt x="266055" y="26024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8243487" y="2674597"/>
            <a:ext cx="3475290" cy="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8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9,099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8441" y="3320279"/>
            <a:ext cx="328538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Registros Procesados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7936" y="3738073"/>
            <a:ext cx="3266393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históricos sin valores faltantes, asegurando alta confiabilidad analítica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8804" y="4073495"/>
            <a:ext cx="2668187" cy="2402318"/>
          </a:xfrm>
          <a:custGeom>
            <a:avLst/>
            <a:gdLst/>
            <a:ahLst/>
            <a:cxnLst/>
            <a:rect l="l" t="t" r="r" b="b"/>
            <a:pathLst>
              <a:path w="2668187" h="2402318">
                <a:moveTo>
                  <a:pt x="37981" y="0"/>
                </a:moveTo>
                <a:lnTo>
                  <a:pt x="2516264" y="0"/>
                </a:lnTo>
                <a:cubicBezTo>
                  <a:pt x="2600169" y="0"/>
                  <a:pt x="2668187" y="68018"/>
                  <a:pt x="2668187" y="151923"/>
                </a:cubicBezTo>
                <a:lnTo>
                  <a:pt x="2668187" y="2250395"/>
                </a:lnTo>
                <a:cubicBezTo>
                  <a:pt x="2668187" y="2334300"/>
                  <a:pt x="2600169" y="2402318"/>
                  <a:pt x="2516264" y="2402318"/>
                </a:cubicBez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98804" y="4073495"/>
            <a:ext cx="37981" cy="2402318"/>
          </a:xfrm>
          <a:custGeom>
            <a:avLst/>
            <a:gdLst/>
            <a:ahLst/>
            <a:cxnLst/>
            <a:rect l="l" t="t" r="r" b="b"/>
            <a:pathLst>
              <a:path w="37981" h="2402318">
                <a:moveTo>
                  <a:pt x="37981" y="0"/>
                </a:moveTo>
                <a:lnTo>
                  <a:pt x="37981" y="0"/>
                </a:lnTo>
                <a:lnTo>
                  <a:pt x="37981" y="2402318"/>
                </a:ln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Shape 15"/>
          <p:cNvSpPr/>
          <p:nvPr/>
        </p:nvSpPr>
        <p:spPr>
          <a:xfrm>
            <a:off x="678916" y="474291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66764" y="31157"/>
                </a:moveTo>
                <a:cubicBezTo>
                  <a:pt x="66764" y="13965"/>
                  <a:pt x="80729" y="0"/>
                  <a:pt x="97921" y="0"/>
                </a:cubicBezTo>
                <a:lnTo>
                  <a:pt x="111273" y="0"/>
                </a:lnTo>
                <a:cubicBezTo>
                  <a:pt x="121121" y="0"/>
                  <a:pt x="129077" y="7956"/>
                  <a:pt x="129077" y="17804"/>
                </a:cubicBezTo>
                <a:lnTo>
                  <a:pt x="129077" y="267056"/>
                </a:lnTo>
                <a:cubicBezTo>
                  <a:pt x="129077" y="276904"/>
                  <a:pt x="121121" y="284860"/>
                  <a:pt x="111273" y="284860"/>
                </a:cubicBezTo>
                <a:lnTo>
                  <a:pt x="93470" y="284860"/>
                </a:lnTo>
                <a:cubicBezTo>
                  <a:pt x="76890" y="284860"/>
                  <a:pt x="62925" y="273510"/>
                  <a:pt x="58975" y="258154"/>
                </a:cubicBezTo>
                <a:cubicBezTo>
                  <a:pt x="58585" y="258154"/>
                  <a:pt x="58252" y="258154"/>
                  <a:pt x="57862" y="258154"/>
                </a:cubicBezTo>
                <a:cubicBezTo>
                  <a:pt x="33271" y="258154"/>
                  <a:pt x="13353" y="238236"/>
                  <a:pt x="13353" y="213645"/>
                </a:cubicBezTo>
                <a:cubicBezTo>
                  <a:pt x="13353" y="203630"/>
                  <a:pt x="16691" y="194395"/>
                  <a:pt x="22255" y="186939"/>
                </a:cubicBezTo>
                <a:cubicBezTo>
                  <a:pt x="11461" y="178816"/>
                  <a:pt x="4451" y="165909"/>
                  <a:pt x="4451" y="151332"/>
                </a:cubicBezTo>
                <a:cubicBezTo>
                  <a:pt x="4451" y="134140"/>
                  <a:pt x="14243" y="119174"/>
                  <a:pt x="28486" y="111774"/>
                </a:cubicBezTo>
                <a:cubicBezTo>
                  <a:pt x="24536" y="105098"/>
                  <a:pt x="22255" y="97309"/>
                  <a:pt x="22255" y="89019"/>
                </a:cubicBezTo>
                <a:cubicBezTo>
                  <a:pt x="22255" y="64427"/>
                  <a:pt x="42173" y="44509"/>
                  <a:pt x="66764" y="44509"/>
                </a:cubicBezTo>
                <a:lnTo>
                  <a:pt x="66764" y="31157"/>
                </a:lnTo>
                <a:close/>
                <a:moveTo>
                  <a:pt x="218096" y="31157"/>
                </a:moveTo>
                <a:lnTo>
                  <a:pt x="218096" y="44509"/>
                </a:lnTo>
                <a:cubicBezTo>
                  <a:pt x="242687" y="44509"/>
                  <a:pt x="262605" y="64427"/>
                  <a:pt x="262605" y="89019"/>
                </a:cubicBezTo>
                <a:cubicBezTo>
                  <a:pt x="262605" y="97364"/>
                  <a:pt x="260324" y="105153"/>
                  <a:pt x="256374" y="111774"/>
                </a:cubicBezTo>
                <a:cubicBezTo>
                  <a:pt x="270672" y="119174"/>
                  <a:pt x="280409" y="134084"/>
                  <a:pt x="280409" y="151332"/>
                </a:cubicBezTo>
                <a:cubicBezTo>
                  <a:pt x="280409" y="165909"/>
                  <a:pt x="273399" y="178816"/>
                  <a:pt x="262605" y="186939"/>
                </a:cubicBezTo>
                <a:cubicBezTo>
                  <a:pt x="268169" y="194395"/>
                  <a:pt x="271507" y="203630"/>
                  <a:pt x="271507" y="213645"/>
                </a:cubicBezTo>
                <a:cubicBezTo>
                  <a:pt x="271507" y="238236"/>
                  <a:pt x="251589" y="258154"/>
                  <a:pt x="226998" y="258154"/>
                </a:cubicBezTo>
                <a:cubicBezTo>
                  <a:pt x="226608" y="258154"/>
                  <a:pt x="226274" y="258154"/>
                  <a:pt x="225885" y="258154"/>
                </a:cubicBezTo>
                <a:cubicBezTo>
                  <a:pt x="221935" y="273510"/>
                  <a:pt x="207970" y="284860"/>
                  <a:pt x="191390" y="284860"/>
                </a:cubicBezTo>
                <a:lnTo>
                  <a:pt x="173586" y="284860"/>
                </a:lnTo>
                <a:cubicBezTo>
                  <a:pt x="163739" y="284860"/>
                  <a:pt x="155783" y="276904"/>
                  <a:pt x="155783" y="267056"/>
                </a:cubicBezTo>
                <a:lnTo>
                  <a:pt x="155783" y="17804"/>
                </a:lnTo>
                <a:cubicBezTo>
                  <a:pt x="155783" y="7956"/>
                  <a:pt x="163739" y="0"/>
                  <a:pt x="173586" y="0"/>
                </a:cubicBezTo>
                <a:lnTo>
                  <a:pt x="186939" y="0"/>
                </a:lnTo>
                <a:cubicBezTo>
                  <a:pt x="204131" y="0"/>
                  <a:pt x="218096" y="13965"/>
                  <a:pt x="218096" y="3115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1114395" y="4619477"/>
            <a:ext cx="1823103" cy="5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Modelado Predictivo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682" y="5303140"/>
            <a:ext cx="2269383" cy="626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Regressor para estimación confiable de ventas futuras y análisis de sensibilidad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12801" y="4073495"/>
            <a:ext cx="2668187" cy="2402318"/>
          </a:xfrm>
          <a:custGeom>
            <a:avLst/>
            <a:gdLst/>
            <a:ahLst/>
            <a:cxnLst/>
            <a:rect l="l" t="t" r="r" b="b"/>
            <a:pathLst>
              <a:path w="2668187" h="2402318">
                <a:moveTo>
                  <a:pt x="37981" y="0"/>
                </a:moveTo>
                <a:lnTo>
                  <a:pt x="2516264" y="0"/>
                </a:lnTo>
                <a:cubicBezTo>
                  <a:pt x="2600169" y="0"/>
                  <a:pt x="2668187" y="68018"/>
                  <a:pt x="2668187" y="151923"/>
                </a:cubicBezTo>
                <a:lnTo>
                  <a:pt x="2668187" y="2250395"/>
                </a:lnTo>
                <a:cubicBezTo>
                  <a:pt x="2668187" y="2334300"/>
                  <a:pt x="2600169" y="2402318"/>
                  <a:pt x="2516264" y="2402318"/>
                </a:cubicBez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312801" y="4073495"/>
            <a:ext cx="37981" cy="2402318"/>
          </a:xfrm>
          <a:custGeom>
            <a:avLst/>
            <a:gdLst/>
            <a:ahLst/>
            <a:cxnLst/>
            <a:rect l="l" t="t" r="r" b="b"/>
            <a:pathLst>
              <a:path w="37981" h="2402318">
                <a:moveTo>
                  <a:pt x="37981" y="0"/>
                </a:moveTo>
                <a:lnTo>
                  <a:pt x="37981" y="0"/>
                </a:lnTo>
                <a:lnTo>
                  <a:pt x="37981" y="2402318"/>
                </a:ln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4427" y="4638467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0" y="44509"/>
                </a:moveTo>
                <a:cubicBezTo>
                  <a:pt x="0" y="29766"/>
                  <a:pt x="11962" y="17804"/>
                  <a:pt x="26706" y="17804"/>
                </a:cubicBezTo>
                <a:lnTo>
                  <a:pt x="80117" y="17804"/>
                </a:lnTo>
                <a:cubicBezTo>
                  <a:pt x="94861" y="17804"/>
                  <a:pt x="106822" y="29766"/>
                  <a:pt x="106822" y="44509"/>
                </a:cubicBezTo>
                <a:lnTo>
                  <a:pt x="106822" y="53411"/>
                </a:lnTo>
                <a:lnTo>
                  <a:pt x="178037" y="53411"/>
                </a:lnTo>
                <a:lnTo>
                  <a:pt x="178037" y="44509"/>
                </a:lnTo>
                <a:cubicBezTo>
                  <a:pt x="178037" y="29766"/>
                  <a:pt x="189999" y="17804"/>
                  <a:pt x="204743" y="17804"/>
                </a:cubicBezTo>
                <a:lnTo>
                  <a:pt x="258154" y="17804"/>
                </a:lnTo>
                <a:cubicBezTo>
                  <a:pt x="272898" y="17804"/>
                  <a:pt x="284860" y="29766"/>
                  <a:pt x="284860" y="44509"/>
                </a:cubicBezTo>
                <a:lnTo>
                  <a:pt x="284860" y="97921"/>
                </a:lnTo>
                <a:cubicBezTo>
                  <a:pt x="284860" y="112664"/>
                  <a:pt x="272898" y="124626"/>
                  <a:pt x="258154" y="124626"/>
                </a:cubicBezTo>
                <a:lnTo>
                  <a:pt x="204743" y="124626"/>
                </a:lnTo>
                <a:cubicBezTo>
                  <a:pt x="189999" y="124626"/>
                  <a:pt x="178037" y="112664"/>
                  <a:pt x="178037" y="97921"/>
                </a:cubicBezTo>
                <a:lnTo>
                  <a:pt x="178037" y="89019"/>
                </a:lnTo>
                <a:lnTo>
                  <a:pt x="106822" y="89019"/>
                </a:lnTo>
                <a:lnTo>
                  <a:pt x="106822" y="97921"/>
                </a:lnTo>
                <a:cubicBezTo>
                  <a:pt x="106822" y="101982"/>
                  <a:pt x="105877" y="105877"/>
                  <a:pt x="104263" y="109326"/>
                </a:cubicBezTo>
                <a:lnTo>
                  <a:pt x="142430" y="160234"/>
                </a:lnTo>
                <a:lnTo>
                  <a:pt x="186939" y="160234"/>
                </a:lnTo>
                <a:cubicBezTo>
                  <a:pt x="201683" y="160234"/>
                  <a:pt x="213645" y="172196"/>
                  <a:pt x="213645" y="186939"/>
                </a:cubicBezTo>
                <a:lnTo>
                  <a:pt x="213645" y="240350"/>
                </a:lnTo>
                <a:cubicBezTo>
                  <a:pt x="213645" y="255094"/>
                  <a:pt x="201683" y="267056"/>
                  <a:pt x="186939" y="267056"/>
                </a:cubicBezTo>
                <a:lnTo>
                  <a:pt x="133528" y="267056"/>
                </a:lnTo>
                <a:cubicBezTo>
                  <a:pt x="118784" y="267056"/>
                  <a:pt x="106822" y="255094"/>
                  <a:pt x="106822" y="240350"/>
                </a:cubicBezTo>
                <a:lnTo>
                  <a:pt x="106822" y="186939"/>
                </a:lnTo>
                <a:cubicBezTo>
                  <a:pt x="106822" y="182878"/>
                  <a:pt x="107768" y="178983"/>
                  <a:pt x="109382" y="175534"/>
                </a:cubicBezTo>
                <a:lnTo>
                  <a:pt x="71215" y="124626"/>
                </a:lnTo>
                <a:lnTo>
                  <a:pt x="26706" y="124626"/>
                </a:lnTo>
                <a:cubicBezTo>
                  <a:pt x="11962" y="124626"/>
                  <a:pt x="0" y="112664"/>
                  <a:pt x="0" y="97921"/>
                </a:cubicBezTo>
                <a:lnTo>
                  <a:pt x="0" y="44509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3971421" y="4515028"/>
            <a:ext cx="1880075" cy="5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Simulación de Escenarios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9680" y="5198692"/>
            <a:ext cx="2269383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de impacto de precios y cantidades sobre rentabilidad mediante modelos predictivos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6798" y="4073495"/>
            <a:ext cx="2668187" cy="2402318"/>
          </a:xfrm>
          <a:custGeom>
            <a:avLst/>
            <a:gdLst/>
            <a:ahLst/>
            <a:cxnLst/>
            <a:rect l="l" t="t" r="r" b="b"/>
            <a:pathLst>
              <a:path w="2668187" h="2402318">
                <a:moveTo>
                  <a:pt x="37981" y="0"/>
                </a:moveTo>
                <a:lnTo>
                  <a:pt x="2516264" y="0"/>
                </a:lnTo>
                <a:cubicBezTo>
                  <a:pt x="2600169" y="0"/>
                  <a:pt x="2668187" y="68018"/>
                  <a:pt x="2668187" y="151923"/>
                </a:cubicBezTo>
                <a:lnTo>
                  <a:pt x="2668187" y="2250395"/>
                </a:lnTo>
                <a:cubicBezTo>
                  <a:pt x="2668187" y="2334300"/>
                  <a:pt x="2600169" y="2402318"/>
                  <a:pt x="2516264" y="2402318"/>
                </a:cubicBez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6798" y="4073495"/>
            <a:ext cx="37981" cy="2402318"/>
          </a:xfrm>
          <a:custGeom>
            <a:avLst/>
            <a:gdLst/>
            <a:ahLst/>
            <a:cxnLst/>
            <a:rect l="l" t="t" r="r" b="b"/>
            <a:pathLst>
              <a:path w="37981" h="2402318">
                <a:moveTo>
                  <a:pt x="37981" y="0"/>
                </a:moveTo>
                <a:lnTo>
                  <a:pt x="37981" y="0"/>
                </a:lnTo>
                <a:lnTo>
                  <a:pt x="37981" y="2402318"/>
                </a:ln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7920" y="474291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17804" y="17804"/>
                </a:moveTo>
                <a:cubicBezTo>
                  <a:pt x="27651" y="17804"/>
                  <a:pt x="35607" y="25760"/>
                  <a:pt x="35607" y="35607"/>
                </a:cubicBezTo>
                <a:lnTo>
                  <a:pt x="35607" y="222547"/>
                </a:lnTo>
                <a:cubicBezTo>
                  <a:pt x="35607" y="227443"/>
                  <a:pt x="39613" y="231449"/>
                  <a:pt x="44509" y="231449"/>
                </a:cubicBezTo>
                <a:lnTo>
                  <a:pt x="267056" y="231449"/>
                </a:lnTo>
                <a:cubicBezTo>
                  <a:pt x="276904" y="231449"/>
                  <a:pt x="284860" y="239405"/>
                  <a:pt x="284860" y="249252"/>
                </a:cubicBezTo>
                <a:cubicBezTo>
                  <a:pt x="284860" y="259100"/>
                  <a:pt x="276904" y="267056"/>
                  <a:pt x="267056" y="267056"/>
                </a:cubicBezTo>
                <a:lnTo>
                  <a:pt x="44509" y="267056"/>
                </a:lnTo>
                <a:cubicBezTo>
                  <a:pt x="19918" y="267056"/>
                  <a:pt x="0" y="247138"/>
                  <a:pt x="0" y="222547"/>
                </a:cubicBezTo>
                <a:lnTo>
                  <a:pt x="0" y="35607"/>
                </a:lnTo>
                <a:cubicBezTo>
                  <a:pt x="0" y="25760"/>
                  <a:pt x="7956" y="17804"/>
                  <a:pt x="17804" y="17804"/>
                </a:cubicBezTo>
                <a:close/>
                <a:moveTo>
                  <a:pt x="71215" y="53411"/>
                </a:moveTo>
                <a:cubicBezTo>
                  <a:pt x="71215" y="43564"/>
                  <a:pt x="79171" y="35607"/>
                  <a:pt x="89019" y="35607"/>
                </a:cubicBezTo>
                <a:lnTo>
                  <a:pt x="195841" y="35607"/>
                </a:lnTo>
                <a:cubicBezTo>
                  <a:pt x="205689" y="35607"/>
                  <a:pt x="213645" y="43564"/>
                  <a:pt x="213645" y="53411"/>
                </a:cubicBezTo>
                <a:cubicBezTo>
                  <a:pt x="213645" y="63259"/>
                  <a:pt x="205689" y="71215"/>
                  <a:pt x="195841" y="71215"/>
                </a:cubicBezTo>
                <a:lnTo>
                  <a:pt x="89019" y="71215"/>
                </a:lnTo>
                <a:cubicBezTo>
                  <a:pt x="79171" y="71215"/>
                  <a:pt x="71215" y="63259"/>
                  <a:pt x="71215" y="53411"/>
                </a:cubicBezTo>
                <a:close/>
                <a:moveTo>
                  <a:pt x="89019" y="97921"/>
                </a:moveTo>
                <a:lnTo>
                  <a:pt x="160234" y="97921"/>
                </a:lnTo>
                <a:cubicBezTo>
                  <a:pt x="170081" y="97921"/>
                  <a:pt x="178037" y="105877"/>
                  <a:pt x="178037" y="115724"/>
                </a:cubicBezTo>
                <a:cubicBezTo>
                  <a:pt x="178037" y="125572"/>
                  <a:pt x="170081" y="133528"/>
                  <a:pt x="160234" y="133528"/>
                </a:cubicBezTo>
                <a:lnTo>
                  <a:pt x="89019" y="133528"/>
                </a:lnTo>
                <a:cubicBezTo>
                  <a:pt x="79171" y="133528"/>
                  <a:pt x="71215" y="125572"/>
                  <a:pt x="71215" y="115724"/>
                </a:cubicBezTo>
                <a:cubicBezTo>
                  <a:pt x="71215" y="105877"/>
                  <a:pt x="79171" y="97921"/>
                  <a:pt x="89019" y="97921"/>
                </a:cubicBezTo>
                <a:close/>
                <a:moveTo>
                  <a:pt x="89019" y="160234"/>
                </a:moveTo>
                <a:lnTo>
                  <a:pt x="231449" y="160234"/>
                </a:lnTo>
                <a:cubicBezTo>
                  <a:pt x="241296" y="160234"/>
                  <a:pt x="249252" y="168190"/>
                  <a:pt x="249252" y="178037"/>
                </a:cubicBezTo>
                <a:cubicBezTo>
                  <a:pt x="249252" y="187885"/>
                  <a:pt x="241296" y="195841"/>
                  <a:pt x="231449" y="195841"/>
                </a:cubicBezTo>
                <a:lnTo>
                  <a:pt x="89019" y="195841"/>
                </a:lnTo>
                <a:cubicBezTo>
                  <a:pt x="79171" y="195841"/>
                  <a:pt x="71215" y="187885"/>
                  <a:pt x="71215" y="178037"/>
                </a:cubicBezTo>
                <a:cubicBezTo>
                  <a:pt x="71215" y="168190"/>
                  <a:pt x="79171" y="160234"/>
                  <a:pt x="89019" y="16023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6897643" y="4619477"/>
            <a:ext cx="1861084" cy="5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Interactivos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3677" y="5303140"/>
            <a:ext cx="2269383" cy="626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ejecutiva con KPIs, análisis de productos, canales y evolución temporal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0796" y="4073495"/>
            <a:ext cx="2668187" cy="2402318"/>
          </a:xfrm>
          <a:custGeom>
            <a:avLst/>
            <a:gdLst/>
            <a:ahLst/>
            <a:cxnLst/>
            <a:rect l="l" t="t" r="r" b="b"/>
            <a:pathLst>
              <a:path w="2668187" h="2402318">
                <a:moveTo>
                  <a:pt x="37981" y="0"/>
                </a:moveTo>
                <a:lnTo>
                  <a:pt x="2516264" y="0"/>
                </a:lnTo>
                <a:cubicBezTo>
                  <a:pt x="2600169" y="0"/>
                  <a:pt x="2668187" y="68018"/>
                  <a:pt x="2668187" y="151923"/>
                </a:cubicBezTo>
                <a:lnTo>
                  <a:pt x="2668187" y="2250395"/>
                </a:lnTo>
                <a:cubicBezTo>
                  <a:pt x="2668187" y="2334300"/>
                  <a:pt x="2600169" y="2402318"/>
                  <a:pt x="2516264" y="2402318"/>
                </a:cubicBez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40796" y="4073495"/>
            <a:ext cx="37981" cy="2402318"/>
          </a:xfrm>
          <a:custGeom>
            <a:avLst/>
            <a:gdLst/>
            <a:ahLst/>
            <a:cxnLst/>
            <a:rect l="l" t="t" r="r" b="b"/>
            <a:pathLst>
              <a:path w="37981" h="2402318">
                <a:moveTo>
                  <a:pt x="37981" y="0"/>
                </a:moveTo>
                <a:lnTo>
                  <a:pt x="37981" y="0"/>
                </a:lnTo>
                <a:lnTo>
                  <a:pt x="37981" y="2402318"/>
                </a:lnTo>
                <a:lnTo>
                  <a:pt x="37981" y="2402318"/>
                </a:lnTo>
                <a:cubicBezTo>
                  <a:pt x="17005" y="2402318"/>
                  <a:pt x="0" y="2385313"/>
                  <a:pt x="0" y="236433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Shape 30"/>
          <p:cNvSpPr/>
          <p:nvPr/>
        </p:nvSpPr>
        <p:spPr>
          <a:xfrm>
            <a:off x="9401917" y="474291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249252" y="142430"/>
                </a:moveTo>
                <a:cubicBezTo>
                  <a:pt x="249252" y="83473"/>
                  <a:pt x="201387" y="35607"/>
                  <a:pt x="142430" y="35607"/>
                </a:cubicBezTo>
                <a:cubicBezTo>
                  <a:pt x="83473" y="35607"/>
                  <a:pt x="35607" y="83473"/>
                  <a:pt x="35607" y="142430"/>
                </a:cubicBezTo>
                <a:cubicBezTo>
                  <a:pt x="35607" y="201387"/>
                  <a:pt x="83473" y="249252"/>
                  <a:pt x="142430" y="249252"/>
                </a:cubicBezTo>
                <a:cubicBezTo>
                  <a:pt x="201387" y="249252"/>
                  <a:pt x="249252" y="201387"/>
                  <a:pt x="249252" y="142430"/>
                </a:cubicBezTo>
                <a:close/>
                <a:moveTo>
                  <a:pt x="0" y="142430"/>
                </a:moveTo>
                <a:cubicBezTo>
                  <a:pt x="0" y="63821"/>
                  <a:pt x="63821" y="0"/>
                  <a:pt x="142430" y="0"/>
                </a:cubicBezTo>
                <a:cubicBezTo>
                  <a:pt x="221039" y="0"/>
                  <a:pt x="284860" y="63821"/>
                  <a:pt x="284860" y="142430"/>
                </a:cubicBezTo>
                <a:cubicBezTo>
                  <a:pt x="284860" y="221039"/>
                  <a:pt x="221039" y="284860"/>
                  <a:pt x="142430" y="284860"/>
                </a:cubicBezTo>
                <a:cubicBezTo>
                  <a:pt x="63821" y="284860"/>
                  <a:pt x="0" y="221039"/>
                  <a:pt x="0" y="142430"/>
                </a:cubicBezTo>
                <a:close/>
                <a:moveTo>
                  <a:pt x="142430" y="186939"/>
                </a:moveTo>
                <a:cubicBezTo>
                  <a:pt x="166995" y="186939"/>
                  <a:pt x="186939" y="166995"/>
                  <a:pt x="186939" y="142430"/>
                </a:cubicBezTo>
                <a:cubicBezTo>
                  <a:pt x="186939" y="117865"/>
                  <a:pt x="166995" y="97921"/>
                  <a:pt x="142430" y="97921"/>
                </a:cubicBezTo>
                <a:cubicBezTo>
                  <a:pt x="117865" y="97921"/>
                  <a:pt x="97921" y="117865"/>
                  <a:pt x="97921" y="142430"/>
                </a:cubicBezTo>
                <a:cubicBezTo>
                  <a:pt x="97921" y="166995"/>
                  <a:pt x="117865" y="186939"/>
                  <a:pt x="142430" y="186939"/>
                </a:cubicBezTo>
                <a:close/>
                <a:moveTo>
                  <a:pt x="142430" y="62313"/>
                </a:moveTo>
                <a:cubicBezTo>
                  <a:pt x="186648" y="62313"/>
                  <a:pt x="222547" y="98212"/>
                  <a:pt x="222547" y="142430"/>
                </a:cubicBezTo>
                <a:cubicBezTo>
                  <a:pt x="222547" y="186648"/>
                  <a:pt x="186648" y="222547"/>
                  <a:pt x="142430" y="222547"/>
                </a:cubicBezTo>
                <a:cubicBezTo>
                  <a:pt x="98212" y="222547"/>
                  <a:pt x="62313" y="186648"/>
                  <a:pt x="62313" y="142430"/>
                </a:cubicBezTo>
                <a:cubicBezTo>
                  <a:pt x="62313" y="98212"/>
                  <a:pt x="98212" y="62313"/>
                  <a:pt x="142430" y="62313"/>
                </a:cubicBezTo>
                <a:close/>
                <a:moveTo>
                  <a:pt x="124626" y="142430"/>
                </a:moveTo>
                <a:cubicBezTo>
                  <a:pt x="124626" y="132604"/>
                  <a:pt x="132604" y="124626"/>
                  <a:pt x="142430" y="124626"/>
                </a:cubicBezTo>
                <a:cubicBezTo>
                  <a:pt x="152256" y="124626"/>
                  <a:pt x="160234" y="132604"/>
                  <a:pt x="160234" y="142430"/>
                </a:cubicBezTo>
                <a:cubicBezTo>
                  <a:pt x="160234" y="152256"/>
                  <a:pt x="152256" y="160234"/>
                  <a:pt x="142430" y="160234"/>
                </a:cubicBezTo>
                <a:cubicBezTo>
                  <a:pt x="132604" y="160234"/>
                  <a:pt x="124626" y="152256"/>
                  <a:pt x="124626" y="14243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9815201" y="4619477"/>
            <a:ext cx="1861084" cy="5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Decisiones Estratégicas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87674" y="5303140"/>
            <a:ext cx="2269383" cy="626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Respaldo de decisiones en pricing, mix de productos y planificación comercial con datos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93757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113946" y="0"/>
                </a:moveTo>
                <a:lnTo>
                  <a:pt x="417792" y="0"/>
                </a:lnTo>
                <a:cubicBezTo>
                  <a:pt x="480681" y="0"/>
                  <a:pt x="531738" y="51058"/>
                  <a:pt x="531738" y="113946"/>
                </a:cubicBezTo>
                <a:lnTo>
                  <a:pt x="531738" y="417792"/>
                </a:lnTo>
                <a:cubicBezTo>
                  <a:pt x="531738" y="480681"/>
                  <a:pt x="480681" y="531738"/>
                  <a:pt x="417792" y="531738"/>
                </a:cubicBezTo>
                <a:lnTo>
                  <a:pt x="113946" y="531738"/>
                </a:lnTo>
                <a:cubicBezTo>
                  <a:pt x="51058" y="531738"/>
                  <a:pt x="0" y="480681"/>
                  <a:pt x="0" y="417792"/>
                </a:cubicBez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531738" y="64568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99402" y="113944"/>
                </a:moveTo>
                <a:cubicBezTo>
                  <a:pt x="199402" y="66778"/>
                  <a:pt x="161109" y="28486"/>
                  <a:pt x="113944" y="28486"/>
                </a:cubicBezTo>
                <a:cubicBezTo>
                  <a:pt x="66778" y="28486"/>
                  <a:pt x="28486" y="66778"/>
                  <a:pt x="28486" y="113944"/>
                </a:cubicBezTo>
                <a:cubicBezTo>
                  <a:pt x="28486" y="161109"/>
                  <a:pt x="66778" y="199402"/>
                  <a:pt x="113944" y="199402"/>
                </a:cubicBezTo>
                <a:cubicBezTo>
                  <a:pt x="161109" y="199402"/>
                  <a:pt x="199402" y="161109"/>
                  <a:pt x="199402" y="113944"/>
                </a:cubicBezTo>
                <a:close/>
                <a:moveTo>
                  <a:pt x="0" y="113944"/>
                </a:moveTo>
                <a:cubicBezTo>
                  <a:pt x="0" y="51057"/>
                  <a:pt x="51057" y="0"/>
                  <a:pt x="113944" y="0"/>
                </a:cubicBezTo>
                <a:cubicBezTo>
                  <a:pt x="176831" y="0"/>
                  <a:pt x="227888" y="51057"/>
                  <a:pt x="227888" y="113944"/>
                </a:cubicBezTo>
                <a:cubicBezTo>
                  <a:pt x="227888" y="176831"/>
                  <a:pt x="176831" y="227888"/>
                  <a:pt x="113944" y="227888"/>
                </a:cubicBezTo>
                <a:cubicBezTo>
                  <a:pt x="51057" y="227888"/>
                  <a:pt x="0" y="176831"/>
                  <a:pt x="0" y="113944"/>
                </a:cubicBezTo>
                <a:close/>
                <a:moveTo>
                  <a:pt x="113944" y="149551"/>
                </a:moveTo>
                <a:cubicBezTo>
                  <a:pt x="133596" y="149551"/>
                  <a:pt x="149551" y="133596"/>
                  <a:pt x="149551" y="113944"/>
                </a:cubicBezTo>
                <a:cubicBezTo>
                  <a:pt x="149551" y="94292"/>
                  <a:pt x="133596" y="78336"/>
                  <a:pt x="113944" y="78336"/>
                </a:cubicBezTo>
                <a:cubicBezTo>
                  <a:pt x="94292" y="78336"/>
                  <a:pt x="78336" y="94292"/>
                  <a:pt x="78336" y="113944"/>
                </a:cubicBezTo>
                <a:cubicBezTo>
                  <a:pt x="78336" y="133596"/>
                  <a:pt x="94292" y="149551"/>
                  <a:pt x="113944" y="149551"/>
                </a:cubicBezTo>
                <a:close/>
                <a:moveTo>
                  <a:pt x="113944" y="49850"/>
                </a:moveTo>
                <a:cubicBezTo>
                  <a:pt x="149318" y="49850"/>
                  <a:pt x="178037" y="78570"/>
                  <a:pt x="178037" y="113944"/>
                </a:cubicBezTo>
                <a:cubicBezTo>
                  <a:pt x="178037" y="149318"/>
                  <a:pt x="149318" y="178037"/>
                  <a:pt x="113944" y="178037"/>
                </a:cubicBezTo>
                <a:cubicBezTo>
                  <a:pt x="78570" y="178037"/>
                  <a:pt x="49850" y="149318"/>
                  <a:pt x="49850" y="113944"/>
                </a:cubicBezTo>
                <a:cubicBezTo>
                  <a:pt x="49850" y="78570"/>
                  <a:pt x="78570" y="49850"/>
                  <a:pt x="113944" y="49850"/>
                </a:cubicBezTo>
                <a:close/>
                <a:moveTo>
                  <a:pt x="99701" y="113944"/>
                </a:moveTo>
                <a:cubicBezTo>
                  <a:pt x="99701" y="106083"/>
                  <a:pt x="106083" y="99701"/>
                  <a:pt x="113944" y="99701"/>
                </a:cubicBezTo>
                <a:cubicBezTo>
                  <a:pt x="121805" y="99701"/>
                  <a:pt x="128187" y="106083"/>
                  <a:pt x="128187" y="113944"/>
                </a:cubicBezTo>
                <a:cubicBezTo>
                  <a:pt x="128187" y="121805"/>
                  <a:pt x="121805" y="128187"/>
                  <a:pt x="113944" y="128187"/>
                </a:cubicBezTo>
                <a:cubicBezTo>
                  <a:pt x="106083" y="128187"/>
                  <a:pt x="99701" y="121805"/>
                  <a:pt x="99701" y="113944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1025495" y="379813"/>
            <a:ext cx="735887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Estratégicos del Proyecto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5495" y="873570"/>
            <a:ext cx="722594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Six-Pillar Framework para Business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611" y="1447088"/>
            <a:ext cx="5476905" cy="1374923"/>
          </a:xfrm>
          <a:custGeom>
            <a:avLst/>
            <a:gdLst/>
            <a:ahLst/>
            <a:cxnLst/>
            <a:rect l="l" t="t" r="r" b="b"/>
            <a:pathLst>
              <a:path w="5476905" h="1374923">
                <a:moveTo>
                  <a:pt x="151929" y="0"/>
                </a:moveTo>
                <a:lnTo>
                  <a:pt x="5324976" y="0"/>
                </a:lnTo>
                <a:cubicBezTo>
                  <a:pt x="5408884" y="0"/>
                  <a:pt x="5476905" y="68021"/>
                  <a:pt x="5476905" y="151929"/>
                </a:cubicBezTo>
                <a:lnTo>
                  <a:pt x="5476905" y="1222994"/>
                </a:lnTo>
                <a:cubicBezTo>
                  <a:pt x="5476905" y="1306902"/>
                  <a:pt x="5408884" y="1374923"/>
                  <a:pt x="5324976" y="1374923"/>
                </a:cubicBezTo>
                <a:lnTo>
                  <a:pt x="151929" y="1374923"/>
                </a:lnTo>
                <a:cubicBezTo>
                  <a:pt x="68021" y="1374923"/>
                  <a:pt x="0" y="1306902"/>
                  <a:pt x="0" y="1222994"/>
                </a:cubicBezTo>
                <a:lnTo>
                  <a:pt x="0" y="151929"/>
                </a:lnTo>
                <a:cubicBezTo>
                  <a:pt x="0" y="68077"/>
                  <a:pt x="68077" y="0"/>
                  <a:pt x="151929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297" y="1678774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544082" y="1678774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2905" y="1678774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Exploración y Limpieza de Datos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2905" y="2096450"/>
            <a:ext cx="429188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Explorar y limpiar los datos históricos de ventas y marketing para asegurar alta calidad y consistencia en el análisis.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3611" y="3019397"/>
            <a:ext cx="5476905" cy="1621802"/>
          </a:xfrm>
          <a:custGeom>
            <a:avLst/>
            <a:gdLst/>
            <a:ahLst/>
            <a:cxnLst/>
            <a:rect l="l" t="t" r="r" b="b"/>
            <a:pathLst>
              <a:path w="5476905" h="1621802">
                <a:moveTo>
                  <a:pt x="151930" y="0"/>
                </a:moveTo>
                <a:lnTo>
                  <a:pt x="5324974" y="0"/>
                </a:lnTo>
                <a:cubicBezTo>
                  <a:pt x="5408883" y="0"/>
                  <a:pt x="5476905" y="68022"/>
                  <a:pt x="5476905" y="151930"/>
                </a:cubicBezTo>
                <a:lnTo>
                  <a:pt x="5476905" y="1469871"/>
                </a:lnTo>
                <a:cubicBezTo>
                  <a:pt x="5476905" y="1553724"/>
                  <a:pt x="5408827" y="1621802"/>
                  <a:pt x="5324974" y="1621802"/>
                </a:cubicBezTo>
                <a:lnTo>
                  <a:pt x="151930" y="1621802"/>
                </a:lnTo>
                <a:cubicBezTo>
                  <a:pt x="68022" y="1621802"/>
                  <a:pt x="0" y="1553780"/>
                  <a:pt x="0" y="1469871"/>
                </a:cubicBezTo>
                <a:lnTo>
                  <a:pt x="0" y="151930"/>
                </a:lnTo>
                <a:cubicBezTo>
                  <a:pt x="0" y="68022"/>
                  <a:pt x="68022" y="0"/>
                  <a:pt x="151930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5297" y="3251081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82" y="3251081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2905" y="3251081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Identificación de Variables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2905" y="3668757"/>
            <a:ext cx="429188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Identificar variables que afectan el valor de venta y la rentabilidad mediante análisis correlacional y feature importance.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3611" y="4838582"/>
            <a:ext cx="5476905" cy="1374923"/>
          </a:xfrm>
          <a:custGeom>
            <a:avLst/>
            <a:gdLst/>
            <a:ahLst/>
            <a:cxnLst/>
            <a:rect l="l" t="t" r="r" b="b"/>
            <a:pathLst>
              <a:path w="5476905" h="1374923">
                <a:moveTo>
                  <a:pt x="151929" y="0"/>
                </a:moveTo>
                <a:lnTo>
                  <a:pt x="5324976" y="0"/>
                </a:lnTo>
                <a:cubicBezTo>
                  <a:pt x="5408884" y="0"/>
                  <a:pt x="5476905" y="68021"/>
                  <a:pt x="5476905" y="151929"/>
                </a:cubicBezTo>
                <a:lnTo>
                  <a:pt x="5476905" y="1222994"/>
                </a:lnTo>
                <a:cubicBezTo>
                  <a:pt x="5476905" y="1306902"/>
                  <a:pt x="5408884" y="1374923"/>
                  <a:pt x="5324976" y="1374923"/>
                </a:cubicBezTo>
                <a:lnTo>
                  <a:pt x="151929" y="1374923"/>
                </a:lnTo>
                <a:cubicBezTo>
                  <a:pt x="68021" y="1374923"/>
                  <a:pt x="0" y="1306902"/>
                  <a:pt x="0" y="1222994"/>
                </a:cubicBezTo>
                <a:lnTo>
                  <a:pt x="0" y="151929"/>
                </a:lnTo>
                <a:cubicBezTo>
                  <a:pt x="0" y="68077"/>
                  <a:pt x="68077" y="0"/>
                  <a:pt x="151929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297" y="5070268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82" y="5070268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2905" y="5070268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Construcción de Modelo Predictivo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2905" y="5487944"/>
            <a:ext cx="429188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Desarrollar modelo robusto para estimar ventas futuras y capturar relaciones no lineales complejas en el negocio.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5550" y="1447088"/>
            <a:ext cx="5476905" cy="1374923"/>
          </a:xfrm>
          <a:custGeom>
            <a:avLst/>
            <a:gdLst/>
            <a:ahLst/>
            <a:cxnLst/>
            <a:rect l="l" t="t" r="r" b="b"/>
            <a:pathLst>
              <a:path w="5476905" h="1374923">
                <a:moveTo>
                  <a:pt x="151929" y="0"/>
                </a:moveTo>
                <a:lnTo>
                  <a:pt x="5324976" y="0"/>
                </a:lnTo>
                <a:cubicBezTo>
                  <a:pt x="5408884" y="0"/>
                  <a:pt x="5476905" y="68021"/>
                  <a:pt x="5476905" y="151929"/>
                </a:cubicBezTo>
                <a:lnTo>
                  <a:pt x="5476905" y="1222994"/>
                </a:lnTo>
                <a:cubicBezTo>
                  <a:pt x="5476905" y="1306902"/>
                  <a:pt x="5408884" y="1374923"/>
                  <a:pt x="5324976" y="1374923"/>
                </a:cubicBezTo>
                <a:lnTo>
                  <a:pt x="151929" y="1374923"/>
                </a:lnTo>
                <a:cubicBezTo>
                  <a:pt x="68021" y="1374923"/>
                  <a:pt x="0" y="1306902"/>
                  <a:pt x="0" y="1222994"/>
                </a:cubicBezTo>
                <a:lnTo>
                  <a:pt x="0" y="151929"/>
                </a:lnTo>
                <a:cubicBezTo>
                  <a:pt x="0" y="68077"/>
                  <a:pt x="68077" y="0"/>
                  <a:pt x="151929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7236" y="1678774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6486021" y="1678774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54843" y="1678774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Simulación de Escenarios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54843" y="2096450"/>
            <a:ext cx="429188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Simular escenarios de precio y cantidad para evaluar impacto en rentabilidad y optimizar estrategia comercial.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5550" y="3019397"/>
            <a:ext cx="5476905" cy="1374923"/>
          </a:xfrm>
          <a:custGeom>
            <a:avLst/>
            <a:gdLst/>
            <a:ahLst/>
            <a:cxnLst/>
            <a:rect l="l" t="t" r="r" b="b"/>
            <a:pathLst>
              <a:path w="5476905" h="1374923">
                <a:moveTo>
                  <a:pt x="151929" y="0"/>
                </a:moveTo>
                <a:lnTo>
                  <a:pt x="5324976" y="0"/>
                </a:lnTo>
                <a:cubicBezTo>
                  <a:pt x="5408884" y="0"/>
                  <a:pt x="5476905" y="68021"/>
                  <a:pt x="5476905" y="151929"/>
                </a:cubicBezTo>
                <a:lnTo>
                  <a:pt x="5476905" y="1222994"/>
                </a:lnTo>
                <a:cubicBezTo>
                  <a:pt x="5476905" y="1306902"/>
                  <a:pt x="5408884" y="1374923"/>
                  <a:pt x="5324976" y="1374923"/>
                </a:cubicBezTo>
                <a:lnTo>
                  <a:pt x="151929" y="1374923"/>
                </a:lnTo>
                <a:cubicBezTo>
                  <a:pt x="68021" y="1374923"/>
                  <a:pt x="0" y="1306902"/>
                  <a:pt x="0" y="1222994"/>
                </a:cubicBezTo>
                <a:lnTo>
                  <a:pt x="0" y="151929"/>
                </a:lnTo>
                <a:cubicBezTo>
                  <a:pt x="0" y="68077"/>
                  <a:pt x="68077" y="0"/>
                  <a:pt x="151929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7236" y="3251081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6486021" y="3251081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54843" y="3251081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Crear Dashboards Interactivos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54843" y="3668757"/>
            <a:ext cx="4291888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Desarrollar visualizaciones ejecutivas que integren KPIs, productos, canales y evolución temporal con Plotly y Streamlit.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5550" y="4591703"/>
            <a:ext cx="5476905" cy="1621802"/>
          </a:xfrm>
          <a:custGeom>
            <a:avLst/>
            <a:gdLst/>
            <a:ahLst/>
            <a:cxnLst/>
            <a:rect l="l" t="t" r="r" b="b"/>
            <a:pathLst>
              <a:path w="5476905" h="1621802">
                <a:moveTo>
                  <a:pt x="151930" y="0"/>
                </a:moveTo>
                <a:lnTo>
                  <a:pt x="5324974" y="0"/>
                </a:lnTo>
                <a:cubicBezTo>
                  <a:pt x="5408883" y="0"/>
                  <a:pt x="5476905" y="68022"/>
                  <a:pt x="5476905" y="151930"/>
                </a:cubicBezTo>
                <a:lnTo>
                  <a:pt x="5476905" y="1469871"/>
                </a:lnTo>
                <a:cubicBezTo>
                  <a:pt x="5476905" y="1553724"/>
                  <a:pt x="5408827" y="1621802"/>
                  <a:pt x="5324974" y="1621802"/>
                </a:cubicBezTo>
                <a:lnTo>
                  <a:pt x="151930" y="1621802"/>
                </a:lnTo>
                <a:cubicBezTo>
                  <a:pt x="68022" y="1621802"/>
                  <a:pt x="0" y="1553780"/>
                  <a:pt x="0" y="1469871"/>
                </a:cubicBezTo>
                <a:lnTo>
                  <a:pt x="0" y="151930"/>
                </a:lnTo>
                <a:cubicBezTo>
                  <a:pt x="0" y="68022"/>
                  <a:pt x="68022" y="0"/>
                  <a:pt x="151930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57236" y="4823390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13944" y="0"/>
                </a:moveTo>
                <a:lnTo>
                  <a:pt x="493757" y="0"/>
                </a:lnTo>
                <a:cubicBezTo>
                  <a:pt x="556687" y="0"/>
                  <a:pt x="607701" y="51014"/>
                  <a:pt x="607701" y="113944"/>
                </a:cubicBezTo>
                <a:lnTo>
                  <a:pt x="607701" y="493757"/>
                </a:lnTo>
                <a:cubicBezTo>
                  <a:pt x="607701" y="556687"/>
                  <a:pt x="556687" y="607701"/>
                  <a:pt x="493757" y="607701"/>
                </a:cubicBezTo>
                <a:lnTo>
                  <a:pt x="113944" y="607701"/>
                </a:lnTo>
                <a:cubicBezTo>
                  <a:pt x="51014" y="607701"/>
                  <a:pt x="0" y="556687"/>
                  <a:pt x="0" y="493757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6486021" y="4823390"/>
            <a:ext cx="750131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54843" y="4823390"/>
            <a:ext cx="4329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Producir Análisis Accionable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54843" y="5241066"/>
            <a:ext cx="4291888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Generar insights comprensibles para la toma de decisiones estratégicas en pricing, mix de productos y planificación comercial.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7476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512748" y="60770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49628" y="13464"/>
                </a:moveTo>
                <a:cubicBezTo>
                  <a:pt x="53671" y="16283"/>
                  <a:pt x="54635" y="21847"/>
                  <a:pt x="51816" y="25853"/>
                </a:cubicBezTo>
                <a:lnTo>
                  <a:pt x="31045" y="55525"/>
                </a:lnTo>
                <a:cubicBezTo>
                  <a:pt x="29525" y="57677"/>
                  <a:pt x="27151" y="59049"/>
                  <a:pt x="24517" y="59272"/>
                </a:cubicBezTo>
                <a:cubicBezTo>
                  <a:pt x="21884" y="59494"/>
                  <a:pt x="19287" y="58604"/>
                  <a:pt x="17433" y="56749"/>
                </a:cubicBezTo>
                <a:lnTo>
                  <a:pt x="2596" y="41913"/>
                </a:lnTo>
                <a:cubicBezTo>
                  <a:pt x="-853" y="38426"/>
                  <a:pt x="-853" y="32789"/>
                  <a:pt x="2596" y="29302"/>
                </a:cubicBezTo>
                <a:cubicBezTo>
                  <a:pt x="6046" y="25815"/>
                  <a:pt x="11721" y="25853"/>
                  <a:pt x="15207" y="29302"/>
                </a:cubicBezTo>
                <a:lnTo>
                  <a:pt x="22551" y="36646"/>
                </a:lnTo>
                <a:lnTo>
                  <a:pt x="37239" y="15652"/>
                </a:lnTo>
                <a:cubicBezTo>
                  <a:pt x="40058" y="11610"/>
                  <a:pt x="45622" y="10645"/>
                  <a:pt x="49628" y="13464"/>
                </a:cubicBezTo>
                <a:close/>
                <a:moveTo>
                  <a:pt x="49628" y="72810"/>
                </a:moveTo>
                <a:cubicBezTo>
                  <a:pt x="53671" y="75629"/>
                  <a:pt x="54635" y="81192"/>
                  <a:pt x="51816" y="85198"/>
                </a:cubicBezTo>
                <a:lnTo>
                  <a:pt x="31045" y="114871"/>
                </a:lnTo>
                <a:cubicBezTo>
                  <a:pt x="29525" y="117022"/>
                  <a:pt x="27151" y="118395"/>
                  <a:pt x="24517" y="118617"/>
                </a:cubicBezTo>
                <a:cubicBezTo>
                  <a:pt x="21884" y="118840"/>
                  <a:pt x="19287" y="117950"/>
                  <a:pt x="17433" y="116095"/>
                </a:cubicBezTo>
                <a:lnTo>
                  <a:pt x="2596" y="101259"/>
                </a:lnTo>
                <a:cubicBezTo>
                  <a:pt x="-890" y="97772"/>
                  <a:pt x="-890" y="92134"/>
                  <a:pt x="2596" y="88685"/>
                </a:cubicBezTo>
                <a:cubicBezTo>
                  <a:pt x="6083" y="85235"/>
                  <a:pt x="11721" y="85198"/>
                  <a:pt x="15170" y="88685"/>
                </a:cubicBezTo>
                <a:lnTo>
                  <a:pt x="22514" y="96029"/>
                </a:lnTo>
                <a:lnTo>
                  <a:pt x="37202" y="75035"/>
                </a:lnTo>
                <a:cubicBezTo>
                  <a:pt x="40021" y="70992"/>
                  <a:pt x="45585" y="70028"/>
                  <a:pt x="49591" y="72847"/>
                </a:cubicBezTo>
                <a:close/>
                <a:moveTo>
                  <a:pt x="83084" y="35607"/>
                </a:moveTo>
                <a:cubicBezTo>
                  <a:pt x="83084" y="29042"/>
                  <a:pt x="88388" y="23738"/>
                  <a:pt x="94953" y="23738"/>
                </a:cubicBezTo>
                <a:lnTo>
                  <a:pt x="178037" y="23738"/>
                </a:lnTo>
                <a:cubicBezTo>
                  <a:pt x="184603" y="23738"/>
                  <a:pt x="189907" y="29042"/>
                  <a:pt x="189907" y="35607"/>
                </a:cubicBezTo>
                <a:cubicBezTo>
                  <a:pt x="189907" y="42173"/>
                  <a:pt x="184603" y="47477"/>
                  <a:pt x="178037" y="47477"/>
                </a:cubicBezTo>
                <a:lnTo>
                  <a:pt x="94953" y="47477"/>
                </a:lnTo>
                <a:cubicBezTo>
                  <a:pt x="88388" y="47477"/>
                  <a:pt x="83084" y="42173"/>
                  <a:pt x="83084" y="35607"/>
                </a:cubicBezTo>
                <a:close/>
                <a:moveTo>
                  <a:pt x="83084" y="94953"/>
                </a:moveTo>
                <a:cubicBezTo>
                  <a:pt x="83084" y="88388"/>
                  <a:pt x="88388" y="83084"/>
                  <a:pt x="94953" y="83084"/>
                </a:cubicBezTo>
                <a:lnTo>
                  <a:pt x="178037" y="83084"/>
                </a:lnTo>
                <a:cubicBezTo>
                  <a:pt x="184603" y="83084"/>
                  <a:pt x="189907" y="88388"/>
                  <a:pt x="189907" y="94953"/>
                </a:cubicBezTo>
                <a:cubicBezTo>
                  <a:pt x="189907" y="101518"/>
                  <a:pt x="184603" y="106822"/>
                  <a:pt x="178037" y="106822"/>
                </a:cubicBezTo>
                <a:lnTo>
                  <a:pt x="94953" y="106822"/>
                </a:lnTo>
                <a:cubicBezTo>
                  <a:pt x="88388" y="106822"/>
                  <a:pt x="83084" y="101518"/>
                  <a:pt x="83084" y="94953"/>
                </a:cubicBezTo>
                <a:close/>
                <a:moveTo>
                  <a:pt x="59346" y="154299"/>
                </a:moveTo>
                <a:cubicBezTo>
                  <a:pt x="59346" y="147734"/>
                  <a:pt x="64650" y="142430"/>
                  <a:pt x="71215" y="142430"/>
                </a:cubicBezTo>
                <a:lnTo>
                  <a:pt x="178037" y="142430"/>
                </a:lnTo>
                <a:cubicBezTo>
                  <a:pt x="184603" y="142430"/>
                  <a:pt x="189907" y="147734"/>
                  <a:pt x="189907" y="154299"/>
                </a:cubicBezTo>
                <a:cubicBezTo>
                  <a:pt x="189907" y="160864"/>
                  <a:pt x="184603" y="166168"/>
                  <a:pt x="178037" y="166168"/>
                </a:cubicBezTo>
                <a:lnTo>
                  <a:pt x="71215" y="166168"/>
                </a:lnTo>
                <a:cubicBezTo>
                  <a:pt x="64650" y="166168"/>
                  <a:pt x="59346" y="160864"/>
                  <a:pt x="59346" y="154299"/>
                </a:cubicBezTo>
                <a:close/>
                <a:moveTo>
                  <a:pt x="23738" y="139463"/>
                </a:moveTo>
                <a:cubicBezTo>
                  <a:pt x="31927" y="139463"/>
                  <a:pt x="38575" y="146111"/>
                  <a:pt x="38575" y="154299"/>
                </a:cubicBezTo>
                <a:cubicBezTo>
                  <a:pt x="38575" y="162488"/>
                  <a:pt x="31927" y="169136"/>
                  <a:pt x="23738" y="169136"/>
                </a:cubicBezTo>
                <a:cubicBezTo>
                  <a:pt x="15550" y="169136"/>
                  <a:pt x="8902" y="162488"/>
                  <a:pt x="8902" y="154299"/>
                </a:cubicBezTo>
                <a:cubicBezTo>
                  <a:pt x="8902" y="146111"/>
                  <a:pt x="15550" y="139463"/>
                  <a:pt x="23738" y="139463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949533" y="379813"/>
            <a:ext cx="344680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 Analítica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9533" y="759626"/>
            <a:ext cx="336134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 de Etapas Realizadas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611" y="1257181"/>
            <a:ext cx="11420979" cy="5211036"/>
          </a:xfrm>
          <a:custGeom>
            <a:avLst/>
            <a:gdLst/>
            <a:ahLst/>
            <a:cxnLst/>
            <a:rect l="l" t="t" r="r" b="b"/>
            <a:pathLst>
              <a:path w="11420979" h="5211036">
                <a:moveTo>
                  <a:pt x="113965" y="0"/>
                </a:moveTo>
                <a:lnTo>
                  <a:pt x="11307014" y="0"/>
                </a:lnTo>
                <a:cubicBezTo>
                  <a:pt x="11369955" y="0"/>
                  <a:pt x="11420979" y="51024"/>
                  <a:pt x="11420979" y="113965"/>
                </a:cubicBezTo>
                <a:lnTo>
                  <a:pt x="11420979" y="5097070"/>
                </a:lnTo>
                <a:cubicBezTo>
                  <a:pt x="11420979" y="5160011"/>
                  <a:pt x="11369955" y="5211036"/>
                  <a:pt x="11307014" y="5211036"/>
                </a:cubicBezTo>
                <a:lnTo>
                  <a:pt x="113965" y="5211036"/>
                </a:lnTo>
                <a:cubicBezTo>
                  <a:pt x="51024" y="5211036"/>
                  <a:pt x="0" y="5160011"/>
                  <a:pt x="0" y="5097070"/>
                </a:cubicBezTo>
                <a:lnTo>
                  <a:pt x="0" y="113965"/>
                </a:lnTo>
                <a:cubicBezTo>
                  <a:pt x="0" y="51066"/>
                  <a:pt x="51066" y="0"/>
                  <a:pt x="11396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7409" y="1260980"/>
            <a:ext cx="1899065" cy="531738"/>
          </a:xfrm>
          <a:custGeom>
            <a:avLst/>
            <a:gdLst/>
            <a:ahLst/>
            <a:cxnLst/>
            <a:rect l="l" t="t" r="r" b="b"/>
            <a:pathLst>
              <a:path w="1899065" h="531738">
                <a:moveTo>
                  <a:pt x="113946" y="0"/>
                </a:moveTo>
                <a:lnTo>
                  <a:pt x="1899065" y="0"/>
                </a:lnTo>
                <a:lnTo>
                  <a:pt x="1899065" y="531738"/>
                </a:lnTo>
                <a:lnTo>
                  <a:pt x="0" y="531738"/>
                </a:ln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1107986" y="1412905"/>
            <a:ext cx="46527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93359" y="1260980"/>
            <a:ext cx="2852396" cy="531738"/>
          </a:xfrm>
          <a:custGeom>
            <a:avLst/>
            <a:gdLst/>
            <a:ahLst/>
            <a:cxnLst/>
            <a:rect l="l" t="t" r="r" b="b"/>
            <a:pathLst>
              <a:path w="2852396" h="531738">
                <a:moveTo>
                  <a:pt x="0" y="0"/>
                </a:moveTo>
                <a:lnTo>
                  <a:pt x="2852396" y="0"/>
                </a:lnTo>
                <a:lnTo>
                  <a:pt x="28523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Shape 8"/>
          <p:cNvSpPr/>
          <p:nvPr/>
        </p:nvSpPr>
        <p:spPr>
          <a:xfrm>
            <a:off x="2293359" y="1260980"/>
            <a:ext cx="7596" cy="531738"/>
          </a:xfrm>
          <a:custGeom>
            <a:avLst/>
            <a:gdLst/>
            <a:ahLst/>
            <a:cxnLst/>
            <a:rect l="l" t="t" r="r" b="b"/>
            <a:pathLst>
              <a:path w="7596" h="531738">
                <a:moveTo>
                  <a:pt x="0" y="0"/>
                </a:moveTo>
                <a:lnTo>
                  <a:pt x="7596" y="0"/>
                </a:lnTo>
                <a:lnTo>
                  <a:pt x="75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1A202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02057" y="1412905"/>
            <a:ext cx="63618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6586" y="1260980"/>
            <a:ext cx="1902864" cy="531738"/>
          </a:xfrm>
          <a:custGeom>
            <a:avLst/>
            <a:gdLst/>
            <a:ahLst/>
            <a:cxnLst/>
            <a:rect l="l" t="t" r="r" b="b"/>
            <a:pathLst>
              <a:path w="1902864" h="531738">
                <a:moveTo>
                  <a:pt x="0" y="0"/>
                </a:moveTo>
                <a:lnTo>
                  <a:pt x="1902864" y="0"/>
                </a:lnTo>
                <a:lnTo>
                  <a:pt x="1902864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Shape 11"/>
          <p:cNvSpPr/>
          <p:nvPr/>
        </p:nvSpPr>
        <p:spPr>
          <a:xfrm>
            <a:off x="5146586" y="1260980"/>
            <a:ext cx="7596" cy="531738"/>
          </a:xfrm>
          <a:custGeom>
            <a:avLst/>
            <a:gdLst/>
            <a:ahLst/>
            <a:cxnLst/>
            <a:rect l="l" t="t" r="r" b="b"/>
            <a:pathLst>
              <a:path w="7596" h="531738">
                <a:moveTo>
                  <a:pt x="0" y="0"/>
                </a:moveTo>
                <a:lnTo>
                  <a:pt x="7596" y="0"/>
                </a:lnTo>
                <a:lnTo>
                  <a:pt x="75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1A202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75722" y="1412905"/>
            <a:ext cx="164269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Técnicas/Herramientas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8737" y="1260980"/>
            <a:ext cx="2852396" cy="531738"/>
          </a:xfrm>
          <a:custGeom>
            <a:avLst/>
            <a:gdLst/>
            <a:ahLst/>
            <a:cxnLst/>
            <a:rect l="l" t="t" r="r" b="b"/>
            <a:pathLst>
              <a:path w="2852396" h="531738">
                <a:moveTo>
                  <a:pt x="0" y="0"/>
                </a:moveTo>
                <a:lnTo>
                  <a:pt x="2852396" y="0"/>
                </a:lnTo>
                <a:lnTo>
                  <a:pt x="28523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8737" y="1260980"/>
            <a:ext cx="7596" cy="531738"/>
          </a:xfrm>
          <a:custGeom>
            <a:avLst/>
            <a:gdLst/>
            <a:ahLst/>
            <a:cxnLst/>
            <a:rect l="l" t="t" r="r" b="b"/>
            <a:pathLst>
              <a:path w="7596" h="531738">
                <a:moveTo>
                  <a:pt x="0" y="0"/>
                </a:moveTo>
                <a:lnTo>
                  <a:pt x="7596" y="0"/>
                </a:lnTo>
                <a:lnTo>
                  <a:pt x="75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1A202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102363" y="1412905"/>
            <a:ext cx="75013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1965" y="1260980"/>
            <a:ext cx="1902864" cy="531738"/>
          </a:xfrm>
          <a:custGeom>
            <a:avLst/>
            <a:gdLst/>
            <a:ahLst/>
            <a:cxnLst/>
            <a:rect l="l" t="t" r="r" b="b"/>
            <a:pathLst>
              <a:path w="1902864" h="531738">
                <a:moveTo>
                  <a:pt x="0" y="0"/>
                </a:moveTo>
                <a:lnTo>
                  <a:pt x="1788917" y="0"/>
                </a:lnTo>
                <a:cubicBezTo>
                  <a:pt x="1851848" y="0"/>
                  <a:pt x="1902864" y="51015"/>
                  <a:pt x="1902864" y="113946"/>
                </a:cubicBezTo>
                <a:lnTo>
                  <a:pt x="1902864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1965" y="1260980"/>
            <a:ext cx="7596" cy="531738"/>
          </a:xfrm>
          <a:custGeom>
            <a:avLst/>
            <a:gdLst/>
            <a:ahLst/>
            <a:cxnLst/>
            <a:rect l="l" t="t" r="r" b="b"/>
            <a:pathLst>
              <a:path w="7596" h="531738">
                <a:moveTo>
                  <a:pt x="0" y="0"/>
                </a:moveTo>
                <a:lnTo>
                  <a:pt x="7596" y="0"/>
                </a:lnTo>
                <a:lnTo>
                  <a:pt x="7596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1A202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478925" y="1412905"/>
            <a:ext cx="75013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7409" y="2556143"/>
            <a:ext cx="11270953" cy="7596"/>
          </a:xfrm>
          <a:custGeom>
            <a:avLst/>
            <a:gdLst/>
            <a:ahLst/>
            <a:cxnLst/>
            <a:rect l="l" t="t" r="r" b="b"/>
            <a:pathLst>
              <a:path w="11270953" h="7596">
                <a:moveTo>
                  <a:pt x="0" y="0"/>
                </a:moveTo>
                <a:lnTo>
                  <a:pt x="11270953" y="0"/>
                </a:lnTo>
                <a:lnTo>
                  <a:pt x="1127095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7409" y="1792718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9335" y="2058587"/>
            <a:ext cx="37031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69265" y="1792718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424988" y="2058587"/>
            <a:ext cx="199401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Explorar y entender los datos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6410" y="1792718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42133" y="1944643"/>
            <a:ext cx="164269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Pandas, Matplotlib, Seaborn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64466" y="1792718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120190" y="1944643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relevantes identificadas, dataset limpio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81611" y="1792718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81611" y="1792718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587171" y="2058587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7409" y="3323365"/>
            <a:ext cx="11270953" cy="7596"/>
          </a:xfrm>
          <a:custGeom>
            <a:avLst/>
            <a:gdLst/>
            <a:ahLst/>
            <a:cxnLst/>
            <a:rect l="l" t="t" r="r" b="b"/>
            <a:pathLst>
              <a:path w="11270953" h="7596">
                <a:moveTo>
                  <a:pt x="0" y="0"/>
                </a:moveTo>
                <a:lnTo>
                  <a:pt x="11270953" y="0"/>
                </a:lnTo>
                <a:lnTo>
                  <a:pt x="1127095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7409" y="2559941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9335" y="2825810"/>
            <a:ext cx="88306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Preparación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269265" y="2559941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424988" y="2825810"/>
            <a:ext cx="2032000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Habilitar modelado predictivo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86410" y="2559941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42133" y="2711866"/>
            <a:ext cx="164269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Encoding, Split train/test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64466" y="2559941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120190" y="2825810"/>
            <a:ext cx="224089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listo para Random Forest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781611" y="2559941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781611" y="2559941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587171" y="2825810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7409" y="4090588"/>
            <a:ext cx="11270953" cy="7596"/>
          </a:xfrm>
          <a:custGeom>
            <a:avLst/>
            <a:gdLst/>
            <a:ahLst/>
            <a:cxnLst/>
            <a:rect l="l" t="t" r="r" b="b"/>
            <a:pathLst>
              <a:path w="11270953" h="7596">
                <a:moveTo>
                  <a:pt x="0" y="0"/>
                </a:moveTo>
                <a:lnTo>
                  <a:pt x="11270953" y="0"/>
                </a:lnTo>
                <a:lnTo>
                  <a:pt x="1127095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87409" y="3327164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39335" y="3593033"/>
            <a:ext cx="75013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Modelado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269265" y="3327164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424988" y="3593033"/>
            <a:ext cx="109196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Predecir ventas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86410" y="3327164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242133" y="3479089"/>
            <a:ext cx="164269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964466" y="3327164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120190" y="3479089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robusto, captura relaciones no lineales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781611" y="3327164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81611" y="3327164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587171" y="3593033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7409" y="4857809"/>
            <a:ext cx="11270953" cy="7596"/>
          </a:xfrm>
          <a:custGeom>
            <a:avLst/>
            <a:gdLst/>
            <a:ahLst/>
            <a:cxnLst/>
            <a:rect l="l" t="t" r="r" b="b"/>
            <a:pathLst>
              <a:path w="11270953" h="7596">
                <a:moveTo>
                  <a:pt x="0" y="0"/>
                </a:moveTo>
                <a:lnTo>
                  <a:pt x="11270953" y="0"/>
                </a:lnTo>
                <a:lnTo>
                  <a:pt x="1127095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87409" y="4094385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39335" y="4360254"/>
            <a:ext cx="81659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Simulación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269265" y="4094385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424988" y="4246310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Evaluar impacto de precios y cantidades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86410" y="4094385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242133" y="4360254"/>
            <a:ext cx="151925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Pandas, loops, predict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64466" y="4094385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120190" y="4246310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Escenarios con venta estimada y rentabilidad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781611" y="4094385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781611" y="4094385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587171" y="4360254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87409" y="5625032"/>
            <a:ext cx="11270953" cy="7596"/>
          </a:xfrm>
          <a:custGeom>
            <a:avLst/>
            <a:gdLst/>
            <a:ahLst/>
            <a:cxnLst/>
            <a:rect l="l" t="t" r="r" b="b"/>
            <a:pathLst>
              <a:path w="11270953" h="7596">
                <a:moveTo>
                  <a:pt x="0" y="0"/>
                </a:moveTo>
                <a:lnTo>
                  <a:pt x="11270953" y="0"/>
                </a:lnTo>
                <a:lnTo>
                  <a:pt x="11270953" y="7596"/>
                </a:lnTo>
                <a:lnTo>
                  <a:pt x="0" y="759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87409" y="4861607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39335" y="5127477"/>
            <a:ext cx="131035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Ventas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2269265" y="4861607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2424988" y="5127477"/>
            <a:ext cx="122489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Visualizar insights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086410" y="4861607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5242133" y="5127477"/>
            <a:ext cx="110145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Plotly, Streamlit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964466" y="4861607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120190" y="5013533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KPIs, top productos, top canales, evolución mensual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781611" y="4861607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781611" y="4861607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0587171" y="5127477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7409" y="5628830"/>
            <a:ext cx="1880075" cy="759626"/>
          </a:xfrm>
          <a:custGeom>
            <a:avLst/>
            <a:gdLst/>
            <a:ahLst/>
            <a:cxnLst/>
            <a:rect l="l" t="t" r="r" b="b"/>
            <a:pathLst>
              <a:path w="1880075" h="759626">
                <a:moveTo>
                  <a:pt x="0" y="0"/>
                </a:moveTo>
                <a:lnTo>
                  <a:pt x="1880075" y="0"/>
                </a:lnTo>
                <a:lnTo>
                  <a:pt x="1880075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539335" y="5780756"/>
            <a:ext cx="1652187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Rentabilidad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2269265" y="5628830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2424988" y="5894700"/>
            <a:ext cx="163319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Integrar ventas y costos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5086410" y="5628830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5242133" y="5780756"/>
            <a:ext cx="164269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Plotly, cálculo de margen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964466" y="5628830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7120190" y="5780756"/>
            <a:ext cx="2582729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visual de rentabilidad y margen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9781611" y="5628830"/>
            <a:ext cx="1874378" cy="759626"/>
          </a:xfrm>
          <a:custGeom>
            <a:avLst/>
            <a:gdLst/>
            <a:ahLst/>
            <a:cxnLst/>
            <a:rect l="l" t="t" r="r" b="b"/>
            <a:pathLst>
              <a:path w="1874378" h="759626">
                <a:moveTo>
                  <a:pt x="0" y="0"/>
                </a:moveTo>
                <a:lnTo>
                  <a:pt x="1874378" y="0"/>
                </a:lnTo>
                <a:lnTo>
                  <a:pt x="1874378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9781611" y="5628830"/>
            <a:ext cx="7596" cy="759626"/>
          </a:xfrm>
          <a:custGeom>
            <a:avLst/>
            <a:gdLst/>
            <a:ahLst/>
            <a:cxnLst/>
            <a:rect l="l" t="t" r="r" b="b"/>
            <a:pathLst>
              <a:path w="7596" h="759626">
                <a:moveTo>
                  <a:pt x="0" y="0"/>
                </a:moveTo>
                <a:lnTo>
                  <a:pt x="7596" y="0"/>
                </a:lnTo>
                <a:lnTo>
                  <a:pt x="7596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0587171" y="5894700"/>
            <a:ext cx="34183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47037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75261" y="0"/>
                </a:moveTo>
                <a:lnTo>
                  <a:pt x="376295" y="0"/>
                </a:lnTo>
                <a:cubicBezTo>
                  <a:pt x="417860" y="0"/>
                  <a:pt x="451556" y="33695"/>
                  <a:pt x="451556" y="75261"/>
                </a:cubicBezTo>
                <a:lnTo>
                  <a:pt x="451556" y="376295"/>
                </a:lnTo>
                <a:cubicBezTo>
                  <a:pt x="451556" y="417860"/>
                  <a:pt x="417860" y="451556"/>
                  <a:pt x="376295" y="451556"/>
                </a:cubicBezTo>
                <a:lnTo>
                  <a:pt x="75261" y="451556"/>
                </a:lnTo>
                <a:cubicBezTo>
                  <a:pt x="33695" y="451556"/>
                  <a:pt x="0" y="417860"/>
                  <a:pt x="0" y="376295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602074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152870" y="76435"/>
                </a:moveTo>
                <a:cubicBezTo>
                  <a:pt x="152870" y="93302"/>
                  <a:pt x="147395" y="108883"/>
                  <a:pt x="138171" y="121525"/>
                </a:cubicBezTo>
                <a:lnTo>
                  <a:pt x="184694" y="168084"/>
                </a:lnTo>
                <a:cubicBezTo>
                  <a:pt x="189287" y="172677"/>
                  <a:pt x="189287" y="180137"/>
                  <a:pt x="184694" y="184731"/>
                </a:cubicBezTo>
                <a:cubicBezTo>
                  <a:pt x="180100" y="189324"/>
                  <a:pt x="172641" y="189324"/>
                  <a:pt x="168047" y="184731"/>
                </a:cubicBezTo>
                <a:lnTo>
                  <a:pt x="121525" y="138171"/>
                </a:lnTo>
                <a:cubicBezTo>
                  <a:pt x="108883" y="147395"/>
                  <a:pt x="93302" y="152870"/>
                  <a:pt x="76435" y="152870"/>
                </a:cubicBezTo>
                <a:cubicBezTo>
                  <a:pt x="34212" y="152870"/>
                  <a:pt x="0" y="118658"/>
                  <a:pt x="0" y="76435"/>
                </a:cubicBezTo>
                <a:cubicBezTo>
                  <a:pt x="0" y="34212"/>
                  <a:pt x="34212" y="0"/>
                  <a:pt x="76435" y="0"/>
                </a:cubicBezTo>
                <a:cubicBezTo>
                  <a:pt x="118658" y="0"/>
                  <a:pt x="152870" y="34212"/>
                  <a:pt x="152870" y="76435"/>
                </a:cubicBezTo>
                <a:close/>
                <a:moveTo>
                  <a:pt x="76435" y="129352"/>
                </a:moveTo>
                <a:cubicBezTo>
                  <a:pt x="105641" y="129352"/>
                  <a:pt x="129352" y="105641"/>
                  <a:pt x="129352" y="76435"/>
                </a:cubicBezTo>
                <a:cubicBezTo>
                  <a:pt x="129352" y="47230"/>
                  <a:pt x="105641" y="23519"/>
                  <a:pt x="76435" y="23519"/>
                </a:cubicBezTo>
                <a:cubicBezTo>
                  <a:pt x="47230" y="23519"/>
                  <a:pt x="23519" y="47230"/>
                  <a:pt x="23519" y="76435"/>
                </a:cubicBezTo>
                <a:cubicBezTo>
                  <a:pt x="23519" y="105641"/>
                  <a:pt x="47230" y="129352"/>
                  <a:pt x="76435" y="129352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940741" y="376296"/>
            <a:ext cx="4374444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Fase 1: Exploración de Datos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0741" y="752593"/>
            <a:ext cx="4289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Exploratorio y Preparación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059" y="1245541"/>
            <a:ext cx="7552267" cy="2171230"/>
          </a:xfrm>
          <a:custGeom>
            <a:avLst/>
            <a:gdLst/>
            <a:ahLst/>
            <a:cxnLst/>
            <a:rect l="l" t="t" r="r" b="b"/>
            <a:pathLst>
              <a:path w="7552267" h="2171230">
                <a:moveTo>
                  <a:pt x="112882" y="0"/>
                </a:moveTo>
                <a:lnTo>
                  <a:pt x="7439384" y="0"/>
                </a:lnTo>
                <a:cubicBezTo>
                  <a:pt x="7501728" y="0"/>
                  <a:pt x="7552267" y="50539"/>
                  <a:pt x="7552267" y="112882"/>
                </a:cubicBezTo>
                <a:lnTo>
                  <a:pt x="7552267" y="2058347"/>
                </a:lnTo>
                <a:cubicBezTo>
                  <a:pt x="7552267" y="2120691"/>
                  <a:pt x="7501728" y="2171230"/>
                  <a:pt x="7439384" y="2171230"/>
                </a:cubicBezTo>
                <a:lnTo>
                  <a:pt x="112882" y="2171230"/>
                </a:lnTo>
                <a:cubicBezTo>
                  <a:pt x="50539" y="2171230"/>
                  <a:pt x="0" y="2120691"/>
                  <a:pt x="0" y="2058347"/>
                </a:cubicBezTo>
                <a:lnTo>
                  <a:pt x="0" y="112882"/>
                </a:lnTo>
                <a:cubicBezTo>
                  <a:pt x="0" y="50539"/>
                  <a:pt x="50539" y="0"/>
                  <a:pt x="11288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933" y="1512594"/>
            <a:ext cx="197556" cy="225778"/>
          </a:xfrm>
          <a:custGeom>
            <a:avLst/>
            <a:gdLst/>
            <a:ahLst/>
            <a:cxnLst/>
            <a:rect l="l" t="t" r="r" b="b"/>
            <a:pathLst>
              <a:path w="197556" h="225778">
                <a:moveTo>
                  <a:pt x="197556" y="90752"/>
                </a:moveTo>
                <a:cubicBezTo>
                  <a:pt x="191029" y="95074"/>
                  <a:pt x="183533" y="98557"/>
                  <a:pt x="175727" y="101335"/>
                </a:cubicBezTo>
                <a:cubicBezTo>
                  <a:pt x="155002" y="108744"/>
                  <a:pt x="127794" y="112889"/>
                  <a:pt x="98778" y="112889"/>
                </a:cubicBezTo>
                <a:cubicBezTo>
                  <a:pt x="69762" y="112889"/>
                  <a:pt x="42510" y="108700"/>
                  <a:pt x="21828" y="101335"/>
                </a:cubicBezTo>
                <a:cubicBezTo>
                  <a:pt x="14067" y="98557"/>
                  <a:pt x="6526" y="95074"/>
                  <a:pt x="0" y="90752"/>
                </a:cubicBezTo>
                <a:lnTo>
                  <a:pt x="0" y="127000"/>
                </a:lnTo>
                <a:cubicBezTo>
                  <a:pt x="0" y="146491"/>
                  <a:pt x="44230" y="162278"/>
                  <a:pt x="98778" y="162278"/>
                </a:cubicBezTo>
                <a:cubicBezTo>
                  <a:pt x="153326" y="162278"/>
                  <a:pt x="197556" y="146491"/>
                  <a:pt x="197556" y="127000"/>
                </a:cubicBezTo>
                <a:lnTo>
                  <a:pt x="197556" y="90752"/>
                </a:lnTo>
                <a:close/>
                <a:moveTo>
                  <a:pt x="197556" y="56444"/>
                </a:moveTo>
                <a:lnTo>
                  <a:pt x="197556" y="35278"/>
                </a:lnTo>
                <a:cubicBezTo>
                  <a:pt x="197556" y="15787"/>
                  <a:pt x="153326" y="0"/>
                  <a:pt x="98778" y="0"/>
                </a:cubicBezTo>
                <a:cubicBezTo>
                  <a:pt x="44230" y="0"/>
                  <a:pt x="0" y="15787"/>
                  <a:pt x="0" y="35278"/>
                </a:cubicBezTo>
                <a:lnTo>
                  <a:pt x="0" y="56444"/>
                </a:lnTo>
                <a:cubicBezTo>
                  <a:pt x="0" y="75935"/>
                  <a:pt x="44230" y="91722"/>
                  <a:pt x="98778" y="91722"/>
                </a:cubicBezTo>
                <a:cubicBezTo>
                  <a:pt x="153326" y="91722"/>
                  <a:pt x="197556" y="75935"/>
                  <a:pt x="197556" y="56444"/>
                </a:cubicBezTo>
                <a:close/>
                <a:moveTo>
                  <a:pt x="175727" y="171891"/>
                </a:moveTo>
                <a:cubicBezTo>
                  <a:pt x="155046" y="179255"/>
                  <a:pt x="127838" y="183444"/>
                  <a:pt x="98778" y="183444"/>
                </a:cubicBezTo>
                <a:cubicBezTo>
                  <a:pt x="69718" y="183444"/>
                  <a:pt x="42510" y="179255"/>
                  <a:pt x="21828" y="171891"/>
                </a:cubicBezTo>
                <a:cubicBezTo>
                  <a:pt x="14067" y="169113"/>
                  <a:pt x="6526" y="165629"/>
                  <a:pt x="0" y="161308"/>
                </a:cubicBezTo>
                <a:lnTo>
                  <a:pt x="0" y="190500"/>
                </a:lnTo>
                <a:cubicBezTo>
                  <a:pt x="0" y="209991"/>
                  <a:pt x="44230" y="225778"/>
                  <a:pt x="98778" y="225778"/>
                </a:cubicBezTo>
                <a:cubicBezTo>
                  <a:pt x="153326" y="225778"/>
                  <a:pt x="197556" y="209991"/>
                  <a:pt x="197556" y="190500"/>
                </a:cubicBezTo>
                <a:lnTo>
                  <a:pt x="197556" y="161308"/>
                </a:lnTo>
                <a:cubicBezTo>
                  <a:pt x="191029" y="165629"/>
                  <a:pt x="183533" y="169113"/>
                  <a:pt x="175727" y="17189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1004711" y="1475082"/>
            <a:ext cx="2060222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Integridad de Datos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26520"/>
            <a:ext cx="7168444" cy="24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cargaron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9.099 registros sin valores faltantes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asegurando alta confiabilidad para el análisis predictivo.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321631"/>
            <a:ext cx="2267185" cy="865481"/>
          </a:xfrm>
          <a:custGeom>
            <a:avLst/>
            <a:gdLst/>
            <a:ahLst/>
            <a:cxnLst/>
            <a:rect l="l" t="t" r="r" b="b"/>
            <a:pathLst>
              <a:path w="2267185" h="865481">
                <a:moveTo>
                  <a:pt x="75262" y="0"/>
                </a:moveTo>
                <a:lnTo>
                  <a:pt x="2191923" y="0"/>
                </a:lnTo>
                <a:cubicBezTo>
                  <a:pt x="2233461" y="0"/>
                  <a:pt x="2267185" y="33724"/>
                  <a:pt x="2267185" y="75262"/>
                </a:cubicBezTo>
                <a:lnTo>
                  <a:pt x="2267185" y="790219"/>
                </a:lnTo>
                <a:cubicBezTo>
                  <a:pt x="2267185" y="831758"/>
                  <a:pt x="2233461" y="865481"/>
                  <a:pt x="2191923" y="865481"/>
                </a:cubicBezTo>
                <a:lnTo>
                  <a:pt x="75262" y="865481"/>
                </a:lnTo>
                <a:cubicBezTo>
                  <a:pt x="33724" y="865481"/>
                  <a:pt x="0" y="831758"/>
                  <a:pt x="0" y="790219"/>
                </a:cubicBezTo>
                <a:lnTo>
                  <a:pt x="0" y="75262"/>
                </a:lnTo>
                <a:cubicBezTo>
                  <a:pt x="0" y="33696"/>
                  <a:pt x="33696" y="0"/>
                  <a:pt x="7526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9563" y="2472150"/>
            <a:ext cx="2107259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2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9,099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7193" y="2848446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25422" y="2321631"/>
            <a:ext cx="2267185" cy="865481"/>
          </a:xfrm>
          <a:custGeom>
            <a:avLst/>
            <a:gdLst/>
            <a:ahLst/>
            <a:cxnLst/>
            <a:rect l="l" t="t" r="r" b="b"/>
            <a:pathLst>
              <a:path w="2267185" h="865481">
                <a:moveTo>
                  <a:pt x="75262" y="0"/>
                </a:moveTo>
                <a:lnTo>
                  <a:pt x="2191923" y="0"/>
                </a:lnTo>
                <a:cubicBezTo>
                  <a:pt x="2233461" y="0"/>
                  <a:pt x="2267185" y="33724"/>
                  <a:pt x="2267185" y="75262"/>
                </a:cubicBezTo>
                <a:lnTo>
                  <a:pt x="2267185" y="790219"/>
                </a:lnTo>
                <a:cubicBezTo>
                  <a:pt x="2267185" y="831758"/>
                  <a:pt x="2233461" y="865481"/>
                  <a:pt x="2191923" y="865481"/>
                </a:cubicBezTo>
                <a:lnTo>
                  <a:pt x="75262" y="865481"/>
                </a:lnTo>
                <a:cubicBezTo>
                  <a:pt x="33724" y="865481"/>
                  <a:pt x="0" y="831758"/>
                  <a:pt x="0" y="790219"/>
                </a:cubicBezTo>
                <a:lnTo>
                  <a:pt x="0" y="75262"/>
                </a:lnTo>
                <a:cubicBezTo>
                  <a:pt x="0" y="33696"/>
                  <a:pt x="33696" y="0"/>
                  <a:pt x="7526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5385" y="2472150"/>
            <a:ext cx="2107259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2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43015" y="2848446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Faltantes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1245" y="2321631"/>
            <a:ext cx="2267185" cy="865481"/>
          </a:xfrm>
          <a:custGeom>
            <a:avLst/>
            <a:gdLst/>
            <a:ahLst/>
            <a:cxnLst/>
            <a:rect l="l" t="t" r="r" b="b"/>
            <a:pathLst>
              <a:path w="2267185" h="865481">
                <a:moveTo>
                  <a:pt x="75262" y="0"/>
                </a:moveTo>
                <a:lnTo>
                  <a:pt x="2191923" y="0"/>
                </a:lnTo>
                <a:cubicBezTo>
                  <a:pt x="2233461" y="0"/>
                  <a:pt x="2267185" y="33724"/>
                  <a:pt x="2267185" y="75262"/>
                </a:cubicBezTo>
                <a:lnTo>
                  <a:pt x="2267185" y="790219"/>
                </a:lnTo>
                <a:cubicBezTo>
                  <a:pt x="2267185" y="831758"/>
                  <a:pt x="2233461" y="865481"/>
                  <a:pt x="2191923" y="865481"/>
                </a:cubicBezTo>
                <a:lnTo>
                  <a:pt x="75262" y="865481"/>
                </a:lnTo>
                <a:cubicBezTo>
                  <a:pt x="33724" y="865481"/>
                  <a:pt x="0" y="831758"/>
                  <a:pt x="0" y="790219"/>
                </a:cubicBezTo>
                <a:lnTo>
                  <a:pt x="0" y="75262"/>
                </a:lnTo>
                <a:cubicBezTo>
                  <a:pt x="0" y="33696"/>
                  <a:pt x="33696" y="0"/>
                  <a:pt x="7526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521208" y="2472150"/>
            <a:ext cx="2107259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2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58837" y="2848446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059" y="3612326"/>
            <a:ext cx="3676415" cy="2603970"/>
          </a:xfrm>
          <a:custGeom>
            <a:avLst/>
            <a:gdLst/>
            <a:ahLst/>
            <a:cxnLst/>
            <a:rect l="l" t="t" r="r" b="b"/>
            <a:pathLst>
              <a:path w="3676415" h="2603970">
                <a:moveTo>
                  <a:pt x="112882" y="0"/>
                </a:moveTo>
                <a:lnTo>
                  <a:pt x="3563533" y="0"/>
                </a:lnTo>
                <a:cubicBezTo>
                  <a:pt x="3625876" y="0"/>
                  <a:pt x="3676415" y="50539"/>
                  <a:pt x="3676415" y="112882"/>
                </a:cubicBezTo>
                <a:lnTo>
                  <a:pt x="3676415" y="2491088"/>
                </a:lnTo>
                <a:cubicBezTo>
                  <a:pt x="3676415" y="2553431"/>
                  <a:pt x="3625876" y="2603970"/>
                  <a:pt x="3563533" y="2603970"/>
                </a:cubicBezTo>
                <a:lnTo>
                  <a:pt x="112882" y="2603970"/>
                </a:lnTo>
                <a:cubicBezTo>
                  <a:pt x="50539" y="2603970"/>
                  <a:pt x="0" y="2553431"/>
                  <a:pt x="0" y="2491088"/>
                </a:cubicBezTo>
                <a:lnTo>
                  <a:pt x="0" y="112882"/>
                </a:lnTo>
                <a:cubicBezTo>
                  <a:pt x="0" y="50581"/>
                  <a:pt x="50581" y="0"/>
                  <a:pt x="11288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822" y="3860684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28222" y="28222"/>
                </a:moveTo>
                <a:cubicBezTo>
                  <a:pt x="28222" y="20417"/>
                  <a:pt x="21916" y="14111"/>
                  <a:pt x="14111" y="14111"/>
                </a:cubicBezTo>
                <a:cubicBezTo>
                  <a:pt x="6306" y="14111"/>
                  <a:pt x="0" y="20417"/>
                  <a:pt x="0" y="28222"/>
                </a:cubicBezTo>
                <a:lnTo>
                  <a:pt x="0" y="176389"/>
                </a:lnTo>
                <a:cubicBezTo>
                  <a:pt x="0" y="195880"/>
                  <a:pt x="15787" y="211667"/>
                  <a:pt x="35278" y="211667"/>
                </a:cubicBezTo>
                <a:lnTo>
                  <a:pt x="211667" y="211667"/>
                </a:lnTo>
                <a:cubicBezTo>
                  <a:pt x="219472" y="211667"/>
                  <a:pt x="225778" y="205361"/>
                  <a:pt x="225778" y="197556"/>
                </a:cubicBezTo>
                <a:cubicBezTo>
                  <a:pt x="225778" y="189750"/>
                  <a:pt x="219472" y="183444"/>
                  <a:pt x="211667" y="183444"/>
                </a:cubicBezTo>
                <a:lnTo>
                  <a:pt x="35278" y="183444"/>
                </a:lnTo>
                <a:cubicBezTo>
                  <a:pt x="31397" y="183444"/>
                  <a:pt x="28222" y="180269"/>
                  <a:pt x="28222" y="176389"/>
                </a:cubicBezTo>
                <a:lnTo>
                  <a:pt x="28222" y="28222"/>
                </a:lnTo>
                <a:close/>
                <a:moveTo>
                  <a:pt x="207522" y="66410"/>
                </a:moveTo>
                <a:cubicBezTo>
                  <a:pt x="213034" y="60898"/>
                  <a:pt x="213034" y="51947"/>
                  <a:pt x="207522" y="46434"/>
                </a:cubicBezTo>
                <a:cubicBezTo>
                  <a:pt x="202009" y="40922"/>
                  <a:pt x="193058" y="40922"/>
                  <a:pt x="187545" y="46434"/>
                </a:cubicBezTo>
                <a:lnTo>
                  <a:pt x="141111" y="92913"/>
                </a:lnTo>
                <a:lnTo>
                  <a:pt x="115799" y="67645"/>
                </a:lnTo>
                <a:cubicBezTo>
                  <a:pt x="110287" y="62133"/>
                  <a:pt x="101335" y="62133"/>
                  <a:pt x="95823" y="67645"/>
                </a:cubicBezTo>
                <a:lnTo>
                  <a:pt x="53490" y="109978"/>
                </a:lnTo>
                <a:cubicBezTo>
                  <a:pt x="47978" y="115491"/>
                  <a:pt x="47978" y="124442"/>
                  <a:pt x="53490" y="129955"/>
                </a:cubicBezTo>
                <a:cubicBezTo>
                  <a:pt x="59002" y="135467"/>
                  <a:pt x="67954" y="135467"/>
                  <a:pt x="73466" y="129955"/>
                </a:cubicBezTo>
                <a:lnTo>
                  <a:pt x="105833" y="97587"/>
                </a:lnTo>
                <a:lnTo>
                  <a:pt x="131145" y="122899"/>
                </a:lnTo>
                <a:cubicBezTo>
                  <a:pt x="136657" y="128411"/>
                  <a:pt x="145609" y="128411"/>
                  <a:pt x="151121" y="122899"/>
                </a:cubicBezTo>
                <a:lnTo>
                  <a:pt x="207566" y="6645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711" y="3841869"/>
            <a:ext cx="1806222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Numéricas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255795"/>
            <a:ext cx="3292593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distribución y correlación de variables clave: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4933129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760119" y="4857869"/>
            <a:ext cx="1006593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unitario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5234166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6" name="Text 24"/>
          <p:cNvSpPr/>
          <p:nvPr/>
        </p:nvSpPr>
        <p:spPr>
          <a:xfrm>
            <a:off x="760119" y="5158906"/>
            <a:ext cx="1213556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Cantidad vendida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600" y="5535203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760119" y="5459944"/>
            <a:ext cx="101600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de venta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836240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0" name="Text 28"/>
          <p:cNvSpPr/>
          <p:nvPr/>
        </p:nvSpPr>
        <p:spPr>
          <a:xfrm>
            <a:off x="760119" y="5760981"/>
            <a:ext cx="987778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 unitario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55911" y="3612326"/>
            <a:ext cx="3676415" cy="2603970"/>
          </a:xfrm>
          <a:custGeom>
            <a:avLst/>
            <a:gdLst/>
            <a:ahLst/>
            <a:cxnLst/>
            <a:rect l="l" t="t" r="r" b="b"/>
            <a:pathLst>
              <a:path w="3676415" h="2603970">
                <a:moveTo>
                  <a:pt x="112882" y="0"/>
                </a:moveTo>
                <a:lnTo>
                  <a:pt x="3563533" y="0"/>
                </a:lnTo>
                <a:cubicBezTo>
                  <a:pt x="3625876" y="0"/>
                  <a:pt x="3676415" y="50539"/>
                  <a:pt x="3676415" y="112882"/>
                </a:cubicBezTo>
                <a:lnTo>
                  <a:pt x="3676415" y="2491088"/>
                </a:lnTo>
                <a:cubicBezTo>
                  <a:pt x="3676415" y="2553431"/>
                  <a:pt x="3625876" y="2603970"/>
                  <a:pt x="3563533" y="2603970"/>
                </a:cubicBezTo>
                <a:lnTo>
                  <a:pt x="112882" y="2603970"/>
                </a:lnTo>
                <a:cubicBezTo>
                  <a:pt x="50539" y="2603970"/>
                  <a:pt x="0" y="2553431"/>
                  <a:pt x="0" y="2491088"/>
                </a:cubicBezTo>
                <a:lnTo>
                  <a:pt x="0" y="112882"/>
                </a:lnTo>
                <a:cubicBezTo>
                  <a:pt x="0" y="50581"/>
                  <a:pt x="50581" y="0"/>
                  <a:pt x="11288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9563" y="3860684"/>
            <a:ext cx="254000" cy="225778"/>
          </a:xfrm>
          <a:custGeom>
            <a:avLst/>
            <a:gdLst/>
            <a:ahLst/>
            <a:cxnLst/>
            <a:rect l="l" t="t" r="r" b="b"/>
            <a:pathLst>
              <a:path w="254000" h="225778">
                <a:moveTo>
                  <a:pt x="176918" y="17242"/>
                </a:moveTo>
                <a:lnTo>
                  <a:pt x="242270" y="83520"/>
                </a:lnTo>
                <a:cubicBezTo>
                  <a:pt x="254485" y="95911"/>
                  <a:pt x="254485" y="115755"/>
                  <a:pt x="242270" y="128147"/>
                </a:cubicBezTo>
                <a:lnTo>
                  <a:pt x="173302" y="197952"/>
                </a:lnTo>
                <a:cubicBezTo>
                  <a:pt x="169201" y="202098"/>
                  <a:pt x="162498" y="202142"/>
                  <a:pt x="158353" y="198041"/>
                </a:cubicBezTo>
                <a:cubicBezTo>
                  <a:pt x="154208" y="193940"/>
                  <a:pt x="154164" y="187237"/>
                  <a:pt x="158265" y="183092"/>
                </a:cubicBezTo>
                <a:lnTo>
                  <a:pt x="227233" y="113242"/>
                </a:lnTo>
                <a:cubicBezTo>
                  <a:pt x="231290" y="109141"/>
                  <a:pt x="231290" y="102482"/>
                  <a:pt x="227233" y="98381"/>
                </a:cubicBezTo>
                <a:lnTo>
                  <a:pt x="161837" y="32147"/>
                </a:lnTo>
                <a:cubicBezTo>
                  <a:pt x="157736" y="28002"/>
                  <a:pt x="157780" y="21299"/>
                  <a:pt x="161925" y="17198"/>
                </a:cubicBezTo>
                <a:cubicBezTo>
                  <a:pt x="166070" y="13097"/>
                  <a:pt x="172773" y="13141"/>
                  <a:pt x="176874" y="17286"/>
                </a:cubicBezTo>
                <a:close/>
                <a:moveTo>
                  <a:pt x="14155" y="101203"/>
                </a:moveTo>
                <a:lnTo>
                  <a:pt x="14155" y="42333"/>
                </a:lnTo>
                <a:cubicBezTo>
                  <a:pt x="14155" y="26767"/>
                  <a:pt x="26811" y="14111"/>
                  <a:pt x="42377" y="14111"/>
                </a:cubicBezTo>
                <a:lnTo>
                  <a:pt x="101247" y="14111"/>
                </a:lnTo>
                <a:cubicBezTo>
                  <a:pt x="108744" y="14111"/>
                  <a:pt x="115932" y="17066"/>
                  <a:pt x="121223" y="22357"/>
                </a:cubicBezTo>
                <a:lnTo>
                  <a:pt x="184723" y="85857"/>
                </a:lnTo>
                <a:cubicBezTo>
                  <a:pt x="195748" y="96882"/>
                  <a:pt x="195748" y="114741"/>
                  <a:pt x="184723" y="125765"/>
                </a:cubicBezTo>
                <a:lnTo>
                  <a:pt x="125853" y="184635"/>
                </a:lnTo>
                <a:cubicBezTo>
                  <a:pt x="114829" y="195659"/>
                  <a:pt x="96970" y="195659"/>
                  <a:pt x="85945" y="184635"/>
                </a:cubicBezTo>
                <a:lnTo>
                  <a:pt x="22445" y="121135"/>
                </a:lnTo>
                <a:cubicBezTo>
                  <a:pt x="17154" y="115843"/>
                  <a:pt x="14199" y="108656"/>
                  <a:pt x="14199" y="101159"/>
                </a:cubicBezTo>
                <a:close/>
                <a:moveTo>
                  <a:pt x="77655" y="63500"/>
                </a:moveTo>
                <a:cubicBezTo>
                  <a:pt x="77655" y="55712"/>
                  <a:pt x="71332" y="49389"/>
                  <a:pt x="63544" y="49389"/>
                </a:cubicBezTo>
                <a:cubicBezTo>
                  <a:pt x="55756" y="49389"/>
                  <a:pt x="49433" y="55712"/>
                  <a:pt x="49433" y="63500"/>
                </a:cubicBezTo>
                <a:cubicBezTo>
                  <a:pt x="49433" y="71288"/>
                  <a:pt x="55756" y="77611"/>
                  <a:pt x="63544" y="77611"/>
                </a:cubicBezTo>
                <a:cubicBezTo>
                  <a:pt x="71332" y="77611"/>
                  <a:pt x="77655" y="71288"/>
                  <a:pt x="77655" y="635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4880563" y="3841869"/>
            <a:ext cx="1909704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Categóricas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5452" y="4255795"/>
            <a:ext cx="3292593" cy="24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Segmentación y análisis de variables cualitativas: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5452" y="4688536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Text 34"/>
          <p:cNvSpPr/>
          <p:nvPr/>
        </p:nvSpPr>
        <p:spPr>
          <a:xfrm>
            <a:off x="4635971" y="4613277"/>
            <a:ext cx="667926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85452" y="4989573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4635971" y="4914314"/>
            <a:ext cx="696148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Categoría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85452" y="5290610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4635971" y="5215351"/>
            <a:ext cx="1034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Canal de venta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85452" y="5591647"/>
            <a:ext cx="75259" cy="75259"/>
          </a:xfrm>
          <a:custGeom>
            <a:avLst/>
            <a:gdLst/>
            <a:ahLst/>
            <a:cxnLst/>
            <a:rect l="l" t="t" r="r" b="b"/>
            <a:pathLst>
              <a:path w="75259" h="75259">
                <a:moveTo>
                  <a:pt x="37630" y="0"/>
                </a:moveTo>
                <a:lnTo>
                  <a:pt x="37630" y="0"/>
                </a:lnTo>
                <a:cubicBezTo>
                  <a:pt x="58412" y="0"/>
                  <a:pt x="75259" y="16847"/>
                  <a:pt x="75259" y="37630"/>
                </a:cubicBezTo>
                <a:lnTo>
                  <a:pt x="75259" y="37630"/>
                </a:lnTo>
                <a:cubicBezTo>
                  <a:pt x="75259" y="58412"/>
                  <a:pt x="58412" y="75259"/>
                  <a:pt x="37630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2" name="Text 40"/>
          <p:cNvSpPr/>
          <p:nvPr/>
        </p:nvSpPr>
        <p:spPr>
          <a:xfrm>
            <a:off x="4635971" y="5516388"/>
            <a:ext cx="1204148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Período temporal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1763" y="1245541"/>
            <a:ext cx="3676415" cy="3318933"/>
          </a:xfrm>
          <a:custGeom>
            <a:avLst/>
            <a:gdLst/>
            <a:ahLst/>
            <a:cxnLst/>
            <a:rect l="l" t="t" r="r" b="b"/>
            <a:pathLst>
              <a:path w="3676415" h="3318933">
                <a:moveTo>
                  <a:pt x="112877" y="0"/>
                </a:moveTo>
                <a:lnTo>
                  <a:pt x="3563538" y="0"/>
                </a:lnTo>
                <a:cubicBezTo>
                  <a:pt x="3625878" y="0"/>
                  <a:pt x="3676415" y="50537"/>
                  <a:pt x="3676415" y="112877"/>
                </a:cubicBezTo>
                <a:lnTo>
                  <a:pt x="3676415" y="3206056"/>
                </a:lnTo>
                <a:cubicBezTo>
                  <a:pt x="3676415" y="3268397"/>
                  <a:pt x="3625878" y="3318933"/>
                  <a:pt x="3563538" y="3318933"/>
                </a:cubicBezTo>
                <a:lnTo>
                  <a:pt x="112877" y="3318933"/>
                </a:lnTo>
                <a:cubicBezTo>
                  <a:pt x="50578" y="3318933"/>
                  <a:pt x="0" y="3268355"/>
                  <a:pt x="0" y="3206056"/>
                </a:cubicBezTo>
                <a:lnTo>
                  <a:pt x="0" y="112877"/>
                </a:lnTo>
                <a:cubicBezTo>
                  <a:pt x="0" y="50578"/>
                  <a:pt x="50578" y="0"/>
                  <a:pt x="11287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5415" y="1493897"/>
            <a:ext cx="254000" cy="225778"/>
          </a:xfrm>
          <a:custGeom>
            <a:avLst/>
            <a:gdLst/>
            <a:ahLst/>
            <a:cxnLst/>
            <a:rect l="l" t="t" r="r" b="b"/>
            <a:pathLst>
              <a:path w="254000" h="225778">
                <a:moveTo>
                  <a:pt x="184988" y="42333"/>
                </a:moveTo>
                <a:cubicBezTo>
                  <a:pt x="177668" y="42333"/>
                  <a:pt x="170568" y="44318"/>
                  <a:pt x="164350" y="47934"/>
                </a:cubicBezTo>
                <a:cubicBezTo>
                  <a:pt x="157383" y="40878"/>
                  <a:pt x="149269" y="34969"/>
                  <a:pt x="140317" y="30515"/>
                </a:cubicBezTo>
                <a:cubicBezTo>
                  <a:pt x="152753" y="19932"/>
                  <a:pt x="168584" y="14111"/>
                  <a:pt x="184988" y="14111"/>
                </a:cubicBezTo>
                <a:cubicBezTo>
                  <a:pt x="223088" y="14111"/>
                  <a:pt x="254000" y="44979"/>
                  <a:pt x="254000" y="83123"/>
                </a:cubicBezTo>
                <a:cubicBezTo>
                  <a:pt x="254000" y="101424"/>
                  <a:pt x="246724" y="118974"/>
                  <a:pt x="233803" y="131895"/>
                </a:cubicBezTo>
                <a:lnTo>
                  <a:pt x="202450" y="163248"/>
                </a:lnTo>
                <a:cubicBezTo>
                  <a:pt x="189530" y="176168"/>
                  <a:pt x="171979" y="183444"/>
                  <a:pt x="153679" y="183444"/>
                </a:cubicBezTo>
                <a:cubicBezTo>
                  <a:pt x="115579" y="183444"/>
                  <a:pt x="84667" y="152576"/>
                  <a:pt x="84667" y="114432"/>
                </a:cubicBezTo>
                <a:cubicBezTo>
                  <a:pt x="84667" y="113771"/>
                  <a:pt x="84667" y="113109"/>
                  <a:pt x="84711" y="112448"/>
                </a:cubicBezTo>
                <a:cubicBezTo>
                  <a:pt x="84931" y="104643"/>
                  <a:pt x="91414" y="98513"/>
                  <a:pt x="99219" y="98734"/>
                </a:cubicBezTo>
                <a:cubicBezTo>
                  <a:pt x="107024" y="98954"/>
                  <a:pt x="113153" y="105436"/>
                  <a:pt x="112933" y="113242"/>
                </a:cubicBezTo>
                <a:cubicBezTo>
                  <a:pt x="112933" y="113639"/>
                  <a:pt x="112933" y="114035"/>
                  <a:pt x="112933" y="114388"/>
                </a:cubicBezTo>
                <a:cubicBezTo>
                  <a:pt x="112933" y="136922"/>
                  <a:pt x="131189" y="155178"/>
                  <a:pt x="153723" y="155178"/>
                </a:cubicBezTo>
                <a:cubicBezTo>
                  <a:pt x="164527" y="155178"/>
                  <a:pt x="174890" y="150901"/>
                  <a:pt x="182563" y="143228"/>
                </a:cubicBezTo>
                <a:lnTo>
                  <a:pt x="213916" y="111875"/>
                </a:lnTo>
                <a:cubicBezTo>
                  <a:pt x="221544" y="104246"/>
                  <a:pt x="225866" y="93839"/>
                  <a:pt x="225866" y="83035"/>
                </a:cubicBezTo>
                <a:cubicBezTo>
                  <a:pt x="225866" y="60501"/>
                  <a:pt x="207610" y="42245"/>
                  <a:pt x="185076" y="42245"/>
                </a:cubicBezTo>
                <a:close/>
                <a:moveTo>
                  <a:pt x="121356" y="76420"/>
                </a:moveTo>
                <a:cubicBezTo>
                  <a:pt x="120518" y="76068"/>
                  <a:pt x="119680" y="75583"/>
                  <a:pt x="118930" y="75053"/>
                </a:cubicBezTo>
                <a:cubicBezTo>
                  <a:pt x="113374" y="72187"/>
                  <a:pt x="107024" y="70556"/>
                  <a:pt x="100365" y="70556"/>
                </a:cubicBezTo>
                <a:cubicBezTo>
                  <a:pt x="89561" y="70556"/>
                  <a:pt x="79199" y="74833"/>
                  <a:pt x="71526" y="82506"/>
                </a:cubicBezTo>
                <a:lnTo>
                  <a:pt x="40173" y="113859"/>
                </a:lnTo>
                <a:cubicBezTo>
                  <a:pt x="32544" y="121488"/>
                  <a:pt x="28222" y="131895"/>
                  <a:pt x="28222" y="142699"/>
                </a:cubicBezTo>
                <a:cubicBezTo>
                  <a:pt x="28222" y="165232"/>
                  <a:pt x="46478" y="183489"/>
                  <a:pt x="69012" y="183489"/>
                </a:cubicBezTo>
                <a:cubicBezTo>
                  <a:pt x="76288" y="183489"/>
                  <a:pt x="83388" y="181548"/>
                  <a:pt x="89606" y="177932"/>
                </a:cubicBezTo>
                <a:cubicBezTo>
                  <a:pt x="96573" y="184988"/>
                  <a:pt x="104687" y="190897"/>
                  <a:pt x="113683" y="195351"/>
                </a:cubicBezTo>
                <a:cubicBezTo>
                  <a:pt x="101247" y="205890"/>
                  <a:pt x="85460" y="211755"/>
                  <a:pt x="69012" y="211755"/>
                </a:cubicBezTo>
                <a:cubicBezTo>
                  <a:pt x="30912" y="211755"/>
                  <a:pt x="0" y="180887"/>
                  <a:pt x="0" y="142743"/>
                </a:cubicBezTo>
                <a:cubicBezTo>
                  <a:pt x="0" y="124442"/>
                  <a:pt x="7276" y="106892"/>
                  <a:pt x="20197" y="93971"/>
                </a:cubicBezTo>
                <a:lnTo>
                  <a:pt x="51550" y="62618"/>
                </a:lnTo>
                <a:cubicBezTo>
                  <a:pt x="64470" y="49698"/>
                  <a:pt x="82021" y="42422"/>
                  <a:pt x="100321" y="42422"/>
                </a:cubicBezTo>
                <a:cubicBezTo>
                  <a:pt x="138509" y="42422"/>
                  <a:pt x="169333" y="73554"/>
                  <a:pt x="169333" y="111610"/>
                </a:cubicBezTo>
                <a:cubicBezTo>
                  <a:pt x="169333" y="112183"/>
                  <a:pt x="169333" y="112757"/>
                  <a:pt x="169333" y="113330"/>
                </a:cubicBezTo>
                <a:cubicBezTo>
                  <a:pt x="169157" y="121135"/>
                  <a:pt x="162675" y="127265"/>
                  <a:pt x="154869" y="127088"/>
                </a:cubicBezTo>
                <a:cubicBezTo>
                  <a:pt x="147064" y="126912"/>
                  <a:pt x="140935" y="120430"/>
                  <a:pt x="141111" y="112624"/>
                </a:cubicBezTo>
                <a:cubicBezTo>
                  <a:pt x="141111" y="112272"/>
                  <a:pt x="141111" y="111963"/>
                  <a:pt x="141111" y="111610"/>
                </a:cubicBezTo>
                <a:cubicBezTo>
                  <a:pt x="141111" y="96749"/>
                  <a:pt x="133174" y="83697"/>
                  <a:pt x="121356" y="7650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8756415" y="1475082"/>
            <a:ext cx="2351852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Correlaciones Identificadas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1304" y="1889008"/>
            <a:ext cx="3217333" cy="714963"/>
          </a:xfrm>
          <a:custGeom>
            <a:avLst/>
            <a:gdLst/>
            <a:ahLst/>
            <a:cxnLst/>
            <a:rect l="l" t="t" r="r" b="b"/>
            <a:pathLst>
              <a:path w="3217333" h="714963">
                <a:moveTo>
                  <a:pt x="75257" y="0"/>
                </a:moveTo>
                <a:lnTo>
                  <a:pt x="3142076" y="0"/>
                </a:lnTo>
                <a:cubicBezTo>
                  <a:pt x="3183640" y="0"/>
                  <a:pt x="3217333" y="33694"/>
                  <a:pt x="3217333" y="75257"/>
                </a:cubicBezTo>
                <a:lnTo>
                  <a:pt x="3217333" y="639706"/>
                </a:lnTo>
                <a:cubicBezTo>
                  <a:pt x="3217333" y="681269"/>
                  <a:pt x="3183640" y="714963"/>
                  <a:pt x="3142076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511822" y="2058341"/>
            <a:ext cx="138288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× Valor Venta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17250" y="2039526"/>
            <a:ext cx="498593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+0.82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11822" y="2378195"/>
            <a:ext cx="2916296" cy="75259"/>
          </a:xfrm>
          <a:custGeom>
            <a:avLst/>
            <a:gdLst/>
            <a:ahLst/>
            <a:cxnLst/>
            <a:rect l="l" t="t" r="r" b="b"/>
            <a:pathLst>
              <a:path w="2916296" h="75259">
                <a:moveTo>
                  <a:pt x="37630" y="0"/>
                </a:moveTo>
                <a:lnTo>
                  <a:pt x="2878667" y="0"/>
                </a:lnTo>
                <a:cubicBezTo>
                  <a:pt x="2899435" y="0"/>
                  <a:pt x="2916296" y="16861"/>
                  <a:pt x="2916296" y="37630"/>
                </a:cubicBezTo>
                <a:lnTo>
                  <a:pt x="2916296" y="37630"/>
                </a:lnTo>
                <a:cubicBezTo>
                  <a:pt x="2916296" y="58398"/>
                  <a:pt x="2899435" y="75259"/>
                  <a:pt x="2878667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11822" y="2378195"/>
            <a:ext cx="2398889" cy="75259"/>
          </a:xfrm>
          <a:custGeom>
            <a:avLst/>
            <a:gdLst/>
            <a:ahLst/>
            <a:cxnLst/>
            <a:rect l="l" t="t" r="r" b="b"/>
            <a:pathLst>
              <a:path w="2398889" h="75259">
                <a:moveTo>
                  <a:pt x="37630" y="0"/>
                </a:moveTo>
                <a:lnTo>
                  <a:pt x="2361259" y="0"/>
                </a:lnTo>
                <a:cubicBezTo>
                  <a:pt x="2382028" y="0"/>
                  <a:pt x="2398889" y="16861"/>
                  <a:pt x="2398889" y="37630"/>
                </a:cubicBezTo>
                <a:lnTo>
                  <a:pt x="2398889" y="37630"/>
                </a:lnTo>
                <a:cubicBezTo>
                  <a:pt x="2398889" y="58398"/>
                  <a:pt x="2382028" y="75259"/>
                  <a:pt x="2361259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1" name="Shape 49"/>
          <p:cNvSpPr/>
          <p:nvPr/>
        </p:nvSpPr>
        <p:spPr>
          <a:xfrm>
            <a:off x="8361304" y="2754492"/>
            <a:ext cx="3217333" cy="714963"/>
          </a:xfrm>
          <a:custGeom>
            <a:avLst/>
            <a:gdLst/>
            <a:ahLst/>
            <a:cxnLst/>
            <a:rect l="l" t="t" r="r" b="b"/>
            <a:pathLst>
              <a:path w="3217333" h="714963">
                <a:moveTo>
                  <a:pt x="75257" y="0"/>
                </a:moveTo>
                <a:lnTo>
                  <a:pt x="3142076" y="0"/>
                </a:lnTo>
                <a:cubicBezTo>
                  <a:pt x="3183640" y="0"/>
                  <a:pt x="3217333" y="33694"/>
                  <a:pt x="3217333" y="75257"/>
                </a:cubicBezTo>
                <a:lnTo>
                  <a:pt x="3217333" y="639706"/>
                </a:lnTo>
                <a:cubicBezTo>
                  <a:pt x="3217333" y="681269"/>
                  <a:pt x="3183640" y="714963"/>
                  <a:pt x="3142076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511822" y="2923825"/>
            <a:ext cx="1561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Cantidad × Valor Venta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29480" y="2905010"/>
            <a:ext cx="489185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+0.75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11822" y="3243677"/>
            <a:ext cx="2916296" cy="75259"/>
          </a:xfrm>
          <a:custGeom>
            <a:avLst/>
            <a:gdLst/>
            <a:ahLst/>
            <a:cxnLst/>
            <a:rect l="l" t="t" r="r" b="b"/>
            <a:pathLst>
              <a:path w="2916296" h="75259">
                <a:moveTo>
                  <a:pt x="37630" y="0"/>
                </a:moveTo>
                <a:lnTo>
                  <a:pt x="2878667" y="0"/>
                </a:lnTo>
                <a:cubicBezTo>
                  <a:pt x="2899435" y="0"/>
                  <a:pt x="2916296" y="16861"/>
                  <a:pt x="2916296" y="37630"/>
                </a:cubicBezTo>
                <a:lnTo>
                  <a:pt x="2916296" y="37630"/>
                </a:lnTo>
                <a:cubicBezTo>
                  <a:pt x="2916296" y="58398"/>
                  <a:pt x="2899435" y="75259"/>
                  <a:pt x="2878667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11822" y="3243677"/>
            <a:ext cx="2191926" cy="75259"/>
          </a:xfrm>
          <a:custGeom>
            <a:avLst/>
            <a:gdLst/>
            <a:ahLst/>
            <a:cxnLst/>
            <a:rect l="l" t="t" r="r" b="b"/>
            <a:pathLst>
              <a:path w="2191926" h="75259">
                <a:moveTo>
                  <a:pt x="37630" y="0"/>
                </a:moveTo>
                <a:lnTo>
                  <a:pt x="2154296" y="0"/>
                </a:lnTo>
                <a:cubicBezTo>
                  <a:pt x="2175065" y="0"/>
                  <a:pt x="2191926" y="16861"/>
                  <a:pt x="2191926" y="37630"/>
                </a:cubicBezTo>
                <a:lnTo>
                  <a:pt x="2191926" y="37630"/>
                </a:lnTo>
                <a:cubicBezTo>
                  <a:pt x="2191926" y="58398"/>
                  <a:pt x="2175065" y="75259"/>
                  <a:pt x="2154296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6" name="Shape 54"/>
          <p:cNvSpPr/>
          <p:nvPr/>
        </p:nvSpPr>
        <p:spPr>
          <a:xfrm>
            <a:off x="8361304" y="3619973"/>
            <a:ext cx="3217333" cy="714963"/>
          </a:xfrm>
          <a:custGeom>
            <a:avLst/>
            <a:gdLst/>
            <a:ahLst/>
            <a:cxnLst/>
            <a:rect l="l" t="t" r="r" b="b"/>
            <a:pathLst>
              <a:path w="3217333" h="714963">
                <a:moveTo>
                  <a:pt x="75257" y="0"/>
                </a:moveTo>
                <a:lnTo>
                  <a:pt x="3142076" y="0"/>
                </a:lnTo>
                <a:cubicBezTo>
                  <a:pt x="3183640" y="0"/>
                  <a:pt x="3217333" y="33694"/>
                  <a:pt x="3217333" y="75257"/>
                </a:cubicBezTo>
                <a:lnTo>
                  <a:pt x="3217333" y="639706"/>
                </a:lnTo>
                <a:cubicBezTo>
                  <a:pt x="3217333" y="681269"/>
                  <a:pt x="3183640" y="714963"/>
                  <a:pt x="3142076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511822" y="3789306"/>
            <a:ext cx="1204148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× Cantidad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014075" y="3770492"/>
            <a:ext cx="498593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+0.63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511822" y="4109158"/>
            <a:ext cx="2916296" cy="75259"/>
          </a:xfrm>
          <a:custGeom>
            <a:avLst/>
            <a:gdLst/>
            <a:ahLst/>
            <a:cxnLst/>
            <a:rect l="l" t="t" r="r" b="b"/>
            <a:pathLst>
              <a:path w="2916296" h="75259">
                <a:moveTo>
                  <a:pt x="37630" y="0"/>
                </a:moveTo>
                <a:lnTo>
                  <a:pt x="2878667" y="0"/>
                </a:lnTo>
                <a:cubicBezTo>
                  <a:pt x="2899435" y="0"/>
                  <a:pt x="2916296" y="16861"/>
                  <a:pt x="2916296" y="37630"/>
                </a:cubicBezTo>
                <a:lnTo>
                  <a:pt x="2916296" y="37630"/>
                </a:lnTo>
                <a:cubicBezTo>
                  <a:pt x="2916296" y="58398"/>
                  <a:pt x="2899435" y="75259"/>
                  <a:pt x="2878667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11822" y="4109158"/>
            <a:ext cx="1843852" cy="75259"/>
          </a:xfrm>
          <a:custGeom>
            <a:avLst/>
            <a:gdLst/>
            <a:ahLst/>
            <a:cxnLst/>
            <a:rect l="l" t="t" r="r" b="b"/>
            <a:pathLst>
              <a:path w="1843852" h="75259">
                <a:moveTo>
                  <a:pt x="37630" y="0"/>
                </a:moveTo>
                <a:lnTo>
                  <a:pt x="1806222" y="0"/>
                </a:lnTo>
                <a:cubicBezTo>
                  <a:pt x="1826991" y="0"/>
                  <a:pt x="1843852" y="16861"/>
                  <a:pt x="1843852" y="37630"/>
                </a:cubicBezTo>
                <a:lnTo>
                  <a:pt x="1843852" y="37630"/>
                </a:lnTo>
                <a:cubicBezTo>
                  <a:pt x="1843852" y="58398"/>
                  <a:pt x="1826991" y="75259"/>
                  <a:pt x="1806222" y="75259"/>
                </a:cubicBezTo>
                <a:lnTo>
                  <a:pt x="37630" y="75259"/>
                </a:lnTo>
                <a:cubicBezTo>
                  <a:pt x="16847" y="75259"/>
                  <a:pt x="0" y="58412"/>
                  <a:pt x="0" y="3763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1" name="Shape 59"/>
          <p:cNvSpPr/>
          <p:nvPr/>
        </p:nvSpPr>
        <p:spPr>
          <a:xfrm>
            <a:off x="8131763" y="4760149"/>
            <a:ext cx="3676415" cy="2095970"/>
          </a:xfrm>
          <a:custGeom>
            <a:avLst/>
            <a:gdLst/>
            <a:ahLst/>
            <a:cxnLst/>
            <a:rect l="l" t="t" r="r" b="b"/>
            <a:pathLst>
              <a:path w="3676415" h="2095970">
                <a:moveTo>
                  <a:pt x="112889" y="0"/>
                </a:moveTo>
                <a:lnTo>
                  <a:pt x="3563526" y="0"/>
                </a:lnTo>
                <a:cubicBezTo>
                  <a:pt x="3625873" y="0"/>
                  <a:pt x="3676415" y="50542"/>
                  <a:pt x="3676415" y="112889"/>
                </a:cubicBezTo>
                <a:lnTo>
                  <a:pt x="3676415" y="1983081"/>
                </a:lnTo>
                <a:cubicBezTo>
                  <a:pt x="3676415" y="2045428"/>
                  <a:pt x="3625873" y="2095970"/>
                  <a:pt x="3563526" y="2095970"/>
                </a:cubicBezTo>
                <a:lnTo>
                  <a:pt x="112889" y="2095970"/>
                </a:lnTo>
                <a:cubicBezTo>
                  <a:pt x="50542" y="2095970"/>
                  <a:pt x="0" y="2045428"/>
                  <a:pt x="0" y="1983081"/>
                </a:cubicBezTo>
                <a:lnTo>
                  <a:pt x="0" y="112889"/>
                </a:lnTo>
                <a:cubicBezTo>
                  <a:pt x="0" y="50542"/>
                  <a:pt x="50542" y="0"/>
                  <a:pt x="112889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89526" y="5008503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cubicBezTo>
                  <a:pt x="119371" y="0"/>
                  <a:pt x="125324" y="3572"/>
                  <a:pt x="128411" y="9260"/>
                </a:cubicBezTo>
                <a:lnTo>
                  <a:pt x="223661" y="185649"/>
                </a:lnTo>
                <a:cubicBezTo>
                  <a:pt x="226616" y="191117"/>
                  <a:pt x="226483" y="197732"/>
                  <a:pt x="223308" y="203068"/>
                </a:cubicBezTo>
                <a:cubicBezTo>
                  <a:pt x="220133" y="208403"/>
                  <a:pt x="214357" y="211667"/>
                  <a:pt x="208139" y="211667"/>
                </a:cubicBezTo>
                <a:lnTo>
                  <a:pt x="17639" y="211667"/>
                </a:lnTo>
                <a:cubicBezTo>
                  <a:pt x="11421" y="211667"/>
                  <a:pt x="5689" y="208403"/>
                  <a:pt x="2469" y="203068"/>
                </a:cubicBezTo>
                <a:cubicBezTo>
                  <a:pt x="-750" y="197732"/>
                  <a:pt x="-838" y="191117"/>
                  <a:pt x="2117" y="185649"/>
                </a:cubicBezTo>
                <a:lnTo>
                  <a:pt x="97367" y="9260"/>
                </a:lnTo>
                <a:cubicBezTo>
                  <a:pt x="100453" y="3572"/>
                  <a:pt x="106407" y="0"/>
                  <a:pt x="112889" y="0"/>
                </a:cubicBezTo>
                <a:close/>
                <a:moveTo>
                  <a:pt x="112889" y="74083"/>
                </a:moveTo>
                <a:cubicBezTo>
                  <a:pt x="107024" y="74083"/>
                  <a:pt x="102306" y="78802"/>
                  <a:pt x="102306" y="84667"/>
                </a:cubicBezTo>
                <a:lnTo>
                  <a:pt x="102306" y="134056"/>
                </a:lnTo>
                <a:cubicBezTo>
                  <a:pt x="102306" y="139920"/>
                  <a:pt x="107024" y="144639"/>
                  <a:pt x="112889" y="144639"/>
                </a:cubicBezTo>
                <a:cubicBezTo>
                  <a:pt x="118754" y="144639"/>
                  <a:pt x="123472" y="139920"/>
                  <a:pt x="123472" y="134056"/>
                </a:cubicBezTo>
                <a:lnTo>
                  <a:pt x="123472" y="84667"/>
                </a:lnTo>
                <a:cubicBezTo>
                  <a:pt x="123472" y="78802"/>
                  <a:pt x="118754" y="74083"/>
                  <a:pt x="112889" y="74083"/>
                </a:cubicBezTo>
                <a:close/>
                <a:moveTo>
                  <a:pt x="124663" y="169333"/>
                </a:moveTo>
                <a:cubicBezTo>
                  <a:pt x="124931" y="164963"/>
                  <a:pt x="122751" y="160805"/>
                  <a:pt x="119005" y="158539"/>
                </a:cubicBezTo>
                <a:cubicBezTo>
                  <a:pt x="115258" y="156273"/>
                  <a:pt x="110564" y="156273"/>
                  <a:pt x="106817" y="158539"/>
                </a:cubicBezTo>
                <a:cubicBezTo>
                  <a:pt x="103071" y="160805"/>
                  <a:pt x="100891" y="164963"/>
                  <a:pt x="101159" y="169333"/>
                </a:cubicBezTo>
                <a:cubicBezTo>
                  <a:pt x="100891" y="173704"/>
                  <a:pt x="103071" y="177862"/>
                  <a:pt x="106817" y="180128"/>
                </a:cubicBezTo>
                <a:cubicBezTo>
                  <a:pt x="110564" y="182394"/>
                  <a:pt x="115258" y="182394"/>
                  <a:pt x="119005" y="180128"/>
                </a:cubicBezTo>
                <a:cubicBezTo>
                  <a:pt x="122751" y="177862"/>
                  <a:pt x="124931" y="173704"/>
                  <a:pt x="124663" y="16933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3" name="Text 61"/>
          <p:cNvSpPr/>
          <p:nvPr/>
        </p:nvSpPr>
        <p:spPr>
          <a:xfrm>
            <a:off x="8756415" y="4989688"/>
            <a:ext cx="1834444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Estabilidad y Outliers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61304" y="5403614"/>
            <a:ext cx="3292593" cy="122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detectó estabilidad de precios y volúmenes sin outliers críticos que afecten la distribución. Las visualizaciones mostraron concentraciones de ventas por producto y canal, con tendencias temporales mensuales claras.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43023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478465" y="567070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41533" y="19382"/>
                </a:moveTo>
                <a:cubicBezTo>
                  <a:pt x="41533" y="8687"/>
                  <a:pt x="50221" y="0"/>
                  <a:pt x="60916" y="0"/>
                </a:cubicBezTo>
                <a:lnTo>
                  <a:pt x="69222" y="0"/>
                </a:lnTo>
                <a:cubicBezTo>
                  <a:pt x="75349" y="0"/>
                  <a:pt x="80298" y="4949"/>
                  <a:pt x="80298" y="11076"/>
                </a:cubicBezTo>
                <a:lnTo>
                  <a:pt x="80298" y="166134"/>
                </a:lnTo>
                <a:cubicBezTo>
                  <a:pt x="80298" y="172260"/>
                  <a:pt x="75349" y="177209"/>
                  <a:pt x="69222" y="177209"/>
                </a:cubicBezTo>
                <a:lnTo>
                  <a:pt x="58147" y="177209"/>
                </a:lnTo>
                <a:cubicBezTo>
                  <a:pt x="47833" y="177209"/>
                  <a:pt x="39145" y="170149"/>
                  <a:pt x="36688" y="160596"/>
                </a:cubicBezTo>
                <a:cubicBezTo>
                  <a:pt x="36446" y="160596"/>
                  <a:pt x="36238" y="160596"/>
                  <a:pt x="35996" y="160596"/>
                </a:cubicBezTo>
                <a:cubicBezTo>
                  <a:pt x="20697" y="160596"/>
                  <a:pt x="8307" y="148205"/>
                  <a:pt x="8307" y="132907"/>
                </a:cubicBezTo>
                <a:cubicBezTo>
                  <a:pt x="8307" y="126677"/>
                  <a:pt x="10383" y="120932"/>
                  <a:pt x="13844" y="116294"/>
                </a:cubicBezTo>
                <a:cubicBezTo>
                  <a:pt x="7130" y="111240"/>
                  <a:pt x="2769" y="103211"/>
                  <a:pt x="2769" y="94142"/>
                </a:cubicBezTo>
                <a:cubicBezTo>
                  <a:pt x="2769" y="83448"/>
                  <a:pt x="8860" y="74137"/>
                  <a:pt x="17721" y="69534"/>
                </a:cubicBezTo>
                <a:cubicBezTo>
                  <a:pt x="15264" y="65381"/>
                  <a:pt x="13844" y="60535"/>
                  <a:pt x="13844" y="55378"/>
                </a:cubicBezTo>
                <a:cubicBezTo>
                  <a:pt x="13844" y="40080"/>
                  <a:pt x="26235" y="27689"/>
                  <a:pt x="41533" y="27689"/>
                </a:cubicBezTo>
                <a:lnTo>
                  <a:pt x="41533" y="19382"/>
                </a:lnTo>
                <a:close/>
                <a:moveTo>
                  <a:pt x="135676" y="19382"/>
                </a:moveTo>
                <a:lnTo>
                  <a:pt x="135676" y="27689"/>
                </a:lnTo>
                <a:cubicBezTo>
                  <a:pt x="150974" y="27689"/>
                  <a:pt x="163365" y="40080"/>
                  <a:pt x="163365" y="55378"/>
                </a:cubicBezTo>
                <a:cubicBezTo>
                  <a:pt x="163365" y="60570"/>
                  <a:pt x="161946" y="65415"/>
                  <a:pt x="159488" y="69534"/>
                </a:cubicBezTo>
                <a:cubicBezTo>
                  <a:pt x="168383" y="74137"/>
                  <a:pt x="174440" y="83413"/>
                  <a:pt x="174440" y="94142"/>
                </a:cubicBezTo>
                <a:cubicBezTo>
                  <a:pt x="174440" y="103211"/>
                  <a:pt x="170079" y="111240"/>
                  <a:pt x="163365" y="116294"/>
                </a:cubicBezTo>
                <a:cubicBezTo>
                  <a:pt x="166826" y="120932"/>
                  <a:pt x="168903" y="126677"/>
                  <a:pt x="168903" y="132907"/>
                </a:cubicBezTo>
                <a:cubicBezTo>
                  <a:pt x="168903" y="148205"/>
                  <a:pt x="156512" y="160596"/>
                  <a:pt x="141214" y="160596"/>
                </a:cubicBezTo>
                <a:cubicBezTo>
                  <a:pt x="140971" y="160596"/>
                  <a:pt x="140764" y="160596"/>
                  <a:pt x="140521" y="160596"/>
                </a:cubicBezTo>
                <a:cubicBezTo>
                  <a:pt x="138064" y="170149"/>
                  <a:pt x="129377" y="177209"/>
                  <a:pt x="119063" y="177209"/>
                </a:cubicBezTo>
                <a:lnTo>
                  <a:pt x="107987" y="177209"/>
                </a:lnTo>
                <a:cubicBezTo>
                  <a:pt x="101861" y="177209"/>
                  <a:pt x="96911" y="172260"/>
                  <a:pt x="96911" y="166134"/>
                </a:cubicBezTo>
                <a:lnTo>
                  <a:pt x="96911" y="11076"/>
                </a:lnTo>
                <a:cubicBezTo>
                  <a:pt x="96911" y="4949"/>
                  <a:pt x="101861" y="0"/>
                  <a:pt x="107987" y="0"/>
                </a:cubicBezTo>
                <a:lnTo>
                  <a:pt x="116294" y="0"/>
                </a:lnTo>
                <a:cubicBezTo>
                  <a:pt x="126988" y="0"/>
                  <a:pt x="135676" y="8687"/>
                  <a:pt x="135676" y="19382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886047" y="354419"/>
            <a:ext cx="4120116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Fase 2: Modelado Predictivo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6047" y="708837"/>
            <a:ext cx="4040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Regressor como Modelo Ganador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963" y="1173126"/>
            <a:ext cx="6811926" cy="1655135"/>
          </a:xfrm>
          <a:custGeom>
            <a:avLst/>
            <a:gdLst/>
            <a:ahLst/>
            <a:cxnLst/>
            <a:rect l="l" t="t" r="r" b="b"/>
            <a:pathLst>
              <a:path w="6811926" h="1655135">
                <a:moveTo>
                  <a:pt x="106326" y="0"/>
                </a:moveTo>
                <a:lnTo>
                  <a:pt x="6705600" y="0"/>
                </a:lnTo>
                <a:cubicBezTo>
                  <a:pt x="6764322" y="0"/>
                  <a:pt x="6811926" y="47604"/>
                  <a:pt x="6811926" y="106326"/>
                </a:cubicBezTo>
                <a:lnTo>
                  <a:pt x="6811926" y="1548809"/>
                </a:lnTo>
                <a:cubicBezTo>
                  <a:pt x="6811926" y="1607531"/>
                  <a:pt x="6764322" y="1655135"/>
                  <a:pt x="6705600" y="1655135"/>
                </a:cubicBezTo>
                <a:lnTo>
                  <a:pt x="106326" y="1655135"/>
                </a:lnTo>
                <a:cubicBezTo>
                  <a:pt x="47604" y="1655135"/>
                  <a:pt x="0" y="1607531"/>
                  <a:pt x="0" y="1548809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158" y="1424649"/>
            <a:ext cx="265814" cy="212651"/>
          </a:xfrm>
          <a:custGeom>
            <a:avLst/>
            <a:gdLst/>
            <a:ahLst/>
            <a:cxnLst/>
            <a:rect l="l" t="t" r="r" b="b"/>
            <a:pathLst>
              <a:path w="265814" h="212651">
                <a:moveTo>
                  <a:pt x="146198" y="0"/>
                </a:moveTo>
                <a:cubicBezTo>
                  <a:pt x="146198" y="-7351"/>
                  <a:pt x="140258" y="-13291"/>
                  <a:pt x="132907" y="-13291"/>
                </a:cubicBezTo>
                <a:cubicBezTo>
                  <a:pt x="125556" y="-13291"/>
                  <a:pt x="119616" y="-7351"/>
                  <a:pt x="119616" y="0"/>
                </a:cubicBezTo>
                <a:lnTo>
                  <a:pt x="119616" y="26581"/>
                </a:lnTo>
                <a:lnTo>
                  <a:pt x="79744" y="26581"/>
                </a:lnTo>
                <a:cubicBezTo>
                  <a:pt x="57731" y="26581"/>
                  <a:pt x="39872" y="44441"/>
                  <a:pt x="39872" y="66453"/>
                </a:cubicBezTo>
                <a:lnTo>
                  <a:pt x="39872" y="159488"/>
                </a:lnTo>
                <a:cubicBezTo>
                  <a:pt x="39872" y="181501"/>
                  <a:pt x="57731" y="199360"/>
                  <a:pt x="79744" y="199360"/>
                </a:cubicBezTo>
                <a:lnTo>
                  <a:pt x="186070" y="199360"/>
                </a:lnTo>
                <a:cubicBezTo>
                  <a:pt x="208082" y="199360"/>
                  <a:pt x="225942" y="181501"/>
                  <a:pt x="225942" y="159488"/>
                </a:cubicBezTo>
                <a:lnTo>
                  <a:pt x="225942" y="66453"/>
                </a:lnTo>
                <a:cubicBezTo>
                  <a:pt x="225942" y="44441"/>
                  <a:pt x="208082" y="26581"/>
                  <a:pt x="186070" y="26581"/>
                </a:cubicBezTo>
                <a:lnTo>
                  <a:pt x="146198" y="26581"/>
                </a:lnTo>
                <a:lnTo>
                  <a:pt x="146198" y="0"/>
                </a:lnTo>
                <a:close/>
                <a:moveTo>
                  <a:pt x="66453" y="152843"/>
                </a:moveTo>
                <a:cubicBezTo>
                  <a:pt x="66453" y="147319"/>
                  <a:pt x="70898" y="142875"/>
                  <a:pt x="76422" y="142875"/>
                </a:cubicBezTo>
                <a:lnTo>
                  <a:pt x="89712" y="142875"/>
                </a:lnTo>
                <a:cubicBezTo>
                  <a:pt x="95236" y="142875"/>
                  <a:pt x="99680" y="147319"/>
                  <a:pt x="99680" y="152843"/>
                </a:cubicBezTo>
                <a:cubicBezTo>
                  <a:pt x="99680" y="158367"/>
                  <a:pt x="95236" y="162811"/>
                  <a:pt x="89712" y="162811"/>
                </a:cubicBezTo>
                <a:lnTo>
                  <a:pt x="76422" y="162811"/>
                </a:lnTo>
                <a:cubicBezTo>
                  <a:pt x="70898" y="162811"/>
                  <a:pt x="66453" y="158367"/>
                  <a:pt x="66453" y="152843"/>
                </a:cubicBezTo>
                <a:close/>
                <a:moveTo>
                  <a:pt x="116294" y="152843"/>
                </a:moveTo>
                <a:cubicBezTo>
                  <a:pt x="116294" y="147319"/>
                  <a:pt x="120738" y="142875"/>
                  <a:pt x="126262" y="142875"/>
                </a:cubicBezTo>
                <a:lnTo>
                  <a:pt x="139552" y="142875"/>
                </a:lnTo>
                <a:cubicBezTo>
                  <a:pt x="145076" y="142875"/>
                  <a:pt x="149520" y="147319"/>
                  <a:pt x="149520" y="152843"/>
                </a:cubicBezTo>
                <a:cubicBezTo>
                  <a:pt x="149520" y="158367"/>
                  <a:pt x="145076" y="162811"/>
                  <a:pt x="139552" y="162811"/>
                </a:cubicBezTo>
                <a:lnTo>
                  <a:pt x="126262" y="162811"/>
                </a:lnTo>
                <a:cubicBezTo>
                  <a:pt x="120738" y="162811"/>
                  <a:pt x="116294" y="158367"/>
                  <a:pt x="116294" y="152843"/>
                </a:cubicBezTo>
                <a:close/>
                <a:moveTo>
                  <a:pt x="166134" y="152843"/>
                </a:moveTo>
                <a:cubicBezTo>
                  <a:pt x="166134" y="147319"/>
                  <a:pt x="170578" y="142875"/>
                  <a:pt x="176102" y="142875"/>
                </a:cubicBezTo>
                <a:lnTo>
                  <a:pt x="189392" y="142875"/>
                </a:lnTo>
                <a:cubicBezTo>
                  <a:pt x="194916" y="142875"/>
                  <a:pt x="199360" y="147319"/>
                  <a:pt x="199360" y="152843"/>
                </a:cubicBezTo>
                <a:cubicBezTo>
                  <a:pt x="199360" y="158367"/>
                  <a:pt x="194916" y="162811"/>
                  <a:pt x="189392" y="162811"/>
                </a:cubicBezTo>
                <a:lnTo>
                  <a:pt x="176102" y="162811"/>
                </a:lnTo>
                <a:cubicBezTo>
                  <a:pt x="170578" y="162811"/>
                  <a:pt x="166134" y="158367"/>
                  <a:pt x="166134" y="152843"/>
                </a:cubicBezTo>
                <a:close/>
                <a:moveTo>
                  <a:pt x="93035" y="73099"/>
                </a:moveTo>
                <a:cubicBezTo>
                  <a:pt x="104038" y="73099"/>
                  <a:pt x="112971" y="82032"/>
                  <a:pt x="112971" y="93035"/>
                </a:cubicBezTo>
                <a:cubicBezTo>
                  <a:pt x="112971" y="104038"/>
                  <a:pt x="104038" y="112971"/>
                  <a:pt x="93035" y="112971"/>
                </a:cubicBezTo>
                <a:cubicBezTo>
                  <a:pt x="82032" y="112971"/>
                  <a:pt x="73099" y="104038"/>
                  <a:pt x="73099" y="93035"/>
                </a:cubicBezTo>
                <a:cubicBezTo>
                  <a:pt x="73099" y="82032"/>
                  <a:pt x="82032" y="73099"/>
                  <a:pt x="93035" y="73099"/>
                </a:cubicBezTo>
                <a:close/>
                <a:moveTo>
                  <a:pt x="152843" y="93035"/>
                </a:moveTo>
                <a:cubicBezTo>
                  <a:pt x="152843" y="82032"/>
                  <a:pt x="161776" y="73099"/>
                  <a:pt x="172779" y="73099"/>
                </a:cubicBezTo>
                <a:cubicBezTo>
                  <a:pt x="183782" y="73099"/>
                  <a:pt x="192715" y="82032"/>
                  <a:pt x="192715" y="93035"/>
                </a:cubicBezTo>
                <a:cubicBezTo>
                  <a:pt x="192715" y="104038"/>
                  <a:pt x="183782" y="112971"/>
                  <a:pt x="172779" y="112971"/>
                </a:cubicBezTo>
                <a:cubicBezTo>
                  <a:pt x="161776" y="112971"/>
                  <a:pt x="152843" y="104038"/>
                  <a:pt x="152843" y="93035"/>
                </a:cubicBezTo>
                <a:close/>
                <a:moveTo>
                  <a:pt x="26581" y="93035"/>
                </a:moveTo>
                <a:cubicBezTo>
                  <a:pt x="26581" y="85683"/>
                  <a:pt x="20642" y="79744"/>
                  <a:pt x="13291" y="79744"/>
                </a:cubicBezTo>
                <a:cubicBezTo>
                  <a:pt x="5939" y="79744"/>
                  <a:pt x="0" y="85683"/>
                  <a:pt x="0" y="93035"/>
                </a:cubicBezTo>
                <a:lnTo>
                  <a:pt x="0" y="132907"/>
                </a:lnTo>
                <a:cubicBezTo>
                  <a:pt x="0" y="140258"/>
                  <a:pt x="5939" y="146198"/>
                  <a:pt x="13291" y="146198"/>
                </a:cubicBezTo>
                <a:cubicBezTo>
                  <a:pt x="20642" y="146198"/>
                  <a:pt x="26581" y="140258"/>
                  <a:pt x="26581" y="132907"/>
                </a:cubicBezTo>
                <a:lnTo>
                  <a:pt x="26581" y="93035"/>
                </a:lnTo>
                <a:close/>
                <a:moveTo>
                  <a:pt x="252523" y="79744"/>
                </a:moveTo>
                <a:cubicBezTo>
                  <a:pt x="245172" y="79744"/>
                  <a:pt x="239233" y="85683"/>
                  <a:pt x="239233" y="93035"/>
                </a:cubicBezTo>
                <a:lnTo>
                  <a:pt x="239233" y="132907"/>
                </a:lnTo>
                <a:cubicBezTo>
                  <a:pt x="239233" y="140258"/>
                  <a:pt x="245172" y="146198"/>
                  <a:pt x="252523" y="146198"/>
                </a:cubicBezTo>
                <a:cubicBezTo>
                  <a:pt x="259875" y="146198"/>
                  <a:pt x="265814" y="140258"/>
                  <a:pt x="265814" y="132907"/>
                </a:cubicBezTo>
                <a:lnTo>
                  <a:pt x="265814" y="93035"/>
                </a:lnTo>
                <a:cubicBezTo>
                  <a:pt x="265814" y="85683"/>
                  <a:pt x="259875" y="79744"/>
                  <a:pt x="252523" y="7974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946298" y="1389319"/>
            <a:ext cx="2365744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del Modelo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702" y="1818053"/>
            <a:ext cx="3108251" cy="786809"/>
          </a:xfrm>
          <a:custGeom>
            <a:avLst/>
            <a:gdLst/>
            <a:ahLst/>
            <a:cxnLst/>
            <a:rect l="l" t="t" r="r" b="b"/>
            <a:pathLst>
              <a:path w="3108251" h="786809">
                <a:moveTo>
                  <a:pt x="70884" y="0"/>
                </a:moveTo>
                <a:lnTo>
                  <a:pt x="3037368" y="0"/>
                </a:lnTo>
                <a:cubicBezTo>
                  <a:pt x="3076515" y="0"/>
                  <a:pt x="3108251" y="31736"/>
                  <a:pt x="3108251" y="70884"/>
                </a:cubicBezTo>
                <a:lnTo>
                  <a:pt x="3108251" y="715926"/>
                </a:lnTo>
                <a:cubicBezTo>
                  <a:pt x="3108251" y="755074"/>
                  <a:pt x="3076515" y="786809"/>
                  <a:pt x="3037368" y="786809"/>
                </a:cubicBezTo>
                <a:lnTo>
                  <a:pt x="70884" y="786809"/>
                </a:lnTo>
                <a:cubicBezTo>
                  <a:pt x="31736" y="786809"/>
                  <a:pt x="0" y="755074"/>
                  <a:pt x="0" y="715926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014" y="1963367"/>
            <a:ext cx="2879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Objetivo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014" y="2211460"/>
            <a:ext cx="290623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valor_venta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38354" y="1818053"/>
            <a:ext cx="3108251" cy="786809"/>
          </a:xfrm>
          <a:custGeom>
            <a:avLst/>
            <a:gdLst/>
            <a:ahLst/>
            <a:cxnLst/>
            <a:rect l="l" t="t" r="r" b="b"/>
            <a:pathLst>
              <a:path w="3108251" h="786809">
                <a:moveTo>
                  <a:pt x="70884" y="0"/>
                </a:moveTo>
                <a:lnTo>
                  <a:pt x="3037368" y="0"/>
                </a:lnTo>
                <a:cubicBezTo>
                  <a:pt x="3076515" y="0"/>
                  <a:pt x="3108251" y="31736"/>
                  <a:pt x="3108251" y="70884"/>
                </a:cubicBezTo>
                <a:lnTo>
                  <a:pt x="3108251" y="715926"/>
                </a:lnTo>
                <a:cubicBezTo>
                  <a:pt x="3108251" y="755074"/>
                  <a:pt x="3076515" y="786809"/>
                  <a:pt x="3037368" y="786809"/>
                </a:cubicBezTo>
                <a:lnTo>
                  <a:pt x="70884" y="786809"/>
                </a:lnTo>
                <a:cubicBezTo>
                  <a:pt x="31736" y="786809"/>
                  <a:pt x="0" y="755074"/>
                  <a:pt x="0" y="715926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3665" y="1963367"/>
            <a:ext cx="2879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83665" y="2211460"/>
            <a:ext cx="290623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Regresión Lineal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7963" y="3008903"/>
            <a:ext cx="6811926" cy="1991833"/>
          </a:xfrm>
          <a:custGeom>
            <a:avLst/>
            <a:gdLst/>
            <a:ahLst/>
            <a:cxnLst/>
            <a:rect l="l" t="t" r="r" b="b"/>
            <a:pathLst>
              <a:path w="6811926" h="1991833">
                <a:moveTo>
                  <a:pt x="106324" y="0"/>
                </a:moveTo>
                <a:lnTo>
                  <a:pt x="6705602" y="0"/>
                </a:lnTo>
                <a:cubicBezTo>
                  <a:pt x="6764323" y="0"/>
                  <a:pt x="6811926" y="47603"/>
                  <a:pt x="6811926" y="106324"/>
                </a:cubicBezTo>
                <a:lnTo>
                  <a:pt x="6811926" y="1885509"/>
                </a:lnTo>
                <a:cubicBezTo>
                  <a:pt x="6811926" y="1944230"/>
                  <a:pt x="6764323" y="1991833"/>
                  <a:pt x="6705602" y="1991833"/>
                </a:cubicBezTo>
                <a:lnTo>
                  <a:pt x="106324" y="1991833"/>
                </a:lnTo>
                <a:cubicBezTo>
                  <a:pt x="47603" y="1991833"/>
                  <a:pt x="0" y="1944230"/>
                  <a:pt x="0" y="1885509"/>
                </a:cubicBezTo>
                <a:lnTo>
                  <a:pt x="0" y="106324"/>
                </a:lnTo>
                <a:cubicBezTo>
                  <a:pt x="0" y="47642"/>
                  <a:pt x="47642" y="0"/>
                  <a:pt x="10632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740" y="324281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55572" y="15077"/>
                </a:moveTo>
                <a:cubicBezTo>
                  <a:pt x="60099" y="18233"/>
                  <a:pt x="61179" y="24463"/>
                  <a:pt x="58022" y="28949"/>
                </a:cubicBezTo>
                <a:lnTo>
                  <a:pt x="34763" y="62176"/>
                </a:lnTo>
                <a:cubicBezTo>
                  <a:pt x="33061" y="64584"/>
                  <a:pt x="30402" y="66121"/>
                  <a:pt x="27454" y="66370"/>
                </a:cubicBezTo>
                <a:cubicBezTo>
                  <a:pt x="24505" y="66620"/>
                  <a:pt x="21597" y="65623"/>
                  <a:pt x="19521" y="63546"/>
                </a:cubicBezTo>
                <a:lnTo>
                  <a:pt x="2907" y="46933"/>
                </a:lnTo>
                <a:cubicBezTo>
                  <a:pt x="-955" y="43029"/>
                  <a:pt x="-955" y="36716"/>
                  <a:pt x="2907" y="32811"/>
                </a:cubicBezTo>
                <a:cubicBezTo>
                  <a:pt x="6770" y="28907"/>
                  <a:pt x="13125" y="28949"/>
                  <a:pt x="17029" y="32811"/>
                </a:cubicBezTo>
                <a:lnTo>
                  <a:pt x="25252" y="41035"/>
                </a:lnTo>
                <a:lnTo>
                  <a:pt x="41700" y="17527"/>
                </a:lnTo>
                <a:cubicBezTo>
                  <a:pt x="44856" y="13000"/>
                  <a:pt x="51086" y="11920"/>
                  <a:pt x="55572" y="15077"/>
                </a:cubicBezTo>
                <a:close/>
                <a:moveTo>
                  <a:pt x="55572" y="81530"/>
                </a:moveTo>
                <a:cubicBezTo>
                  <a:pt x="60099" y="84687"/>
                  <a:pt x="61179" y="90917"/>
                  <a:pt x="58022" y="95402"/>
                </a:cubicBezTo>
                <a:lnTo>
                  <a:pt x="34763" y="128629"/>
                </a:lnTo>
                <a:cubicBezTo>
                  <a:pt x="33061" y="131038"/>
                  <a:pt x="30402" y="132575"/>
                  <a:pt x="27454" y="132824"/>
                </a:cubicBezTo>
                <a:cubicBezTo>
                  <a:pt x="24505" y="133073"/>
                  <a:pt x="21597" y="132076"/>
                  <a:pt x="19521" y="130000"/>
                </a:cubicBezTo>
                <a:lnTo>
                  <a:pt x="2907" y="113386"/>
                </a:lnTo>
                <a:cubicBezTo>
                  <a:pt x="-997" y="109482"/>
                  <a:pt x="-997" y="103169"/>
                  <a:pt x="2907" y="99306"/>
                </a:cubicBezTo>
                <a:cubicBezTo>
                  <a:pt x="6811" y="95444"/>
                  <a:pt x="13125" y="95402"/>
                  <a:pt x="16987" y="99306"/>
                </a:cubicBezTo>
                <a:lnTo>
                  <a:pt x="25211" y="107530"/>
                </a:lnTo>
                <a:lnTo>
                  <a:pt x="41658" y="84022"/>
                </a:lnTo>
                <a:cubicBezTo>
                  <a:pt x="44815" y="79495"/>
                  <a:pt x="51045" y="78415"/>
                  <a:pt x="55530" y="81572"/>
                </a:cubicBezTo>
                <a:close/>
                <a:moveTo>
                  <a:pt x="93035" y="39872"/>
                </a:moveTo>
                <a:cubicBezTo>
                  <a:pt x="93035" y="32521"/>
                  <a:pt x="98974" y="26581"/>
                  <a:pt x="106326" y="26581"/>
                </a:cubicBezTo>
                <a:lnTo>
                  <a:pt x="199360" y="26581"/>
                </a:lnTo>
                <a:cubicBezTo>
                  <a:pt x="206712" y="26581"/>
                  <a:pt x="212651" y="32521"/>
                  <a:pt x="212651" y="39872"/>
                </a:cubicBezTo>
                <a:cubicBezTo>
                  <a:pt x="212651" y="47224"/>
                  <a:pt x="206712" y="53163"/>
                  <a:pt x="199360" y="53163"/>
                </a:cubicBezTo>
                <a:lnTo>
                  <a:pt x="106326" y="53163"/>
                </a:lnTo>
                <a:cubicBezTo>
                  <a:pt x="98974" y="53163"/>
                  <a:pt x="93035" y="47224"/>
                  <a:pt x="93035" y="39872"/>
                </a:cubicBezTo>
                <a:close/>
                <a:moveTo>
                  <a:pt x="93035" y="106326"/>
                </a:moveTo>
                <a:cubicBezTo>
                  <a:pt x="93035" y="98974"/>
                  <a:pt x="98974" y="93035"/>
                  <a:pt x="106326" y="93035"/>
                </a:cubicBezTo>
                <a:lnTo>
                  <a:pt x="199360" y="93035"/>
                </a:lnTo>
                <a:cubicBezTo>
                  <a:pt x="206712" y="93035"/>
                  <a:pt x="212651" y="98974"/>
                  <a:pt x="212651" y="106326"/>
                </a:cubicBezTo>
                <a:cubicBezTo>
                  <a:pt x="212651" y="113677"/>
                  <a:pt x="206712" y="119616"/>
                  <a:pt x="199360" y="119616"/>
                </a:cubicBezTo>
                <a:lnTo>
                  <a:pt x="106326" y="119616"/>
                </a:lnTo>
                <a:cubicBezTo>
                  <a:pt x="98974" y="119616"/>
                  <a:pt x="93035" y="113677"/>
                  <a:pt x="93035" y="106326"/>
                </a:cubicBezTo>
                <a:close/>
                <a:moveTo>
                  <a:pt x="66453" y="172779"/>
                </a:moveTo>
                <a:cubicBezTo>
                  <a:pt x="66453" y="165428"/>
                  <a:pt x="72393" y="159488"/>
                  <a:pt x="79744" y="159488"/>
                </a:cubicBezTo>
                <a:lnTo>
                  <a:pt x="199360" y="159488"/>
                </a:lnTo>
                <a:cubicBezTo>
                  <a:pt x="206712" y="159488"/>
                  <a:pt x="212651" y="165428"/>
                  <a:pt x="212651" y="172779"/>
                </a:cubicBezTo>
                <a:cubicBezTo>
                  <a:pt x="212651" y="180130"/>
                  <a:pt x="206712" y="186070"/>
                  <a:pt x="199360" y="186070"/>
                </a:cubicBezTo>
                <a:lnTo>
                  <a:pt x="79744" y="186070"/>
                </a:lnTo>
                <a:cubicBezTo>
                  <a:pt x="72393" y="186070"/>
                  <a:pt x="66453" y="180130"/>
                  <a:pt x="66453" y="172779"/>
                </a:cubicBezTo>
                <a:close/>
                <a:moveTo>
                  <a:pt x="26581" y="156166"/>
                </a:moveTo>
                <a:cubicBezTo>
                  <a:pt x="35751" y="156166"/>
                  <a:pt x="43195" y="163610"/>
                  <a:pt x="43195" y="172779"/>
                </a:cubicBezTo>
                <a:cubicBezTo>
                  <a:pt x="43195" y="181948"/>
                  <a:pt x="35751" y="189392"/>
                  <a:pt x="26581" y="189392"/>
                </a:cubicBezTo>
                <a:cubicBezTo>
                  <a:pt x="17412" y="189392"/>
                  <a:pt x="9968" y="181948"/>
                  <a:pt x="9968" y="172779"/>
                </a:cubicBezTo>
                <a:cubicBezTo>
                  <a:pt x="9968" y="163610"/>
                  <a:pt x="17412" y="156166"/>
                  <a:pt x="26581" y="15616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946298" y="3225097"/>
            <a:ext cx="1754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Predictoras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4158" y="3685841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715926" y="3614957"/>
            <a:ext cx="948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unitario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7089" y="3685841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1" name="Text 19"/>
          <p:cNvSpPr/>
          <p:nvPr/>
        </p:nvSpPr>
        <p:spPr>
          <a:xfrm>
            <a:off x="3958856" y="3614957"/>
            <a:ext cx="62023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Cantidad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4158" y="4004818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715926" y="3933934"/>
            <a:ext cx="93034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 unitario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7089" y="4004818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3958856" y="3933934"/>
            <a:ext cx="62909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4158" y="4323794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715926" y="4252911"/>
            <a:ext cx="65567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Categoría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7089" y="4323794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3958856" y="4252911"/>
            <a:ext cx="416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158" y="4642771"/>
            <a:ext cx="70884" cy="70884"/>
          </a:xfrm>
          <a:custGeom>
            <a:avLst/>
            <a:gdLst/>
            <a:ahLst/>
            <a:cxnLst/>
            <a:rect l="l" t="t" r="r" b="b"/>
            <a:pathLst>
              <a:path w="70884" h="70884">
                <a:moveTo>
                  <a:pt x="35442" y="0"/>
                </a:moveTo>
                <a:lnTo>
                  <a:pt x="35442" y="0"/>
                </a:lnTo>
                <a:cubicBezTo>
                  <a:pt x="55003" y="0"/>
                  <a:pt x="70884" y="15881"/>
                  <a:pt x="70884" y="35442"/>
                </a:cubicBezTo>
                <a:lnTo>
                  <a:pt x="70884" y="35442"/>
                </a:lnTo>
                <a:cubicBezTo>
                  <a:pt x="70884" y="55003"/>
                  <a:pt x="55003" y="70884"/>
                  <a:pt x="35442" y="70884"/>
                </a:cubicBezTo>
                <a:lnTo>
                  <a:pt x="35442" y="70884"/>
                </a:lnTo>
                <a:cubicBezTo>
                  <a:pt x="15881" y="70884"/>
                  <a:pt x="0" y="55003"/>
                  <a:pt x="0" y="3544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715926" y="4571888"/>
            <a:ext cx="1267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 (temporalidad)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7963" y="5185030"/>
            <a:ext cx="6811926" cy="1672856"/>
          </a:xfrm>
          <a:custGeom>
            <a:avLst/>
            <a:gdLst/>
            <a:ahLst/>
            <a:cxnLst/>
            <a:rect l="l" t="t" r="r" b="b"/>
            <a:pathLst>
              <a:path w="6811926" h="1672856">
                <a:moveTo>
                  <a:pt x="106327" y="0"/>
                </a:moveTo>
                <a:lnTo>
                  <a:pt x="6705599" y="0"/>
                </a:lnTo>
                <a:cubicBezTo>
                  <a:pt x="6764321" y="0"/>
                  <a:pt x="6811926" y="47604"/>
                  <a:pt x="6811926" y="106327"/>
                </a:cubicBezTo>
                <a:lnTo>
                  <a:pt x="6811926" y="1566529"/>
                </a:lnTo>
                <a:cubicBezTo>
                  <a:pt x="6811926" y="1625252"/>
                  <a:pt x="6764321" y="1672856"/>
                  <a:pt x="6705599" y="1672856"/>
                </a:cubicBezTo>
                <a:lnTo>
                  <a:pt x="106327" y="1672856"/>
                </a:lnTo>
                <a:cubicBezTo>
                  <a:pt x="47604" y="1672856"/>
                  <a:pt x="0" y="1625252"/>
                  <a:pt x="0" y="1566529"/>
                </a:cubicBezTo>
                <a:lnTo>
                  <a:pt x="0" y="106327"/>
                </a:lnTo>
                <a:cubicBezTo>
                  <a:pt x="0" y="47643"/>
                  <a:pt x="47643" y="0"/>
                  <a:pt x="10632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0740" y="5418949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59933" y="0"/>
                </a:moveTo>
                <a:lnTo>
                  <a:pt x="152968" y="0"/>
                </a:lnTo>
                <a:cubicBezTo>
                  <a:pt x="163974" y="0"/>
                  <a:pt x="172945" y="9054"/>
                  <a:pt x="172530" y="20019"/>
                </a:cubicBezTo>
                <a:cubicBezTo>
                  <a:pt x="172447" y="22220"/>
                  <a:pt x="172364" y="24422"/>
                  <a:pt x="172239" y="26581"/>
                </a:cubicBezTo>
                <a:lnTo>
                  <a:pt x="192840" y="26581"/>
                </a:lnTo>
                <a:cubicBezTo>
                  <a:pt x="203680" y="26581"/>
                  <a:pt x="213233" y="35553"/>
                  <a:pt x="212402" y="47265"/>
                </a:cubicBezTo>
                <a:cubicBezTo>
                  <a:pt x="209287" y="90335"/>
                  <a:pt x="187274" y="114009"/>
                  <a:pt x="163393" y="126386"/>
                </a:cubicBezTo>
                <a:cubicBezTo>
                  <a:pt x="156830" y="129792"/>
                  <a:pt x="150143" y="132326"/>
                  <a:pt x="143789" y="134195"/>
                </a:cubicBezTo>
                <a:cubicBezTo>
                  <a:pt x="135399" y="146073"/>
                  <a:pt x="126677" y="152345"/>
                  <a:pt x="119741" y="155709"/>
                </a:cubicBezTo>
                <a:lnTo>
                  <a:pt x="119741" y="186070"/>
                </a:lnTo>
                <a:lnTo>
                  <a:pt x="146322" y="186070"/>
                </a:lnTo>
                <a:cubicBezTo>
                  <a:pt x="153674" y="186070"/>
                  <a:pt x="159613" y="192009"/>
                  <a:pt x="159613" y="199360"/>
                </a:cubicBezTo>
                <a:cubicBezTo>
                  <a:pt x="159613" y="206712"/>
                  <a:pt x="153674" y="212651"/>
                  <a:pt x="146322" y="212651"/>
                </a:cubicBezTo>
                <a:lnTo>
                  <a:pt x="66578" y="212651"/>
                </a:lnTo>
                <a:cubicBezTo>
                  <a:pt x="59227" y="212651"/>
                  <a:pt x="53287" y="206712"/>
                  <a:pt x="53287" y="199360"/>
                </a:cubicBezTo>
                <a:cubicBezTo>
                  <a:pt x="53287" y="192009"/>
                  <a:pt x="59227" y="186070"/>
                  <a:pt x="66578" y="186070"/>
                </a:cubicBezTo>
                <a:lnTo>
                  <a:pt x="93159" y="186070"/>
                </a:lnTo>
                <a:lnTo>
                  <a:pt x="93159" y="155709"/>
                </a:lnTo>
                <a:cubicBezTo>
                  <a:pt x="86514" y="152511"/>
                  <a:pt x="78249" y="146571"/>
                  <a:pt x="70191" y="135648"/>
                </a:cubicBezTo>
                <a:cubicBezTo>
                  <a:pt x="62549" y="133655"/>
                  <a:pt x="54243" y="130623"/>
                  <a:pt x="46144" y="126054"/>
                </a:cubicBezTo>
                <a:cubicBezTo>
                  <a:pt x="23674" y="113469"/>
                  <a:pt x="3406" y="89754"/>
                  <a:pt x="498" y="47182"/>
                </a:cubicBezTo>
                <a:cubicBezTo>
                  <a:pt x="-291" y="35511"/>
                  <a:pt x="9220" y="26540"/>
                  <a:pt x="20061" y="26540"/>
                </a:cubicBezTo>
                <a:lnTo>
                  <a:pt x="40661" y="26540"/>
                </a:lnTo>
                <a:cubicBezTo>
                  <a:pt x="40537" y="24380"/>
                  <a:pt x="40454" y="22220"/>
                  <a:pt x="40370" y="19978"/>
                </a:cubicBezTo>
                <a:cubicBezTo>
                  <a:pt x="39955" y="8971"/>
                  <a:pt x="48926" y="-42"/>
                  <a:pt x="59933" y="-42"/>
                </a:cubicBezTo>
                <a:close/>
                <a:moveTo>
                  <a:pt x="42156" y="46517"/>
                </a:moveTo>
                <a:lnTo>
                  <a:pt x="20393" y="46517"/>
                </a:lnTo>
                <a:cubicBezTo>
                  <a:pt x="22968" y="81696"/>
                  <a:pt x="39124" y="99306"/>
                  <a:pt x="55779" y="108651"/>
                </a:cubicBezTo>
                <a:cubicBezTo>
                  <a:pt x="49799" y="93159"/>
                  <a:pt x="44856" y="72933"/>
                  <a:pt x="42156" y="46517"/>
                </a:cubicBezTo>
                <a:close/>
                <a:moveTo>
                  <a:pt x="157827" y="106658"/>
                </a:moveTo>
                <a:cubicBezTo>
                  <a:pt x="174648" y="96773"/>
                  <a:pt x="189849" y="79204"/>
                  <a:pt x="192424" y="46517"/>
                </a:cubicBezTo>
                <a:lnTo>
                  <a:pt x="170702" y="46517"/>
                </a:lnTo>
                <a:cubicBezTo>
                  <a:pt x="168127" y="71811"/>
                  <a:pt x="163476" y="91457"/>
                  <a:pt x="157827" y="10665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946298" y="5401228"/>
            <a:ext cx="264041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Ganador: Random Forest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309" y="5826530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Text 34"/>
          <p:cNvSpPr/>
          <p:nvPr/>
        </p:nvSpPr>
        <p:spPr>
          <a:xfrm>
            <a:off x="879844" y="5791088"/>
            <a:ext cx="408467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Captura relaciones no lineales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 variables predictivas y ventas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6309" y="6145507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879844" y="6110065"/>
            <a:ext cx="26492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R² y bajo RMSE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validación cruzada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6309" y="6464484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879844" y="6429042"/>
            <a:ext cx="328723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Robusto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frente a variaciones de precios y cantidades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54186" y="1173126"/>
            <a:ext cx="4481623" cy="2612065"/>
          </a:xfrm>
          <a:custGeom>
            <a:avLst/>
            <a:gdLst/>
            <a:ahLst/>
            <a:cxnLst/>
            <a:rect l="l" t="t" r="r" b="b"/>
            <a:pathLst>
              <a:path w="4481623" h="2612065">
                <a:moveTo>
                  <a:pt x="106337" y="0"/>
                </a:moveTo>
                <a:lnTo>
                  <a:pt x="4375286" y="0"/>
                </a:lnTo>
                <a:cubicBezTo>
                  <a:pt x="4434014" y="0"/>
                  <a:pt x="4481623" y="47609"/>
                  <a:pt x="4481623" y="106337"/>
                </a:cubicBezTo>
                <a:lnTo>
                  <a:pt x="4481623" y="2505728"/>
                </a:lnTo>
                <a:cubicBezTo>
                  <a:pt x="4481623" y="2564456"/>
                  <a:pt x="4434014" y="2612065"/>
                  <a:pt x="4375286" y="2612065"/>
                </a:cubicBezTo>
                <a:lnTo>
                  <a:pt x="106337" y="2612065"/>
                </a:lnTo>
                <a:cubicBezTo>
                  <a:pt x="47609" y="2612065"/>
                  <a:pt x="0" y="2564456"/>
                  <a:pt x="0" y="2505728"/>
                </a:cubicBezTo>
                <a:lnTo>
                  <a:pt x="0" y="106337"/>
                </a:lnTo>
                <a:cubicBezTo>
                  <a:pt x="0" y="47609"/>
                  <a:pt x="47609" y="0"/>
                  <a:pt x="106337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61521" y="137159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26581" y="26581"/>
                </a:moveTo>
                <a:cubicBezTo>
                  <a:pt x="26581" y="19230"/>
                  <a:pt x="20642" y="13291"/>
                  <a:pt x="13291" y="13291"/>
                </a:cubicBezTo>
                <a:cubicBezTo>
                  <a:pt x="5939" y="13291"/>
                  <a:pt x="0" y="19230"/>
                  <a:pt x="0" y="26581"/>
                </a:cubicBezTo>
                <a:lnTo>
                  <a:pt x="0" y="166134"/>
                </a:lnTo>
                <a:cubicBezTo>
                  <a:pt x="0" y="184491"/>
                  <a:pt x="14869" y="199360"/>
                  <a:pt x="33227" y="199360"/>
                </a:cubicBezTo>
                <a:lnTo>
                  <a:pt x="199360" y="199360"/>
                </a:lnTo>
                <a:cubicBezTo>
                  <a:pt x="206712" y="199360"/>
                  <a:pt x="212651" y="193421"/>
                  <a:pt x="212651" y="186070"/>
                </a:cubicBezTo>
                <a:cubicBezTo>
                  <a:pt x="212651" y="178718"/>
                  <a:pt x="206712" y="172779"/>
                  <a:pt x="199360" y="172779"/>
                </a:cubicBezTo>
                <a:lnTo>
                  <a:pt x="33227" y="172779"/>
                </a:lnTo>
                <a:cubicBezTo>
                  <a:pt x="29572" y="172779"/>
                  <a:pt x="26581" y="169789"/>
                  <a:pt x="26581" y="166134"/>
                </a:cubicBezTo>
                <a:lnTo>
                  <a:pt x="26581" y="26581"/>
                </a:lnTo>
                <a:close/>
                <a:moveTo>
                  <a:pt x="195456" y="62549"/>
                </a:moveTo>
                <a:cubicBezTo>
                  <a:pt x="200648" y="57358"/>
                  <a:pt x="200648" y="48926"/>
                  <a:pt x="195456" y="43735"/>
                </a:cubicBezTo>
                <a:cubicBezTo>
                  <a:pt x="190265" y="38543"/>
                  <a:pt x="181833" y="38543"/>
                  <a:pt x="176642" y="43735"/>
                </a:cubicBezTo>
                <a:lnTo>
                  <a:pt x="132907" y="87511"/>
                </a:lnTo>
                <a:lnTo>
                  <a:pt x="109067" y="63712"/>
                </a:lnTo>
                <a:cubicBezTo>
                  <a:pt x="103875" y="58521"/>
                  <a:pt x="95444" y="58521"/>
                  <a:pt x="90252" y="63712"/>
                </a:cubicBezTo>
                <a:lnTo>
                  <a:pt x="50380" y="103584"/>
                </a:lnTo>
                <a:cubicBezTo>
                  <a:pt x="45188" y="108776"/>
                  <a:pt x="45188" y="117207"/>
                  <a:pt x="50380" y="122399"/>
                </a:cubicBezTo>
                <a:cubicBezTo>
                  <a:pt x="55572" y="127591"/>
                  <a:pt x="64003" y="127591"/>
                  <a:pt x="69195" y="122399"/>
                </a:cubicBezTo>
                <a:lnTo>
                  <a:pt x="99680" y="91913"/>
                </a:lnTo>
                <a:lnTo>
                  <a:pt x="123520" y="115754"/>
                </a:lnTo>
                <a:cubicBezTo>
                  <a:pt x="128712" y="120945"/>
                  <a:pt x="137143" y="120945"/>
                  <a:pt x="142335" y="115754"/>
                </a:cubicBezTo>
                <a:lnTo>
                  <a:pt x="195498" y="6259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7907079" y="1353877"/>
            <a:ext cx="198474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Rendimiento del Modelo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4940" y="1743738"/>
            <a:ext cx="4120116" cy="726558"/>
          </a:xfrm>
          <a:custGeom>
            <a:avLst/>
            <a:gdLst/>
            <a:ahLst/>
            <a:cxnLst/>
            <a:rect l="l" t="t" r="r" b="b"/>
            <a:pathLst>
              <a:path w="4120116" h="726558">
                <a:moveTo>
                  <a:pt x="70883" y="0"/>
                </a:moveTo>
                <a:lnTo>
                  <a:pt x="4049233" y="0"/>
                </a:lnTo>
                <a:cubicBezTo>
                  <a:pt x="4088381" y="0"/>
                  <a:pt x="4120116" y="31735"/>
                  <a:pt x="4120116" y="70883"/>
                </a:cubicBezTo>
                <a:lnTo>
                  <a:pt x="4120116" y="655675"/>
                </a:lnTo>
                <a:cubicBezTo>
                  <a:pt x="4120116" y="694823"/>
                  <a:pt x="4088381" y="726558"/>
                  <a:pt x="4049233" y="726558"/>
                </a:cubicBezTo>
                <a:lnTo>
                  <a:pt x="70883" y="726558"/>
                </a:lnTo>
                <a:cubicBezTo>
                  <a:pt x="31735" y="726558"/>
                  <a:pt x="0" y="694823"/>
                  <a:pt x="0" y="655675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676707" y="1920835"/>
            <a:ext cx="593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98065" y="1885505"/>
            <a:ext cx="52276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0.94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76707" y="2239811"/>
            <a:ext cx="3836581" cy="88605"/>
          </a:xfrm>
          <a:custGeom>
            <a:avLst/>
            <a:gdLst/>
            <a:ahLst/>
            <a:cxnLst/>
            <a:rect l="l" t="t" r="r" b="b"/>
            <a:pathLst>
              <a:path w="3836581" h="88605">
                <a:moveTo>
                  <a:pt x="44302" y="0"/>
                </a:moveTo>
                <a:lnTo>
                  <a:pt x="3792279" y="0"/>
                </a:lnTo>
                <a:cubicBezTo>
                  <a:pt x="3816747" y="0"/>
                  <a:pt x="3836581" y="19835"/>
                  <a:pt x="3836581" y="44302"/>
                </a:cubicBezTo>
                <a:lnTo>
                  <a:pt x="3836581" y="44302"/>
                </a:lnTo>
                <a:cubicBezTo>
                  <a:pt x="3836581" y="68770"/>
                  <a:pt x="3816747" y="88605"/>
                  <a:pt x="3792279" y="88605"/>
                </a:cubicBezTo>
                <a:lnTo>
                  <a:pt x="44302" y="88605"/>
                </a:lnTo>
                <a:cubicBezTo>
                  <a:pt x="19851" y="88605"/>
                  <a:pt x="0" y="68753"/>
                  <a:pt x="0" y="44302"/>
                </a:cubicBezTo>
                <a:lnTo>
                  <a:pt x="0" y="44302"/>
                </a:lnTo>
                <a:cubicBezTo>
                  <a:pt x="0" y="19851"/>
                  <a:pt x="19851" y="0"/>
                  <a:pt x="4430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76707" y="2239811"/>
            <a:ext cx="3606209" cy="88605"/>
          </a:xfrm>
          <a:custGeom>
            <a:avLst/>
            <a:gdLst/>
            <a:ahLst/>
            <a:cxnLst/>
            <a:rect l="l" t="t" r="r" b="b"/>
            <a:pathLst>
              <a:path w="3606209" h="88605">
                <a:moveTo>
                  <a:pt x="44302" y="0"/>
                </a:moveTo>
                <a:lnTo>
                  <a:pt x="3561907" y="0"/>
                </a:lnTo>
                <a:cubicBezTo>
                  <a:pt x="3586374" y="0"/>
                  <a:pt x="3606209" y="19835"/>
                  <a:pt x="3606209" y="44302"/>
                </a:cubicBezTo>
                <a:lnTo>
                  <a:pt x="3606209" y="44302"/>
                </a:lnTo>
                <a:cubicBezTo>
                  <a:pt x="3606209" y="68770"/>
                  <a:pt x="3586374" y="88605"/>
                  <a:pt x="3561907" y="88605"/>
                </a:cubicBezTo>
                <a:lnTo>
                  <a:pt x="44302" y="88605"/>
                </a:lnTo>
                <a:cubicBezTo>
                  <a:pt x="19851" y="88605"/>
                  <a:pt x="0" y="68753"/>
                  <a:pt x="0" y="44302"/>
                </a:cubicBezTo>
                <a:lnTo>
                  <a:pt x="0" y="44302"/>
                </a:lnTo>
                <a:cubicBezTo>
                  <a:pt x="0" y="19851"/>
                  <a:pt x="19851" y="0"/>
                  <a:pt x="4430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Shape 47"/>
          <p:cNvSpPr/>
          <p:nvPr/>
        </p:nvSpPr>
        <p:spPr>
          <a:xfrm>
            <a:off x="7534940" y="2611951"/>
            <a:ext cx="4120116" cy="726558"/>
          </a:xfrm>
          <a:custGeom>
            <a:avLst/>
            <a:gdLst/>
            <a:ahLst/>
            <a:cxnLst/>
            <a:rect l="l" t="t" r="r" b="b"/>
            <a:pathLst>
              <a:path w="4120116" h="726558">
                <a:moveTo>
                  <a:pt x="70883" y="0"/>
                </a:moveTo>
                <a:lnTo>
                  <a:pt x="4049233" y="0"/>
                </a:lnTo>
                <a:cubicBezTo>
                  <a:pt x="4088381" y="0"/>
                  <a:pt x="4120116" y="31735"/>
                  <a:pt x="4120116" y="70883"/>
                </a:cubicBezTo>
                <a:lnTo>
                  <a:pt x="4120116" y="655675"/>
                </a:lnTo>
                <a:cubicBezTo>
                  <a:pt x="4120116" y="694823"/>
                  <a:pt x="4088381" y="726558"/>
                  <a:pt x="4049233" y="726558"/>
                </a:cubicBezTo>
                <a:lnTo>
                  <a:pt x="70883" y="726558"/>
                </a:lnTo>
                <a:cubicBezTo>
                  <a:pt x="31735" y="726558"/>
                  <a:pt x="0" y="694823"/>
                  <a:pt x="0" y="655675"/>
                </a:cubicBezTo>
                <a:lnTo>
                  <a:pt x="0" y="70883"/>
                </a:lnTo>
                <a:cubicBezTo>
                  <a:pt x="0" y="31762"/>
                  <a:pt x="31762" y="0"/>
                  <a:pt x="70883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676707" y="2789052"/>
            <a:ext cx="42530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47794" y="2753718"/>
            <a:ext cx="46960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76707" y="3108029"/>
            <a:ext cx="3836581" cy="88605"/>
          </a:xfrm>
          <a:custGeom>
            <a:avLst/>
            <a:gdLst/>
            <a:ahLst/>
            <a:cxnLst/>
            <a:rect l="l" t="t" r="r" b="b"/>
            <a:pathLst>
              <a:path w="3836581" h="88605">
                <a:moveTo>
                  <a:pt x="44302" y="0"/>
                </a:moveTo>
                <a:lnTo>
                  <a:pt x="3792279" y="0"/>
                </a:lnTo>
                <a:cubicBezTo>
                  <a:pt x="3816747" y="0"/>
                  <a:pt x="3836581" y="19835"/>
                  <a:pt x="3836581" y="44302"/>
                </a:cubicBezTo>
                <a:lnTo>
                  <a:pt x="3836581" y="44302"/>
                </a:lnTo>
                <a:cubicBezTo>
                  <a:pt x="3836581" y="68770"/>
                  <a:pt x="3816747" y="88605"/>
                  <a:pt x="3792279" y="88605"/>
                </a:cubicBezTo>
                <a:lnTo>
                  <a:pt x="44302" y="88605"/>
                </a:lnTo>
                <a:cubicBezTo>
                  <a:pt x="19851" y="88605"/>
                  <a:pt x="0" y="68753"/>
                  <a:pt x="0" y="44302"/>
                </a:cubicBezTo>
                <a:lnTo>
                  <a:pt x="0" y="44302"/>
                </a:lnTo>
                <a:cubicBezTo>
                  <a:pt x="0" y="19851"/>
                  <a:pt x="19851" y="0"/>
                  <a:pt x="4430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76707" y="3108029"/>
            <a:ext cx="460744" cy="88605"/>
          </a:xfrm>
          <a:custGeom>
            <a:avLst/>
            <a:gdLst/>
            <a:ahLst/>
            <a:cxnLst/>
            <a:rect l="l" t="t" r="r" b="b"/>
            <a:pathLst>
              <a:path w="460744" h="88605">
                <a:moveTo>
                  <a:pt x="44302" y="0"/>
                </a:moveTo>
                <a:lnTo>
                  <a:pt x="416442" y="0"/>
                </a:lnTo>
                <a:cubicBezTo>
                  <a:pt x="440909" y="0"/>
                  <a:pt x="460744" y="19835"/>
                  <a:pt x="460744" y="44302"/>
                </a:cubicBezTo>
                <a:lnTo>
                  <a:pt x="460744" y="44302"/>
                </a:lnTo>
                <a:cubicBezTo>
                  <a:pt x="460744" y="68770"/>
                  <a:pt x="440909" y="88605"/>
                  <a:pt x="416442" y="88605"/>
                </a:cubicBezTo>
                <a:lnTo>
                  <a:pt x="44302" y="88605"/>
                </a:lnTo>
                <a:cubicBezTo>
                  <a:pt x="19851" y="88605"/>
                  <a:pt x="0" y="68753"/>
                  <a:pt x="0" y="44302"/>
                </a:cubicBezTo>
                <a:lnTo>
                  <a:pt x="0" y="44302"/>
                </a:lnTo>
                <a:cubicBezTo>
                  <a:pt x="0" y="19851"/>
                  <a:pt x="19851" y="0"/>
                  <a:pt x="4430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Shape 52"/>
          <p:cNvSpPr/>
          <p:nvPr/>
        </p:nvSpPr>
        <p:spPr>
          <a:xfrm>
            <a:off x="7354186" y="3965833"/>
            <a:ext cx="4481623" cy="1601972"/>
          </a:xfrm>
          <a:custGeom>
            <a:avLst/>
            <a:gdLst/>
            <a:ahLst/>
            <a:cxnLst/>
            <a:rect l="l" t="t" r="r" b="b"/>
            <a:pathLst>
              <a:path w="4481623" h="1601972">
                <a:moveTo>
                  <a:pt x="106323" y="0"/>
                </a:moveTo>
                <a:lnTo>
                  <a:pt x="4375300" y="0"/>
                </a:lnTo>
                <a:cubicBezTo>
                  <a:pt x="4434021" y="0"/>
                  <a:pt x="4481623" y="47602"/>
                  <a:pt x="4481623" y="106323"/>
                </a:cubicBezTo>
                <a:lnTo>
                  <a:pt x="4481623" y="1495649"/>
                </a:lnTo>
                <a:cubicBezTo>
                  <a:pt x="4481623" y="1554370"/>
                  <a:pt x="4434021" y="1601972"/>
                  <a:pt x="4375300" y="1601972"/>
                </a:cubicBezTo>
                <a:lnTo>
                  <a:pt x="106323" y="1601972"/>
                </a:lnTo>
                <a:cubicBezTo>
                  <a:pt x="47602" y="1601972"/>
                  <a:pt x="0" y="1554370"/>
                  <a:pt x="0" y="1495649"/>
                </a:cubicBezTo>
                <a:lnTo>
                  <a:pt x="0" y="106323"/>
                </a:lnTo>
                <a:cubicBezTo>
                  <a:pt x="0" y="47642"/>
                  <a:pt x="47642" y="0"/>
                  <a:pt x="106323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88103" y="4164306"/>
            <a:ext cx="159488" cy="212651"/>
          </a:xfrm>
          <a:custGeom>
            <a:avLst/>
            <a:gdLst/>
            <a:ahLst/>
            <a:cxnLst/>
            <a:rect l="l" t="t" r="r" b="b"/>
            <a:pathLst>
              <a:path w="159488" h="212651">
                <a:moveTo>
                  <a:pt x="121651" y="159488"/>
                </a:moveTo>
                <a:cubicBezTo>
                  <a:pt x="124683" y="150226"/>
                  <a:pt x="130747" y="141837"/>
                  <a:pt x="137600" y="134610"/>
                </a:cubicBezTo>
                <a:cubicBezTo>
                  <a:pt x="151182" y="120322"/>
                  <a:pt x="159488" y="101009"/>
                  <a:pt x="159488" y="79744"/>
                </a:cubicBezTo>
                <a:cubicBezTo>
                  <a:pt x="159488" y="35719"/>
                  <a:pt x="123770" y="0"/>
                  <a:pt x="79744" y="0"/>
                </a:cubicBezTo>
                <a:cubicBezTo>
                  <a:pt x="35719" y="0"/>
                  <a:pt x="0" y="35719"/>
                  <a:pt x="0" y="79744"/>
                </a:cubicBezTo>
                <a:cubicBezTo>
                  <a:pt x="0" y="101009"/>
                  <a:pt x="8307" y="120322"/>
                  <a:pt x="21888" y="134610"/>
                </a:cubicBezTo>
                <a:cubicBezTo>
                  <a:pt x="28741" y="141837"/>
                  <a:pt x="34847" y="150226"/>
                  <a:pt x="37837" y="159488"/>
                </a:cubicBezTo>
                <a:lnTo>
                  <a:pt x="121610" y="159488"/>
                </a:lnTo>
                <a:close/>
                <a:moveTo>
                  <a:pt x="119616" y="179424"/>
                </a:moveTo>
                <a:lnTo>
                  <a:pt x="39872" y="179424"/>
                </a:lnTo>
                <a:lnTo>
                  <a:pt x="39872" y="186070"/>
                </a:lnTo>
                <a:cubicBezTo>
                  <a:pt x="39872" y="204428"/>
                  <a:pt x="54741" y="219297"/>
                  <a:pt x="73099" y="219297"/>
                </a:cubicBezTo>
                <a:lnTo>
                  <a:pt x="86390" y="219297"/>
                </a:lnTo>
                <a:cubicBezTo>
                  <a:pt x="104747" y="219297"/>
                  <a:pt x="119616" y="204428"/>
                  <a:pt x="119616" y="186070"/>
                </a:cubicBezTo>
                <a:lnTo>
                  <a:pt x="119616" y="179424"/>
                </a:lnTo>
                <a:close/>
                <a:moveTo>
                  <a:pt x="76422" y="46517"/>
                </a:moveTo>
                <a:cubicBezTo>
                  <a:pt x="59891" y="46517"/>
                  <a:pt x="46517" y="59891"/>
                  <a:pt x="46517" y="76422"/>
                </a:cubicBezTo>
                <a:cubicBezTo>
                  <a:pt x="46517" y="81945"/>
                  <a:pt x="42073" y="86390"/>
                  <a:pt x="36549" y="86390"/>
                </a:cubicBezTo>
                <a:cubicBezTo>
                  <a:pt x="31025" y="86390"/>
                  <a:pt x="26581" y="81945"/>
                  <a:pt x="26581" y="76422"/>
                </a:cubicBezTo>
                <a:cubicBezTo>
                  <a:pt x="26581" y="48885"/>
                  <a:pt x="48885" y="26581"/>
                  <a:pt x="76422" y="26581"/>
                </a:cubicBezTo>
                <a:cubicBezTo>
                  <a:pt x="81945" y="26581"/>
                  <a:pt x="86390" y="31025"/>
                  <a:pt x="86390" y="36549"/>
                </a:cubicBezTo>
                <a:cubicBezTo>
                  <a:pt x="86390" y="42073"/>
                  <a:pt x="81945" y="46517"/>
                  <a:pt x="76422" y="4651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6" name="Text 54"/>
          <p:cNvSpPr/>
          <p:nvPr/>
        </p:nvSpPr>
        <p:spPr>
          <a:xfrm>
            <a:off x="7907079" y="4146585"/>
            <a:ext cx="181639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Capacidades Habilitadas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52661" y="4571888"/>
            <a:ext cx="124047" cy="124047"/>
          </a:xfrm>
          <a:custGeom>
            <a:avLst/>
            <a:gdLst/>
            <a:ahLst/>
            <a:cxnLst/>
            <a:rect l="l" t="t" r="r" b="b"/>
            <a:pathLst>
              <a:path w="124047" h="124047">
                <a:moveTo>
                  <a:pt x="121769" y="67499"/>
                </a:moveTo>
                <a:cubicBezTo>
                  <a:pt x="124798" y="64470"/>
                  <a:pt x="124798" y="59552"/>
                  <a:pt x="121769" y="56524"/>
                </a:cubicBezTo>
                <a:lnTo>
                  <a:pt x="83005" y="17759"/>
                </a:lnTo>
                <a:cubicBezTo>
                  <a:pt x="79976" y="14731"/>
                  <a:pt x="75058" y="14731"/>
                  <a:pt x="72029" y="17759"/>
                </a:cubicBezTo>
                <a:cubicBezTo>
                  <a:pt x="69001" y="20787"/>
                  <a:pt x="69001" y="25706"/>
                  <a:pt x="72029" y="28734"/>
                </a:cubicBezTo>
                <a:lnTo>
                  <a:pt x="97565" y="54270"/>
                </a:lnTo>
                <a:lnTo>
                  <a:pt x="7753" y="54270"/>
                </a:lnTo>
                <a:cubicBezTo>
                  <a:pt x="3465" y="54270"/>
                  <a:pt x="0" y="57735"/>
                  <a:pt x="0" y="62023"/>
                </a:cubicBezTo>
                <a:cubicBezTo>
                  <a:pt x="0" y="66312"/>
                  <a:pt x="3465" y="69776"/>
                  <a:pt x="7753" y="69776"/>
                </a:cubicBezTo>
                <a:lnTo>
                  <a:pt x="97565" y="69776"/>
                </a:lnTo>
                <a:lnTo>
                  <a:pt x="72029" y="95312"/>
                </a:lnTo>
                <a:cubicBezTo>
                  <a:pt x="69001" y="98341"/>
                  <a:pt x="69001" y="103259"/>
                  <a:pt x="72029" y="106288"/>
                </a:cubicBezTo>
                <a:cubicBezTo>
                  <a:pt x="75058" y="109316"/>
                  <a:pt x="79976" y="109316"/>
                  <a:pt x="83005" y="106288"/>
                </a:cubicBezTo>
                <a:lnTo>
                  <a:pt x="121769" y="6752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8" name="Text 56"/>
          <p:cNvSpPr/>
          <p:nvPr/>
        </p:nvSpPr>
        <p:spPr>
          <a:xfrm>
            <a:off x="7796323" y="4536446"/>
            <a:ext cx="2472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Generar </a:t>
            </a:r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predicciones futuras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ventas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52661" y="4890864"/>
            <a:ext cx="124047" cy="124047"/>
          </a:xfrm>
          <a:custGeom>
            <a:avLst/>
            <a:gdLst/>
            <a:ahLst/>
            <a:cxnLst/>
            <a:rect l="l" t="t" r="r" b="b"/>
            <a:pathLst>
              <a:path w="124047" h="124047">
                <a:moveTo>
                  <a:pt x="121769" y="67499"/>
                </a:moveTo>
                <a:cubicBezTo>
                  <a:pt x="124798" y="64470"/>
                  <a:pt x="124798" y="59552"/>
                  <a:pt x="121769" y="56524"/>
                </a:cubicBezTo>
                <a:lnTo>
                  <a:pt x="83005" y="17759"/>
                </a:lnTo>
                <a:cubicBezTo>
                  <a:pt x="79976" y="14731"/>
                  <a:pt x="75058" y="14731"/>
                  <a:pt x="72029" y="17759"/>
                </a:cubicBezTo>
                <a:cubicBezTo>
                  <a:pt x="69001" y="20787"/>
                  <a:pt x="69001" y="25706"/>
                  <a:pt x="72029" y="28734"/>
                </a:cubicBezTo>
                <a:lnTo>
                  <a:pt x="97565" y="54270"/>
                </a:lnTo>
                <a:lnTo>
                  <a:pt x="7753" y="54270"/>
                </a:lnTo>
                <a:cubicBezTo>
                  <a:pt x="3465" y="54270"/>
                  <a:pt x="0" y="57735"/>
                  <a:pt x="0" y="62023"/>
                </a:cubicBezTo>
                <a:cubicBezTo>
                  <a:pt x="0" y="66312"/>
                  <a:pt x="3465" y="69776"/>
                  <a:pt x="7753" y="69776"/>
                </a:cubicBezTo>
                <a:lnTo>
                  <a:pt x="97565" y="69776"/>
                </a:lnTo>
                <a:lnTo>
                  <a:pt x="72029" y="95312"/>
                </a:lnTo>
                <a:cubicBezTo>
                  <a:pt x="69001" y="98341"/>
                  <a:pt x="69001" y="103259"/>
                  <a:pt x="72029" y="106288"/>
                </a:cubicBezTo>
                <a:cubicBezTo>
                  <a:pt x="75058" y="109316"/>
                  <a:pt x="79976" y="109316"/>
                  <a:pt x="83005" y="106288"/>
                </a:cubicBezTo>
                <a:lnTo>
                  <a:pt x="121769" y="6752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0" name="Text 58"/>
          <p:cNvSpPr/>
          <p:nvPr/>
        </p:nvSpPr>
        <p:spPr>
          <a:xfrm>
            <a:off x="7796323" y="4855422"/>
            <a:ext cx="237460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Alimentar </a:t>
            </a:r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simulaciones de escenarios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52661" y="5209841"/>
            <a:ext cx="124047" cy="124047"/>
          </a:xfrm>
          <a:custGeom>
            <a:avLst/>
            <a:gdLst/>
            <a:ahLst/>
            <a:cxnLst/>
            <a:rect l="l" t="t" r="r" b="b"/>
            <a:pathLst>
              <a:path w="124047" h="124047">
                <a:moveTo>
                  <a:pt x="121769" y="67499"/>
                </a:moveTo>
                <a:cubicBezTo>
                  <a:pt x="124798" y="64470"/>
                  <a:pt x="124798" y="59552"/>
                  <a:pt x="121769" y="56524"/>
                </a:cubicBezTo>
                <a:lnTo>
                  <a:pt x="83005" y="17759"/>
                </a:lnTo>
                <a:cubicBezTo>
                  <a:pt x="79976" y="14731"/>
                  <a:pt x="75058" y="14731"/>
                  <a:pt x="72029" y="17759"/>
                </a:cubicBezTo>
                <a:cubicBezTo>
                  <a:pt x="69001" y="20787"/>
                  <a:pt x="69001" y="25706"/>
                  <a:pt x="72029" y="28734"/>
                </a:cubicBezTo>
                <a:lnTo>
                  <a:pt x="97565" y="54270"/>
                </a:lnTo>
                <a:lnTo>
                  <a:pt x="7753" y="54270"/>
                </a:lnTo>
                <a:cubicBezTo>
                  <a:pt x="3465" y="54270"/>
                  <a:pt x="0" y="57735"/>
                  <a:pt x="0" y="62023"/>
                </a:cubicBezTo>
                <a:cubicBezTo>
                  <a:pt x="0" y="66312"/>
                  <a:pt x="3465" y="69776"/>
                  <a:pt x="7753" y="69776"/>
                </a:cubicBezTo>
                <a:lnTo>
                  <a:pt x="97565" y="69776"/>
                </a:lnTo>
                <a:lnTo>
                  <a:pt x="72029" y="95312"/>
                </a:lnTo>
                <a:cubicBezTo>
                  <a:pt x="69001" y="98341"/>
                  <a:pt x="69001" y="103259"/>
                  <a:pt x="72029" y="106288"/>
                </a:cubicBezTo>
                <a:cubicBezTo>
                  <a:pt x="75058" y="109316"/>
                  <a:pt x="79976" y="109316"/>
                  <a:pt x="83005" y="106288"/>
                </a:cubicBezTo>
                <a:lnTo>
                  <a:pt x="121769" y="6752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7796323" y="5174399"/>
            <a:ext cx="1922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Evaluar </a:t>
            </a:r>
            <a:pPr>
              <a:lnSpc>
                <a:spcPct val="130000"/>
              </a:lnSpc>
            </a:pPr>
            <a:r>
              <a:rPr lang="en-US" sz="111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de decisiones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54186" y="5752100"/>
            <a:ext cx="4481623" cy="1105786"/>
          </a:xfrm>
          <a:custGeom>
            <a:avLst/>
            <a:gdLst/>
            <a:ahLst/>
            <a:cxnLst/>
            <a:rect l="l" t="t" r="r" b="b"/>
            <a:pathLst>
              <a:path w="4481623" h="1105786">
                <a:moveTo>
                  <a:pt x="106321" y="0"/>
                </a:moveTo>
                <a:lnTo>
                  <a:pt x="4375302" y="0"/>
                </a:lnTo>
                <a:cubicBezTo>
                  <a:pt x="4434022" y="0"/>
                  <a:pt x="4481623" y="47602"/>
                  <a:pt x="4481623" y="106321"/>
                </a:cubicBezTo>
                <a:lnTo>
                  <a:pt x="4481623" y="999465"/>
                </a:lnTo>
                <a:cubicBezTo>
                  <a:pt x="4481623" y="1058184"/>
                  <a:pt x="4434022" y="1105786"/>
                  <a:pt x="4375302" y="1105786"/>
                </a:cubicBezTo>
                <a:lnTo>
                  <a:pt x="106321" y="1105786"/>
                </a:lnTo>
                <a:cubicBezTo>
                  <a:pt x="47602" y="1105786"/>
                  <a:pt x="0" y="1058184"/>
                  <a:pt x="0" y="999465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34940" y="5968298"/>
            <a:ext cx="221512" cy="177209"/>
          </a:xfrm>
          <a:custGeom>
            <a:avLst/>
            <a:gdLst/>
            <a:ahLst/>
            <a:cxnLst/>
            <a:rect l="l" t="t" r="r" b="b"/>
            <a:pathLst>
              <a:path w="221512" h="177209">
                <a:moveTo>
                  <a:pt x="143948" y="72857"/>
                </a:moveTo>
                <a:cubicBezTo>
                  <a:pt x="148171" y="71714"/>
                  <a:pt x="152601" y="73722"/>
                  <a:pt x="154504" y="77633"/>
                </a:cubicBezTo>
                <a:lnTo>
                  <a:pt x="160942" y="90647"/>
                </a:lnTo>
                <a:cubicBezTo>
                  <a:pt x="164507" y="91131"/>
                  <a:pt x="168003" y="92100"/>
                  <a:pt x="171291" y="93450"/>
                </a:cubicBezTo>
                <a:lnTo>
                  <a:pt x="183405" y="85386"/>
                </a:lnTo>
                <a:cubicBezTo>
                  <a:pt x="187039" y="82963"/>
                  <a:pt x="191850" y="83448"/>
                  <a:pt x="194930" y="86528"/>
                </a:cubicBezTo>
                <a:lnTo>
                  <a:pt x="201576" y="93173"/>
                </a:lnTo>
                <a:cubicBezTo>
                  <a:pt x="204656" y="96254"/>
                  <a:pt x="205141" y="101099"/>
                  <a:pt x="202718" y="104699"/>
                </a:cubicBezTo>
                <a:lnTo>
                  <a:pt x="194653" y="116778"/>
                </a:lnTo>
                <a:cubicBezTo>
                  <a:pt x="195311" y="118405"/>
                  <a:pt x="195899" y="120101"/>
                  <a:pt x="196384" y="121866"/>
                </a:cubicBezTo>
                <a:cubicBezTo>
                  <a:pt x="196868" y="123631"/>
                  <a:pt x="197180" y="125362"/>
                  <a:pt x="197422" y="127127"/>
                </a:cubicBezTo>
                <a:lnTo>
                  <a:pt x="210471" y="133565"/>
                </a:lnTo>
                <a:cubicBezTo>
                  <a:pt x="214382" y="135503"/>
                  <a:pt x="216389" y="139933"/>
                  <a:pt x="215247" y="144121"/>
                </a:cubicBezTo>
                <a:lnTo>
                  <a:pt x="212824" y="153189"/>
                </a:lnTo>
                <a:cubicBezTo>
                  <a:pt x="211682" y="157377"/>
                  <a:pt x="207771" y="160215"/>
                  <a:pt x="203410" y="159938"/>
                </a:cubicBezTo>
                <a:lnTo>
                  <a:pt x="188873" y="159004"/>
                </a:lnTo>
                <a:cubicBezTo>
                  <a:pt x="186693" y="161807"/>
                  <a:pt x="184166" y="164403"/>
                  <a:pt x="181293" y="166618"/>
                </a:cubicBezTo>
                <a:lnTo>
                  <a:pt x="182228" y="181120"/>
                </a:lnTo>
                <a:cubicBezTo>
                  <a:pt x="182505" y="185481"/>
                  <a:pt x="179667" y="189427"/>
                  <a:pt x="175479" y="190535"/>
                </a:cubicBezTo>
                <a:lnTo>
                  <a:pt x="166411" y="192957"/>
                </a:lnTo>
                <a:cubicBezTo>
                  <a:pt x="162188" y="194100"/>
                  <a:pt x="157792" y="192092"/>
                  <a:pt x="155854" y="188181"/>
                </a:cubicBezTo>
                <a:lnTo>
                  <a:pt x="149417" y="175167"/>
                </a:lnTo>
                <a:cubicBezTo>
                  <a:pt x="145852" y="174683"/>
                  <a:pt x="142356" y="173714"/>
                  <a:pt x="139068" y="172364"/>
                </a:cubicBezTo>
                <a:lnTo>
                  <a:pt x="126954" y="180428"/>
                </a:lnTo>
                <a:cubicBezTo>
                  <a:pt x="123320" y="182851"/>
                  <a:pt x="118509" y="182366"/>
                  <a:pt x="115428" y="179286"/>
                </a:cubicBezTo>
                <a:lnTo>
                  <a:pt x="108783" y="172641"/>
                </a:lnTo>
                <a:cubicBezTo>
                  <a:pt x="105703" y="169560"/>
                  <a:pt x="105218" y="164749"/>
                  <a:pt x="107641" y="161115"/>
                </a:cubicBezTo>
                <a:lnTo>
                  <a:pt x="115705" y="149001"/>
                </a:lnTo>
                <a:cubicBezTo>
                  <a:pt x="115048" y="147374"/>
                  <a:pt x="114459" y="145679"/>
                  <a:pt x="113975" y="143913"/>
                </a:cubicBezTo>
                <a:cubicBezTo>
                  <a:pt x="113490" y="142148"/>
                  <a:pt x="113179" y="140383"/>
                  <a:pt x="112936" y="138652"/>
                </a:cubicBezTo>
                <a:lnTo>
                  <a:pt x="99888" y="132215"/>
                </a:lnTo>
                <a:cubicBezTo>
                  <a:pt x="95977" y="130277"/>
                  <a:pt x="94004" y="125846"/>
                  <a:pt x="95112" y="121658"/>
                </a:cubicBezTo>
                <a:lnTo>
                  <a:pt x="97534" y="112590"/>
                </a:lnTo>
                <a:cubicBezTo>
                  <a:pt x="98677" y="108402"/>
                  <a:pt x="102588" y="105564"/>
                  <a:pt x="106949" y="105841"/>
                </a:cubicBezTo>
                <a:lnTo>
                  <a:pt x="121451" y="106776"/>
                </a:lnTo>
                <a:cubicBezTo>
                  <a:pt x="123631" y="103972"/>
                  <a:pt x="126158" y="101376"/>
                  <a:pt x="129031" y="99161"/>
                </a:cubicBezTo>
                <a:lnTo>
                  <a:pt x="128096" y="84694"/>
                </a:lnTo>
                <a:cubicBezTo>
                  <a:pt x="127819" y="80333"/>
                  <a:pt x="130657" y="76387"/>
                  <a:pt x="134845" y="75279"/>
                </a:cubicBezTo>
                <a:lnTo>
                  <a:pt x="143913" y="72857"/>
                </a:lnTo>
                <a:close/>
                <a:moveTo>
                  <a:pt x="155197" y="117678"/>
                </a:moveTo>
                <a:cubicBezTo>
                  <a:pt x="146792" y="117688"/>
                  <a:pt x="139975" y="124519"/>
                  <a:pt x="139985" y="132924"/>
                </a:cubicBezTo>
                <a:cubicBezTo>
                  <a:pt x="139995" y="141329"/>
                  <a:pt x="146826" y="148145"/>
                  <a:pt x="155231" y="148136"/>
                </a:cubicBezTo>
                <a:cubicBezTo>
                  <a:pt x="163636" y="148126"/>
                  <a:pt x="170452" y="141295"/>
                  <a:pt x="170443" y="132890"/>
                </a:cubicBezTo>
                <a:cubicBezTo>
                  <a:pt x="170433" y="124485"/>
                  <a:pt x="163602" y="117669"/>
                  <a:pt x="155197" y="117678"/>
                </a:cubicBezTo>
                <a:close/>
                <a:moveTo>
                  <a:pt x="77841" y="-15748"/>
                </a:moveTo>
                <a:lnTo>
                  <a:pt x="86909" y="-13325"/>
                </a:lnTo>
                <a:cubicBezTo>
                  <a:pt x="91097" y="-12183"/>
                  <a:pt x="93935" y="-8237"/>
                  <a:pt x="93658" y="-3911"/>
                </a:cubicBezTo>
                <a:lnTo>
                  <a:pt x="92723" y="10556"/>
                </a:lnTo>
                <a:cubicBezTo>
                  <a:pt x="95596" y="12772"/>
                  <a:pt x="98123" y="15333"/>
                  <a:pt x="100303" y="18171"/>
                </a:cubicBezTo>
                <a:lnTo>
                  <a:pt x="114840" y="17236"/>
                </a:lnTo>
                <a:cubicBezTo>
                  <a:pt x="119166" y="16959"/>
                  <a:pt x="123112" y="19798"/>
                  <a:pt x="124254" y="23986"/>
                </a:cubicBezTo>
                <a:lnTo>
                  <a:pt x="126677" y="33054"/>
                </a:lnTo>
                <a:cubicBezTo>
                  <a:pt x="127785" y="37242"/>
                  <a:pt x="125812" y="41672"/>
                  <a:pt x="121901" y="43610"/>
                </a:cubicBezTo>
                <a:lnTo>
                  <a:pt x="108852" y="50048"/>
                </a:lnTo>
                <a:cubicBezTo>
                  <a:pt x="108610" y="51813"/>
                  <a:pt x="108264" y="53578"/>
                  <a:pt x="107814" y="55309"/>
                </a:cubicBezTo>
                <a:cubicBezTo>
                  <a:pt x="107364" y="57039"/>
                  <a:pt x="106741" y="58770"/>
                  <a:pt x="106083" y="60397"/>
                </a:cubicBezTo>
                <a:lnTo>
                  <a:pt x="114148" y="72510"/>
                </a:lnTo>
                <a:cubicBezTo>
                  <a:pt x="116570" y="76145"/>
                  <a:pt x="116086" y="80956"/>
                  <a:pt x="113006" y="84036"/>
                </a:cubicBezTo>
                <a:lnTo>
                  <a:pt x="106360" y="90681"/>
                </a:lnTo>
                <a:cubicBezTo>
                  <a:pt x="103280" y="93762"/>
                  <a:pt x="98469" y="94246"/>
                  <a:pt x="94835" y="91823"/>
                </a:cubicBezTo>
                <a:lnTo>
                  <a:pt x="82721" y="83759"/>
                </a:lnTo>
                <a:cubicBezTo>
                  <a:pt x="79433" y="85109"/>
                  <a:pt x="75937" y="86078"/>
                  <a:pt x="72372" y="86563"/>
                </a:cubicBezTo>
                <a:lnTo>
                  <a:pt x="65934" y="99576"/>
                </a:lnTo>
                <a:cubicBezTo>
                  <a:pt x="63996" y="103487"/>
                  <a:pt x="59566" y="105460"/>
                  <a:pt x="55378" y="104353"/>
                </a:cubicBezTo>
                <a:lnTo>
                  <a:pt x="46310" y="101930"/>
                </a:lnTo>
                <a:cubicBezTo>
                  <a:pt x="42087" y="100788"/>
                  <a:pt x="39284" y="96842"/>
                  <a:pt x="39561" y="92516"/>
                </a:cubicBezTo>
                <a:lnTo>
                  <a:pt x="40495" y="78014"/>
                </a:lnTo>
                <a:cubicBezTo>
                  <a:pt x="37622" y="75799"/>
                  <a:pt x="35096" y="73237"/>
                  <a:pt x="32915" y="70399"/>
                </a:cubicBezTo>
                <a:lnTo>
                  <a:pt x="18379" y="71334"/>
                </a:lnTo>
                <a:cubicBezTo>
                  <a:pt x="14052" y="71611"/>
                  <a:pt x="10106" y="68772"/>
                  <a:pt x="8964" y="64584"/>
                </a:cubicBezTo>
                <a:lnTo>
                  <a:pt x="6542" y="55516"/>
                </a:lnTo>
                <a:cubicBezTo>
                  <a:pt x="5434" y="51328"/>
                  <a:pt x="7407" y="46898"/>
                  <a:pt x="11318" y="44960"/>
                </a:cubicBezTo>
                <a:lnTo>
                  <a:pt x="24366" y="38522"/>
                </a:lnTo>
                <a:cubicBezTo>
                  <a:pt x="24609" y="36757"/>
                  <a:pt x="24955" y="35027"/>
                  <a:pt x="25405" y="33261"/>
                </a:cubicBezTo>
                <a:cubicBezTo>
                  <a:pt x="25889" y="31496"/>
                  <a:pt x="26443" y="29800"/>
                  <a:pt x="27135" y="28174"/>
                </a:cubicBezTo>
                <a:lnTo>
                  <a:pt x="19071" y="16094"/>
                </a:lnTo>
                <a:cubicBezTo>
                  <a:pt x="16648" y="12460"/>
                  <a:pt x="17133" y="7649"/>
                  <a:pt x="20213" y="4569"/>
                </a:cubicBezTo>
                <a:lnTo>
                  <a:pt x="26858" y="-2077"/>
                </a:lnTo>
                <a:cubicBezTo>
                  <a:pt x="29939" y="-5157"/>
                  <a:pt x="34750" y="-5642"/>
                  <a:pt x="38384" y="-3219"/>
                </a:cubicBezTo>
                <a:lnTo>
                  <a:pt x="50498" y="4846"/>
                </a:lnTo>
                <a:cubicBezTo>
                  <a:pt x="53786" y="3496"/>
                  <a:pt x="57282" y="2527"/>
                  <a:pt x="60846" y="2042"/>
                </a:cubicBezTo>
                <a:lnTo>
                  <a:pt x="67284" y="-10972"/>
                </a:lnTo>
                <a:cubicBezTo>
                  <a:pt x="69222" y="-14883"/>
                  <a:pt x="73618" y="-16856"/>
                  <a:pt x="77841" y="-15748"/>
                </a:cubicBezTo>
                <a:close/>
                <a:moveTo>
                  <a:pt x="66592" y="29073"/>
                </a:moveTo>
                <a:cubicBezTo>
                  <a:pt x="58187" y="29073"/>
                  <a:pt x="51363" y="35897"/>
                  <a:pt x="51363" y="44302"/>
                </a:cubicBezTo>
                <a:cubicBezTo>
                  <a:pt x="51363" y="52707"/>
                  <a:pt x="58187" y="59531"/>
                  <a:pt x="66592" y="59531"/>
                </a:cubicBezTo>
                <a:cubicBezTo>
                  <a:pt x="74997" y="59531"/>
                  <a:pt x="81821" y="52707"/>
                  <a:pt x="81821" y="44302"/>
                </a:cubicBezTo>
                <a:cubicBezTo>
                  <a:pt x="81821" y="35897"/>
                  <a:pt x="74997" y="29073"/>
                  <a:pt x="66592" y="2907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5" name="Text 63"/>
          <p:cNvSpPr/>
          <p:nvPr/>
        </p:nvSpPr>
        <p:spPr>
          <a:xfrm>
            <a:off x="7862777" y="5932856"/>
            <a:ext cx="83288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 RF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534940" y="6287274"/>
            <a:ext cx="4191000" cy="389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Captura patrones no lineales y complejos que los modelos lineales no pueden identificar, proporcionando mayor precisión predictiva.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904" y="442380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>
                <a:moveTo>
                  <a:pt x="70782" y="0"/>
                </a:moveTo>
                <a:lnTo>
                  <a:pt x="353903" y="0"/>
                </a:lnTo>
                <a:cubicBezTo>
                  <a:pt x="392969" y="0"/>
                  <a:pt x="424685" y="31716"/>
                  <a:pt x="424685" y="70782"/>
                </a:cubicBezTo>
                <a:lnTo>
                  <a:pt x="424685" y="353903"/>
                </a:lnTo>
                <a:cubicBezTo>
                  <a:pt x="424685" y="392969"/>
                  <a:pt x="392969" y="424685"/>
                  <a:pt x="353903" y="424685"/>
                </a:cubicBezTo>
                <a:lnTo>
                  <a:pt x="70782" y="424685"/>
                </a:lnTo>
                <a:cubicBezTo>
                  <a:pt x="31716" y="424685"/>
                  <a:pt x="0" y="392969"/>
                  <a:pt x="0" y="353903"/>
                </a:cubicBezTo>
                <a:lnTo>
                  <a:pt x="0" y="70782"/>
                </a:lnTo>
                <a:cubicBezTo>
                  <a:pt x="0" y="31690"/>
                  <a:pt x="31690" y="0"/>
                  <a:pt x="7078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477771" y="566247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0" y="27649"/>
                </a:moveTo>
                <a:cubicBezTo>
                  <a:pt x="0" y="18490"/>
                  <a:pt x="7431" y="11060"/>
                  <a:pt x="16589" y="11060"/>
                </a:cubicBezTo>
                <a:lnTo>
                  <a:pt x="49768" y="11060"/>
                </a:lnTo>
                <a:cubicBezTo>
                  <a:pt x="58926" y="11060"/>
                  <a:pt x="66357" y="18490"/>
                  <a:pt x="66357" y="27649"/>
                </a:cubicBezTo>
                <a:lnTo>
                  <a:pt x="66357" y="33179"/>
                </a:lnTo>
                <a:lnTo>
                  <a:pt x="110595" y="33179"/>
                </a:lnTo>
                <a:lnTo>
                  <a:pt x="110595" y="27649"/>
                </a:lnTo>
                <a:cubicBezTo>
                  <a:pt x="110595" y="18490"/>
                  <a:pt x="118026" y="11060"/>
                  <a:pt x="127184" y="11060"/>
                </a:cubicBezTo>
                <a:lnTo>
                  <a:pt x="160363" y="11060"/>
                </a:lnTo>
                <a:cubicBezTo>
                  <a:pt x="169521" y="11060"/>
                  <a:pt x="176952" y="18490"/>
                  <a:pt x="176952" y="27649"/>
                </a:cubicBezTo>
                <a:lnTo>
                  <a:pt x="176952" y="60827"/>
                </a:lnTo>
                <a:cubicBezTo>
                  <a:pt x="176952" y="69986"/>
                  <a:pt x="169521" y="77417"/>
                  <a:pt x="160363" y="77417"/>
                </a:cubicBezTo>
                <a:lnTo>
                  <a:pt x="127184" y="77417"/>
                </a:lnTo>
                <a:cubicBezTo>
                  <a:pt x="118026" y="77417"/>
                  <a:pt x="110595" y="69986"/>
                  <a:pt x="110595" y="60827"/>
                </a:cubicBezTo>
                <a:lnTo>
                  <a:pt x="110595" y="55298"/>
                </a:lnTo>
                <a:lnTo>
                  <a:pt x="66357" y="55298"/>
                </a:lnTo>
                <a:lnTo>
                  <a:pt x="66357" y="60827"/>
                </a:lnTo>
                <a:cubicBezTo>
                  <a:pt x="66357" y="63350"/>
                  <a:pt x="65770" y="65770"/>
                  <a:pt x="64767" y="67912"/>
                </a:cubicBezTo>
                <a:lnTo>
                  <a:pt x="88476" y="99536"/>
                </a:lnTo>
                <a:lnTo>
                  <a:pt x="116125" y="99536"/>
                </a:lnTo>
                <a:cubicBezTo>
                  <a:pt x="125283" y="99536"/>
                  <a:pt x="132714" y="106966"/>
                  <a:pt x="132714" y="116125"/>
                </a:cubicBezTo>
                <a:lnTo>
                  <a:pt x="132714" y="149303"/>
                </a:lnTo>
                <a:cubicBezTo>
                  <a:pt x="132714" y="158462"/>
                  <a:pt x="125283" y="165893"/>
                  <a:pt x="116125" y="165893"/>
                </a:cubicBezTo>
                <a:lnTo>
                  <a:pt x="82946" y="165893"/>
                </a:lnTo>
                <a:cubicBezTo>
                  <a:pt x="73788" y="165893"/>
                  <a:pt x="66357" y="158462"/>
                  <a:pt x="66357" y="149303"/>
                </a:cubicBezTo>
                <a:lnTo>
                  <a:pt x="66357" y="116125"/>
                </a:lnTo>
                <a:cubicBezTo>
                  <a:pt x="66357" y="113602"/>
                  <a:pt x="66945" y="111183"/>
                  <a:pt x="67947" y="109040"/>
                </a:cubicBezTo>
                <a:lnTo>
                  <a:pt x="44238" y="77417"/>
                </a:lnTo>
                <a:lnTo>
                  <a:pt x="16589" y="77417"/>
                </a:lnTo>
                <a:cubicBezTo>
                  <a:pt x="7431" y="77417"/>
                  <a:pt x="0" y="69986"/>
                  <a:pt x="0" y="60827"/>
                </a:cubicBezTo>
                <a:lnTo>
                  <a:pt x="0" y="27649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884761" y="353904"/>
            <a:ext cx="4786554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Fase 3: Simulación de Escenarios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4761" y="707808"/>
            <a:ext cx="470692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de Impacto en Rentabilidad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443" y="1171423"/>
            <a:ext cx="5625307" cy="2767531"/>
          </a:xfrm>
          <a:custGeom>
            <a:avLst/>
            <a:gdLst/>
            <a:ahLst/>
            <a:cxnLst/>
            <a:rect l="l" t="t" r="r" b="b"/>
            <a:pathLst>
              <a:path w="5625307" h="2767531">
                <a:moveTo>
                  <a:pt x="106162" y="0"/>
                </a:moveTo>
                <a:lnTo>
                  <a:pt x="5519145" y="0"/>
                </a:lnTo>
                <a:cubicBezTo>
                  <a:pt x="5577777" y="0"/>
                  <a:pt x="5625307" y="47531"/>
                  <a:pt x="5625307" y="106162"/>
                </a:cubicBezTo>
                <a:lnTo>
                  <a:pt x="5625307" y="2661368"/>
                </a:lnTo>
                <a:cubicBezTo>
                  <a:pt x="5625307" y="2720000"/>
                  <a:pt x="5577777" y="2767531"/>
                  <a:pt x="5519145" y="2767531"/>
                </a:cubicBezTo>
                <a:lnTo>
                  <a:pt x="106162" y="2767531"/>
                </a:lnTo>
                <a:cubicBezTo>
                  <a:pt x="47531" y="2767531"/>
                  <a:pt x="0" y="2720000"/>
                  <a:pt x="0" y="2661368"/>
                </a:cubicBezTo>
                <a:lnTo>
                  <a:pt x="0" y="106162"/>
                </a:lnTo>
                <a:cubicBezTo>
                  <a:pt x="0" y="47570"/>
                  <a:pt x="47570" y="0"/>
                  <a:pt x="10616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3139" y="1422585"/>
            <a:ext cx="185800" cy="212343"/>
          </a:xfrm>
          <a:custGeom>
            <a:avLst/>
            <a:gdLst/>
            <a:ahLst/>
            <a:cxnLst/>
            <a:rect l="l" t="t" r="r" b="b"/>
            <a:pathLst>
              <a:path w="185800" h="212343">
                <a:moveTo>
                  <a:pt x="119443" y="0"/>
                </a:moveTo>
                <a:lnTo>
                  <a:pt x="53086" y="0"/>
                </a:lnTo>
                <a:cubicBezTo>
                  <a:pt x="45745" y="0"/>
                  <a:pt x="39814" y="5931"/>
                  <a:pt x="39814" y="13271"/>
                </a:cubicBezTo>
                <a:cubicBezTo>
                  <a:pt x="39814" y="20612"/>
                  <a:pt x="45745" y="26543"/>
                  <a:pt x="53086" y="26543"/>
                </a:cubicBezTo>
                <a:lnTo>
                  <a:pt x="53086" y="89375"/>
                </a:lnTo>
                <a:lnTo>
                  <a:pt x="3110" y="176800"/>
                </a:lnTo>
                <a:cubicBezTo>
                  <a:pt x="1078" y="180408"/>
                  <a:pt x="0" y="184431"/>
                  <a:pt x="0" y="188578"/>
                </a:cubicBezTo>
                <a:cubicBezTo>
                  <a:pt x="0" y="201725"/>
                  <a:pt x="10617" y="212343"/>
                  <a:pt x="23764" y="212343"/>
                </a:cubicBezTo>
                <a:lnTo>
                  <a:pt x="162036" y="212343"/>
                </a:lnTo>
                <a:cubicBezTo>
                  <a:pt x="175141" y="212343"/>
                  <a:pt x="185800" y="201725"/>
                  <a:pt x="185800" y="188578"/>
                </a:cubicBezTo>
                <a:cubicBezTo>
                  <a:pt x="185800" y="184431"/>
                  <a:pt x="184721" y="180367"/>
                  <a:pt x="182689" y="176800"/>
                </a:cubicBezTo>
                <a:lnTo>
                  <a:pt x="132714" y="89375"/>
                </a:lnTo>
                <a:lnTo>
                  <a:pt x="132714" y="26543"/>
                </a:lnTo>
                <a:cubicBezTo>
                  <a:pt x="140055" y="26543"/>
                  <a:pt x="145985" y="20612"/>
                  <a:pt x="145985" y="13271"/>
                </a:cubicBezTo>
                <a:cubicBezTo>
                  <a:pt x="145985" y="5931"/>
                  <a:pt x="140055" y="0"/>
                  <a:pt x="132714" y="0"/>
                </a:cubicBezTo>
                <a:lnTo>
                  <a:pt x="119443" y="0"/>
                </a:lnTo>
                <a:close/>
                <a:moveTo>
                  <a:pt x="79628" y="89375"/>
                </a:moveTo>
                <a:lnTo>
                  <a:pt x="79628" y="26543"/>
                </a:lnTo>
                <a:lnTo>
                  <a:pt x="106171" y="26543"/>
                </a:lnTo>
                <a:lnTo>
                  <a:pt x="106171" y="89375"/>
                </a:lnTo>
                <a:cubicBezTo>
                  <a:pt x="106171" y="93978"/>
                  <a:pt x="107374" y="98540"/>
                  <a:pt x="109655" y="102563"/>
                </a:cubicBezTo>
                <a:lnTo>
                  <a:pt x="126908" y="132714"/>
                </a:lnTo>
                <a:lnTo>
                  <a:pt x="58892" y="132714"/>
                </a:lnTo>
                <a:lnTo>
                  <a:pt x="76145" y="102563"/>
                </a:lnTo>
                <a:cubicBezTo>
                  <a:pt x="78426" y="98540"/>
                  <a:pt x="79628" y="94020"/>
                  <a:pt x="79628" y="893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944924" y="1387303"/>
            <a:ext cx="2645434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Metodología de Simulación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3325" y="1811880"/>
            <a:ext cx="5264325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crearon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combinaciones estratégicas de precios y cantidades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evaluar el impacto en ventas y rentabilidad, integrando las predicciones del modelo Random Forest.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864" y="2647094"/>
            <a:ext cx="2519798" cy="1068791"/>
          </a:xfrm>
          <a:custGeom>
            <a:avLst/>
            <a:gdLst/>
            <a:ahLst/>
            <a:cxnLst/>
            <a:rect l="l" t="t" r="r" b="b"/>
            <a:pathLst>
              <a:path w="2519798" h="1068791">
                <a:moveTo>
                  <a:pt x="70786" y="0"/>
                </a:moveTo>
                <a:lnTo>
                  <a:pt x="2449012" y="0"/>
                </a:lnTo>
                <a:cubicBezTo>
                  <a:pt x="2488080" y="0"/>
                  <a:pt x="2519798" y="31718"/>
                  <a:pt x="2519798" y="70786"/>
                </a:cubicBezTo>
                <a:lnTo>
                  <a:pt x="2519798" y="998005"/>
                </a:lnTo>
                <a:cubicBezTo>
                  <a:pt x="2519798" y="1037099"/>
                  <a:pt x="2488106" y="1068791"/>
                  <a:pt x="2449012" y="1068791"/>
                </a:cubicBezTo>
                <a:lnTo>
                  <a:pt x="70786" y="1068791"/>
                </a:lnTo>
                <a:cubicBezTo>
                  <a:pt x="31718" y="1068791"/>
                  <a:pt x="0" y="1037073"/>
                  <a:pt x="0" y="998005"/>
                </a:cubicBezTo>
                <a:lnTo>
                  <a:pt x="0" y="70786"/>
                </a:lnTo>
                <a:cubicBezTo>
                  <a:pt x="0" y="31718"/>
                  <a:pt x="31718" y="0"/>
                  <a:pt x="7078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03" y="2827583"/>
            <a:ext cx="88476" cy="141562"/>
          </a:xfrm>
          <a:custGeom>
            <a:avLst/>
            <a:gdLst/>
            <a:ahLst/>
            <a:cxnLst/>
            <a:rect l="l" t="t" r="r" b="b"/>
            <a:pathLst>
              <a:path w="88476" h="141562">
                <a:moveTo>
                  <a:pt x="37602" y="6636"/>
                </a:moveTo>
                <a:cubicBezTo>
                  <a:pt x="37602" y="2958"/>
                  <a:pt x="40561" y="0"/>
                  <a:pt x="44238" y="0"/>
                </a:cubicBezTo>
                <a:cubicBezTo>
                  <a:pt x="47915" y="0"/>
                  <a:pt x="50874" y="2958"/>
                  <a:pt x="50874" y="6636"/>
                </a:cubicBezTo>
                <a:lnTo>
                  <a:pt x="50874" y="17695"/>
                </a:lnTo>
                <a:lnTo>
                  <a:pt x="66357" y="17695"/>
                </a:lnTo>
                <a:cubicBezTo>
                  <a:pt x="71251" y="17695"/>
                  <a:pt x="75205" y="21649"/>
                  <a:pt x="75205" y="26543"/>
                </a:cubicBezTo>
                <a:cubicBezTo>
                  <a:pt x="75205" y="31437"/>
                  <a:pt x="71251" y="35390"/>
                  <a:pt x="66357" y="35390"/>
                </a:cubicBezTo>
                <a:lnTo>
                  <a:pt x="34589" y="35390"/>
                </a:lnTo>
                <a:cubicBezTo>
                  <a:pt x="27704" y="35390"/>
                  <a:pt x="22119" y="40975"/>
                  <a:pt x="22119" y="47860"/>
                </a:cubicBezTo>
                <a:cubicBezTo>
                  <a:pt x="22119" y="54081"/>
                  <a:pt x="26681" y="59334"/>
                  <a:pt x="32819" y="60219"/>
                </a:cubicBezTo>
                <a:lnTo>
                  <a:pt x="58145" y="63841"/>
                </a:lnTo>
                <a:cubicBezTo>
                  <a:pt x="73020" y="65970"/>
                  <a:pt x="84052" y="78688"/>
                  <a:pt x="84052" y="93702"/>
                </a:cubicBezTo>
                <a:cubicBezTo>
                  <a:pt x="84052" y="110374"/>
                  <a:pt x="70532" y="123866"/>
                  <a:pt x="53887" y="123866"/>
                </a:cubicBezTo>
                <a:lnTo>
                  <a:pt x="50874" y="123866"/>
                </a:lnTo>
                <a:lnTo>
                  <a:pt x="50874" y="134926"/>
                </a:lnTo>
                <a:cubicBezTo>
                  <a:pt x="50874" y="138603"/>
                  <a:pt x="47915" y="141562"/>
                  <a:pt x="44238" y="141562"/>
                </a:cubicBezTo>
                <a:cubicBezTo>
                  <a:pt x="40561" y="141562"/>
                  <a:pt x="37602" y="138603"/>
                  <a:pt x="37602" y="134926"/>
                </a:cubicBezTo>
                <a:lnTo>
                  <a:pt x="37602" y="123866"/>
                </a:lnTo>
                <a:lnTo>
                  <a:pt x="17695" y="123866"/>
                </a:lnTo>
                <a:cubicBezTo>
                  <a:pt x="12801" y="123866"/>
                  <a:pt x="8848" y="119913"/>
                  <a:pt x="8848" y="115019"/>
                </a:cubicBezTo>
                <a:cubicBezTo>
                  <a:pt x="8848" y="110125"/>
                  <a:pt x="12801" y="106171"/>
                  <a:pt x="17695" y="106171"/>
                </a:cubicBezTo>
                <a:lnTo>
                  <a:pt x="53887" y="106171"/>
                </a:lnTo>
                <a:cubicBezTo>
                  <a:pt x="60772" y="106171"/>
                  <a:pt x="66357" y="100586"/>
                  <a:pt x="66357" y="93702"/>
                </a:cubicBezTo>
                <a:cubicBezTo>
                  <a:pt x="66357" y="87481"/>
                  <a:pt x="61795" y="82227"/>
                  <a:pt x="55657" y="81343"/>
                </a:cubicBezTo>
                <a:lnTo>
                  <a:pt x="30331" y="77721"/>
                </a:lnTo>
                <a:cubicBezTo>
                  <a:pt x="15456" y="75619"/>
                  <a:pt x="4424" y="62873"/>
                  <a:pt x="4424" y="47860"/>
                </a:cubicBezTo>
                <a:cubicBezTo>
                  <a:pt x="4424" y="31215"/>
                  <a:pt x="17944" y="17695"/>
                  <a:pt x="34589" y="17695"/>
                </a:cubicBezTo>
                <a:lnTo>
                  <a:pt x="37602" y="17695"/>
                </a:lnTo>
                <a:lnTo>
                  <a:pt x="37602" y="663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969698" y="2792193"/>
            <a:ext cx="1123646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 de Precios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1965" y="3075316"/>
            <a:ext cx="2335768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1965" y="3393722"/>
            <a:ext cx="229153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Variación incremental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5633" y="2647094"/>
            <a:ext cx="2519798" cy="1068791"/>
          </a:xfrm>
          <a:custGeom>
            <a:avLst/>
            <a:gdLst/>
            <a:ahLst/>
            <a:cxnLst/>
            <a:rect l="l" t="t" r="r" b="b"/>
            <a:pathLst>
              <a:path w="2519798" h="1068791">
                <a:moveTo>
                  <a:pt x="70786" y="0"/>
                </a:moveTo>
                <a:lnTo>
                  <a:pt x="2449012" y="0"/>
                </a:lnTo>
                <a:cubicBezTo>
                  <a:pt x="2488080" y="0"/>
                  <a:pt x="2519798" y="31718"/>
                  <a:pt x="2519798" y="70786"/>
                </a:cubicBezTo>
                <a:lnTo>
                  <a:pt x="2519798" y="998005"/>
                </a:lnTo>
                <a:cubicBezTo>
                  <a:pt x="2519798" y="1037099"/>
                  <a:pt x="2488106" y="1068791"/>
                  <a:pt x="2449012" y="1068791"/>
                </a:cubicBezTo>
                <a:lnTo>
                  <a:pt x="70786" y="1068791"/>
                </a:lnTo>
                <a:cubicBezTo>
                  <a:pt x="31718" y="1068791"/>
                  <a:pt x="0" y="1037073"/>
                  <a:pt x="0" y="998005"/>
                </a:cubicBezTo>
                <a:lnTo>
                  <a:pt x="0" y="70786"/>
                </a:lnTo>
                <a:cubicBezTo>
                  <a:pt x="0" y="31718"/>
                  <a:pt x="31718" y="0"/>
                  <a:pt x="7078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8429" y="2827583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61933" y="0"/>
                </a:moveTo>
                <a:lnTo>
                  <a:pt x="61933" y="17695"/>
                </a:lnTo>
                <a:cubicBezTo>
                  <a:pt x="61933" y="20128"/>
                  <a:pt x="63924" y="22119"/>
                  <a:pt x="66357" y="22119"/>
                </a:cubicBezTo>
                <a:lnTo>
                  <a:pt x="75205" y="22119"/>
                </a:lnTo>
                <a:cubicBezTo>
                  <a:pt x="77638" y="22119"/>
                  <a:pt x="79628" y="20128"/>
                  <a:pt x="79628" y="17695"/>
                </a:cubicBezTo>
                <a:lnTo>
                  <a:pt x="79628" y="0"/>
                </a:lnTo>
                <a:lnTo>
                  <a:pt x="88476" y="0"/>
                </a:lnTo>
                <a:cubicBezTo>
                  <a:pt x="98236" y="0"/>
                  <a:pt x="106171" y="7935"/>
                  <a:pt x="106171" y="17695"/>
                </a:cubicBezTo>
                <a:lnTo>
                  <a:pt x="106171" y="53086"/>
                </a:lnTo>
                <a:cubicBezTo>
                  <a:pt x="106171" y="54606"/>
                  <a:pt x="105978" y="56099"/>
                  <a:pt x="105618" y="57509"/>
                </a:cubicBezTo>
                <a:lnTo>
                  <a:pt x="35943" y="57509"/>
                </a:lnTo>
                <a:cubicBezTo>
                  <a:pt x="35584" y="56099"/>
                  <a:pt x="35390" y="54606"/>
                  <a:pt x="35390" y="53086"/>
                </a:cubicBezTo>
                <a:lnTo>
                  <a:pt x="35390" y="17695"/>
                </a:lnTo>
                <a:cubicBezTo>
                  <a:pt x="35390" y="7935"/>
                  <a:pt x="43326" y="0"/>
                  <a:pt x="53086" y="0"/>
                </a:cubicBezTo>
                <a:lnTo>
                  <a:pt x="61933" y="0"/>
                </a:lnTo>
                <a:close/>
                <a:moveTo>
                  <a:pt x="88476" y="141562"/>
                </a:moveTo>
                <a:cubicBezTo>
                  <a:pt x="85379" y="141562"/>
                  <a:pt x="82449" y="140760"/>
                  <a:pt x="79905" y="139350"/>
                </a:cubicBezTo>
                <a:cubicBezTo>
                  <a:pt x="82532" y="134788"/>
                  <a:pt x="84052" y="129507"/>
                  <a:pt x="84052" y="123866"/>
                </a:cubicBezTo>
                <a:lnTo>
                  <a:pt x="84052" y="88476"/>
                </a:lnTo>
                <a:cubicBezTo>
                  <a:pt x="84052" y="82836"/>
                  <a:pt x="82532" y="77555"/>
                  <a:pt x="79905" y="72993"/>
                </a:cubicBezTo>
                <a:cubicBezTo>
                  <a:pt x="82449" y="71583"/>
                  <a:pt x="85352" y="70781"/>
                  <a:pt x="88476" y="70781"/>
                </a:cubicBezTo>
                <a:lnTo>
                  <a:pt x="97324" y="70781"/>
                </a:lnTo>
                <a:lnTo>
                  <a:pt x="97324" y="88476"/>
                </a:lnTo>
                <a:cubicBezTo>
                  <a:pt x="97324" y="90909"/>
                  <a:pt x="99314" y="92900"/>
                  <a:pt x="101747" y="92900"/>
                </a:cubicBezTo>
                <a:lnTo>
                  <a:pt x="110595" y="92900"/>
                </a:lnTo>
                <a:cubicBezTo>
                  <a:pt x="113028" y="92900"/>
                  <a:pt x="115019" y="90909"/>
                  <a:pt x="115019" y="88476"/>
                </a:cubicBezTo>
                <a:lnTo>
                  <a:pt x="115019" y="70781"/>
                </a:lnTo>
                <a:lnTo>
                  <a:pt x="123866" y="70781"/>
                </a:lnTo>
                <a:cubicBezTo>
                  <a:pt x="133626" y="70781"/>
                  <a:pt x="141562" y="78716"/>
                  <a:pt x="141562" y="88476"/>
                </a:cubicBezTo>
                <a:lnTo>
                  <a:pt x="141562" y="123866"/>
                </a:lnTo>
                <a:cubicBezTo>
                  <a:pt x="141562" y="133626"/>
                  <a:pt x="133626" y="141562"/>
                  <a:pt x="123866" y="141562"/>
                </a:cubicBezTo>
                <a:lnTo>
                  <a:pt x="88476" y="141562"/>
                </a:lnTo>
                <a:close/>
                <a:moveTo>
                  <a:pt x="0" y="88476"/>
                </a:moveTo>
                <a:cubicBezTo>
                  <a:pt x="0" y="78716"/>
                  <a:pt x="7935" y="70781"/>
                  <a:pt x="17695" y="70781"/>
                </a:cubicBezTo>
                <a:lnTo>
                  <a:pt x="26543" y="70781"/>
                </a:lnTo>
                <a:lnTo>
                  <a:pt x="26543" y="88476"/>
                </a:lnTo>
                <a:cubicBezTo>
                  <a:pt x="26543" y="90909"/>
                  <a:pt x="28534" y="92900"/>
                  <a:pt x="30967" y="92900"/>
                </a:cubicBezTo>
                <a:lnTo>
                  <a:pt x="39814" y="92900"/>
                </a:lnTo>
                <a:cubicBezTo>
                  <a:pt x="42247" y="92900"/>
                  <a:pt x="44238" y="90909"/>
                  <a:pt x="44238" y="88476"/>
                </a:cubicBezTo>
                <a:lnTo>
                  <a:pt x="44238" y="70781"/>
                </a:lnTo>
                <a:lnTo>
                  <a:pt x="53086" y="70781"/>
                </a:lnTo>
                <a:cubicBezTo>
                  <a:pt x="62846" y="70781"/>
                  <a:pt x="70781" y="78716"/>
                  <a:pt x="70781" y="88476"/>
                </a:cubicBezTo>
                <a:lnTo>
                  <a:pt x="70781" y="123866"/>
                </a:lnTo>
                <a:cubicBezTo>
                  <a:pt x="70781" y="133626"/>
                  <a:pt x="62846" y="141562"/>
                  <a:pt x="53086" y="141562"/>
                </a:cubicBezTo>
                <a:lnTo>
                  <a:pt x="17695" y="141562"/>
                </a:lnTo>
                <a:cubicBezTo>
                  <a:pt x="7935" y="141562"/>
                  <a:pt x="0" y="133626"/>
                  <a:pt x="0" y="123866"/>
                </a:cubicBezTo>
                <a:lnTo>
                  <a:pt x="0" y="8847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3638467" y="2792193"/>
            <a:ext cx="122981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 de Cantidad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90734" y="3075316"/>
            <a:ext cx="2335768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2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±40%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90734" y="3393722"/>
            <a:ext cx="229153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Variación incremental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7443" y="4119222"/>
            <a:ext cx="5625307" cy="2342846"/>
          </a:xfrm>
          <a:custGeom>
            <a:avLst/>
            <a:gdLst/>
            <a:ahLst/>
            <a:cxnLst/>
            <a:rect l="l" t="t" r="r" b="b"/>
            <a:pathLst>
              <a:path w="5625307" h="2342846">
                <a:moveTo>
                  <a:pt x="106178" y="0"/>
                </a:moveTo>
                <a:lnTo>
                  <a:pt x="5519130" y="0"/>
                </a:lnTo>
                <a:cubicBezTo>
                  <a:pt x="5577770" y="0"/>
                  <a:pt x="5625307" y="47537"/>
                  <a:pt x="5625307" y="106178"/>
                </a:cubicBezTo>
                <a:lnTo>
                  <a:pt x="5625307" y="2236668"/>
                </a:lnTo>
                <a:cubicBezTo>
                  <a:pt x="5625307" y="2295308"/>
                  <a:pt x="5577770" y="2342846"/>
                  <a:pt x="5519130" y="2342846"/>
                </a:cubicBezTo>
                <a:lnTo>
                  <a:pt x="106178" y="2342846"/>
                </a:lnTo>
                <a:cubicBezTo>
                  <a:pt x="47537" y="2342846"/>
                  <a:pt x="0" y="2295308"/>
                  <a:pt x="0" y="2236668"/>
                </a:cubicBezTo>
                <a:lnTo>
                  <a:pt x="0" y="106178"/>
                </a:lnTo>
                <a:cubicBezTo>
                  <a:pt x="0" y="47537"/>
                  <a:pt x="47537" y="0"/>
                  <a:pt x="106178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139" y="4352801"/>
            <a:ext cx="185800" cy="212343"/>
          </a:xfrm>
          <a:custGeom>
            <a:avLst/>
            <a:gdLst/>
            <a:ahLst/>
            <a:cxnLst/>
            <a:rect l="l" t="t" r="r" b="b"/>
            <a:pathLst>
              <a:path w="185800" h="212343">
                <a:moveTo>
                  <a:pt x="66564" y="-10949"/>
                </a:moveTo>
                <a:cubicBezTo>
                  <a:pt x="70421" y="-14184"/>
                  <a:pt x="76103" y="-14059"/>
                  <a:pt x="79794" y="-10576"/>
                </a:cubicBezTo>
                <a:cubicBezTo>
                  <a:pt x="84896" y="-5765"/>
                  <a:pt x="89458" y="-456"/>
                  <a:pt x="93854" y="4935"/>
                </a:cubicBezTo>
                <a:cubicBezTo>
                  <a:pt x="99453" y="11778"/>
                  <a:pt x="106171" y="20820"/>
                  <a:pt x="112641" y="31561"/>
                </a:cubicBezTo>
                <a:cubicBezTo>
                  <a:pt x="114798" y="28741"/>
                  <a:pt x="116788" y="26253"/>
                  <a:pt x="118530" y="24137"/>
                </a:cubicBezTo>
                <a:cubicBezTo>
                  <a:pt x="118986" y="23598"/>
                  <a:pt x="119443" y="23018"/>
                  <a:pt x="119899" y="22437"/>
                </a:cubicBezTo>
                <a:cubicBezTo>
                  <a:pt x="123175" y="18373"/>
                  <a:pt x="127240" y="13271"/>
                  <a:pt x="132673" y="13271"/>
                </a:cubicBezTo>
                <a:cubicBezTo>
                  <a:pt x="138230" y="13271"/>
                  <a:pt x="142128" y="18207"/>
                  <a:pt x="145446" y="22437"/>
                </a:cubicBezTo>
                <a:cubicBezTo>
                  <a:pt x="145985" y="23142"/>
                  <a:pt x="146525" y="23806"/>
                  <a:pt x="147064" y="24428"/>
                </a:cubicBezTo>
                <a:cubicBezTo>
                  <a:pt x="151336" y="29570"/>
                  <a:pt x="157017" y="36994"/>
                  <a:pt x="162699" y="46160"/>
                </a:cubicBezTo>
                <a:cubicBezTo>
                  <a:pt x="173980" y="64366"/>
                  <a:pt x="185758" y="90287"/>
                  <a:pt x="185758" y="119401"/>
                </a:cubicBezTo>
                <a:cubicBezTo>
                  <a:pt x="185758" y="170703"/>
                  <a:pt x="144161" y="212301"/>
                  <a:pt x="92858" y="212301"/>
                </a:cubicBezTo>
                <a:cubicBezTo>
                  <a:pt x="41556" y="212301"/>
                  <a:pt x="0" y="170745"/>
                  <a:pt x="0" y="119443"/>
                </a:cubicBezTo>
                <a:cubicBezTo>
                  <a:pt x="0" y="81661"/>
                  <a:pt x="17045" y="48938"/>
                  <a:pt x="33386" y="26128"/>
                </a:cubicBezTo>
                <a:cubicBezTo>
                  <a:pt x="41639" y="14640"/>
                  <a:pt x="49851" y="5433"/>
                  <a:pt x="56030" y="-871"/>
                </a:cubicBezTo>
                <a:cubicBezTo>
                  <a:pt x="59431" y="-4355"/>
                  <a:pt x="62873" y="-7797"/>
                  <a:pt x="66606" y="-10907"/>
                </a:cubicBezTo>
                <a:close/>
                <a:moveTo>
                  <a:pt x="93605" y="172528"/>
                </a:moveTo>
                <a:cubicBezTo>
                  <a:pt x="104098" y="172528"/>
                  <a:pt x="113388" y="169625"/>
                  <a:pt x="122138" y="163819"/>
                </a:cubicBezTo>
                <a:cubicBezTo>
                  <a:pt x="139599" y="151626"/>
                  <a:pt x="144285" y="127240"/>
                  <a:pt x="133792" y="108079"/>
                </a:cubicBezTo>
                <a:cubicBezTo>
                  <a:pt x="131926" y="104346"/>
                  <a:pt x="127157" y="104098"/>
                  <a:pt x="124461" y="107250"/>
                </a:cubicBezTo>
                <a:lnTo>
                  <a:pt x="114010" y="119401"/>
                </a:lnTo>
                <a:cubicBezTo>
                  <a:pt x="111272" y="122553"/>
                  <a:pt x="106337" y="122470"/>
                  <a:pt x="103766" y="119194"/>
                </a:cubicBezTo>
                <a:cubicBezTo>
                  <a:pt x="96591" y="110028"/>
                  <a:pt x="83403" y="93315"/>
                  <a:pt x="76684" y="84771"/>
                </a:cubicBezTo>
                <a:cubicBezTo>
                  <a:pt x="74444" y="81909"/>
                  <a:pt x="70380" y="81453"/>
                  <a:pt x="67767" y="83983"/>
                </a:cubicBezTo>
                <a:cubicBezTo>
                  <a:pt x="60178" y="91365"/>
                  <a:pt x="46408" y="107540"/>
                  <a:pt x="46408" y="127240"/>
                </a:cubicBezTo>
                <a:cubicBezTo>
                  <a:pt x="46408" y="155690"/>
                  <a:pt x="67394" y="172528"/>
                  <a:pt x="93563" y="17252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2" name="Text 20"/>
          <p:cNvSpPr/>
          <p:nvPr/>
        </p:nvSpPr>
        <p:spPr>
          <a:xfrm>
            <a:off x="944924" y="4335106"/>
            <a:ext cx="322052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Mapa de Calor: Visualización de Impacto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3325" y="4724401"/>
            <a:ext cx="5264325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generó un </a:t>
            </a:r>
            <a:pPr>
              <a:lnSpc>
                <a:spcPct val="14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mapa de calor</a:t>
            </a:r>
            <a:pPr>
              <a:lnSpc>
                <a:spcPct val="14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visualizar el impacto de cada combinación precio-cantidad sobre las ventas estimadas, permitiendo identificar rápidamente las zonas de máxima rentabilidad.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6864" y="5559615"/>
            <a:ext cx="1652733" cy="679496"/>
          </a:xfrm>
          <a:custGeom>
            <a:avLst/>
            <a:gdLst/>
            <a:ahLst/>
            <a:cxnLst/>
            <a:rect l="l" t="t" r="r" b="b"/>
            <a:pathLst>
              <a:path w="1652733" h="679496">
                <a:moveTo>
                  <a:pt x="70783" y="0"/>
                </a:moveTo>
                <a:lnTo>
                  <a:pt x="1581950" y="0"/>
                </a:lnTo>
                <a:cubicBezTo>
                  <a:pt x="1621042" y="0"/>
                  <a:pt x="1652733" y="31691"/>
                  <a:pt x="1652733" y="70783"/>
                </a:cubicBezTo>
                <a:lnTo>
                  <a:pt x="1652733" y="608713"/>
                </a:lnTo>
                <a:cubicBezTo>
                  <a:pt x="1652733" y="647805"/>
                  <a:pt x="1621042" y="679496"/>
                  <a:pt x="1581950" y="679496"/>
                </a:cubicBezTo>
                <a:lnTo>
                  <a:pt x="70783" y="679496"/>
                </a:lnTo>
                <a:cubicBezTo>
                  <a:pt x="31717" y="679496"/>
                  <a:pt x="0" y="647779"/>
                  <a:pt x="0" y="608713"/>
                </a:cubicBezTo>
                <a:lnTo>
                  <a:pt x="0" y="70783"/>
                </a:lnTo>
                <a:cubicBezTo>
                  <a:pt x="0" y="31691"/>
                  <a:pt x="31691" y="0"/>
                  <a:pt x="7078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016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760" y="5669323"/>
            <a:ext cx="1512940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Zona Verde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608" y="5952447"/>
            <a:ext cx="1495245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Alta rentabilidad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44284" y="5559615"/>
            <a:ext cx="1652733" cy="679496"/>
          </a:xfrm>
          <a:custGeom>
            <a:avLst/>
            <a:gdLst/>
            <a:ahLst/>
            <a:cxnLst/>
            <a:rect l="l" t="t" r="r" b="b"/>
            <a:pathLst>
              <a:path w="1652733" h="679496">
                <a:moveTo>
                  <a:pt x="70783" y="0"/>
                </a:moveTo>
                <a:lnTo>
                  <a:pt x="1581950" y="0"/>
                </a:lnTo>
                <a:cubicBezTo>
                  <a:pt x="1621042" y="0"/>
                  <a:pt x="1652733" y="31691"/>
                  <a:pt x="1652733" y="70783"/>
                </a:cubicBezTo>
                <a:lnTo>
                  <a:pt x="1652733" y="608713"/>
                </a:lnTo>
                <a:cubicBezTo>
                  <a:pt x="1652733" y="647805"/>
                  <a:pt x="1621042" y="679496"/>
                  <a:pt x="1581950" y="679496"/>
                </a:cubicBezTo>
                <a:lnTo>
                  <a:pt x="70783" y="679496"/>
                </a:lnTo>
                <a:cubicBezTo>
                  <a:pt x="31717" y="679496"/>
                  <a:pt x="0" y="647779"/>
                  <a:pt x="0" y="608713"/>
                </a:cubicBezTo>
                <a:lnTo>
                  <a:pt x="0" y="70783"/>
                </a:lnTo>
                <a:cubicBezTo>
                  <a:pt x="0" y="31691"/>
                  <a:pt x="31691" y="0"/>
                  <a:pt x="7078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14180" y="5669323"/>
            <a:ext cx="1512940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Zona Amarilla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23027" y="5952447"/>
            <a:ext cx="1495245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Rentabilidad media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08164" y="5556076"/>
            <a:ext cx="1663350" cy="690113"/>
          </a:xfrm>
          <a:custGeom>
            <a:avLst/>
            <a:gdLst/>
            <a:ahLst/>
            <a:cxnLst/>
            <a:rect l="l" t="t" r="r" b="b"/>
            <a:pathLst>
              <a:path w="1663350" h="690113">
                <a:moveTo>
                  <a:pt x="70778" y="0"/>
                </a:moveTo>
                <a:lnTo>
                  <a:pt x="1592572" y="0"/>
                </a:lnTo>
                <a:cubicBezTo>
                  <a:pt x="1631661" y="0"/>
                  <a:pt x="1663350" y="31688"/>
                  <a:pt x="1663350" y="70778"/>
                </a:cubicBezTo>
                <a:lnTo>
                  <a:pt x="1663350" y="619335"/>
                </a:lnTo>
                <a:cubicBezTo>
                  <a:pt x="1663350" y="658425"/>
                  <a:pt x="1631661" y="690113"/>
                  <a:pt x="1592572" y="690113"/>
                </a:cubicBezTo>
                <a:lnTo>
                  <a:pt x="70778" y="690113"/>
                </a:lnTo>
                <a:cubicBezTo>
                  <a:pt x="31688" y="690113"/>
                  <a:pt x="0" y="658425"/>
                  <a:pt x="0" y="619335"/>
                </a:cubicBezTo>
                <a:lnTo>
                  <a:pt x="0" y="70778"/>
                </a:lnTo>
                <a:cubicBezTo>
                  <a:pt x="0" y="31715"/>
                  <a:pt x="31715" y="0"/>
                  <a:pt x="70778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74521" y="5662247"/>
            <a:ext cx="153063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Zona Roja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83369" y="5945370"/>
            <a:ext cx="151294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Baja rentabilidad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04715" y="1171423"/>
            <a:ext cx="5625307" cy="3227606"/>
          </a:xfrm>
          <a:custGeom>
            <a:avLst/>
            <a:gdLst/>
            <a:ahLst/>
            <a:cxnLst/>
            <a:rect l="l" t="t" r="r" b="b"/>
            <a:pathLst>
              <a:path w="5625307" h="3227606">
                <a:moveTo>
                  <a:pt x="106156" y="0"/>
                </a:moveTo>
                <a:lnTo>
                  <a:pt x="5519151" y="0"/>
                </a:lnTo>
                <a:cubicBezTo>
                  <a:pt x="5577780" y="0"/>
                  <a:pt x="5625307" y="47528"/>
                  <a:pt x="5625307" y="106156"/>
                </a:cubicBezTo>
                <a:lnTo>
                  <a:pt x="5625307" y="3121450"/>
                </a:lnTo>
                <a:cubicBezTo>
                  <a:pt x="5625307" y="3180079"/>
                  <a:pt x="5577780" y="3227606"/>
                  <a:pt x="5519151" y="3227606"/>
                </a:cubicBezTo>
                <a:lnTo>
                  <a:pt x="106156" y="3227606"/>
                </a:lnTo>
                <a:cubicBezTo>
                  <a:pt x="47528" y="3227606"/>
                  <a:pt x="0" y="3180079"/>
                  <a:pt x="0" y="3121450"/>
                </a:cubicBezTo>
                <a:lnTo>
                  <a:pt x="0" y="106156"/>
                </a:lnTo>
                <a:cubicBezTo>
                  <a:pt x="0" y="47567"/>
                  <a:pt x="47567" y="0"/>
                  <a:pt x="10615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7139" y="1404998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185800" y="106171"/>
                </a:moveTo>
                <a:cubicBezTo>
                  <a:pt x="185800" y="62223"/>
                  <a:pt x="150119" y="26543"/>
                  <a:pt x="106171" y="26543"/>
                </a:cubicBezTo>
                <a:cubicBezTo>
                  <a:pt x="62223" y="26543"/>
                  <a:pt x="26543" y="62223"/>
                  <a:pt x="26543" y="106171"/>
                </a:cubicBezTo>
                <a:cubicBezTo>
                  <a:pt x="26543" y="150119"/>
                  <a:pt x="62223" y="185800"/>
                  <a:pt x="106171" y="185800"/>
                </a:cubicBezTo>
                <a:cubicBezTo>
                  <a:pt x="150119" y="185800"/>
                  <a:pt x="185800" y="150119"/>
                  <a:pt x="185800" y="106171"/>
                </a:cubicBezTo>
                <a:close/>
                <a:moveTo>
                  <a:pt x="0" y="106171"/>
                </a:moveTo>
                <a:cubicBezTo>
                  <a:pt x="0" y="47574"/>
                  <a:pt x="47574" y="0"/>
                  <a:pt x="106171" y="0"/>
                </a:cubicBezTo>
                <a:cubicBezTo>
                  <a:pt x="164769" y="0"/>
                  <a:pt x="212343" y="47574"/>
                  <a:pt x="212343" y="106171"/>
                </a:cubicBezTo>
                <a:cubicBezTo>
                  <a:pt x="212343" y="164769"/>
                  <a:pt x="164769" y="212343"/>
                  <a:pt x="106171" y="212343"/>
                </a:cubicBezTo>
                <a:cubicBezTo>
                  <a:pt x="47574" y="212343"/>
                  <a:pt x="0" y="164769"/>
                  <a:pt x="0" y="106171"/>
                </a:cubicBezTo>
                <a:close/>
                <a:moveTo>
                  <a:pt x="106171" y="139350"/>
                </a:moveTo>
                <a:cubicBezTo>
                  <a:pt x="124483" y="139350"/>
                  <a:pt x="139350" y="124483"/>
                  <a:pt x="139350" y="106171"/>
                </a:cubicBezTo>
                <a:cubicBezTo>
                  <a:pt x="139350" y="87860"/>
                  <a:pt x="124483" y="72993"/>
                  <a:pt x="106171" y="72993"/>
                </a:cubicBezTo>
                <a:cubicBezTo>
                  <a:pt x="87860" y="72993"/>
                  <a:pt x="72993" y="87860"/>
                  <a:pt x="72993" y="106171"/>
                </a:cubicBezTo>
                <a:cubicBezTo>
                  <a:pt x="72993" y="124483"/>
                  <a:pt x="87860" y="139350"/>
                  <a:pt x="106171" y="139350"/>
                </a:cubicBezTo>
                <a:close/>
                <a:moveTo>
                  <a:pt x="106171" y="46450"/>
                </a:moveTo>
                <a:cubicBezTo>
                  <a:pt x="139132" y="46450"/>
                  <a:pt x="165893" y="73210"/>
                  <a:pt x="165893" y="106171"/>
                </a:cubicBezTo>
                <a:cubicBezTo>
                  <a:pt x="165893" y="139132"/>
                  <a:pt x="139132" y="165893"/>
                  <a:pt x="106171" y="165893"/>
                </a:cubicBezTo>
                <a:cubicBezTo>
                  <a:pt x="73210" y="165893"/>
                  <a:pt x="46450" y="139132"/>
                  <a:pt x="46450" y="106171"/>
                </a:cubicBezTo>
                <a:cubicBezTo>
                  <a:pt x="46450" y="73210"/>
                  <a:pt x="73210" y="46450"/>
                  <a:pt x="106171" y="46450"/>
                </a:cubicBezTo>
                <a:close/>
                <a:moveTo>
                  <a:pt x="92900" y="106171"/>
                </a:moveTo>
                <a:cubicBezTo>
                  <a:pt x="92900" y="98847"/>
                  <a:pt x="98847" y="92900"/>
                  <a:pt x="106171" y="92900"/>
                </a:cubicBezTo>
                <a:cubicBezTo>
                  <a:pt x="113496" y="92900"/>
                  <a:pt x="119443" y="98847"/>
                  <a:pt x="119443" y="106171"/>
                </a:cubicBezTo>
                <a:cubicBezTo>
                  <a:pt x="119443" y="113496"/>
                  <a:pt x="113496" y="119443"/>
                  <a:pt x="106171" y="119443"/>
                </a:cubicBezTo>
                <a:cubicBezTo>
                  <a:pt x="98847" y="119443"/>
                  <a:pt x="92900" y="113496"/>
                  <a:pt x="92900" y="10617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6792196" y="1387303"/>
            <a:ext cx="2866624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Decisiones Estratégicas Habilitadas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0597" y="1776597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7" name="Text 35"/>
          <p:cNvSpPr/>
          <p:nvPr/>
        </p:nvSpPr>
        <p:spPr>
          <a:xfrm>
            <a:off x="6380782" y="1776597"/>
            <a:ext cx="433533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80672" y="1776597"/>
            <a:ext cx="433532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Estratégico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0672" y="2059721"/>
            <a:ext cx="4326479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Identificar el </a:t>
            </a:r>
            <a:pPr>
              <a:lnSpc>
                <a:spcPct val="13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óptimo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maximiza ventas sin sacrificar margen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20597" y="2413625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1" name="Text 39"/>
          <p:cNvSpPr/>
          <p:nvPr/>
        </p:nvSpPr>
        <p:spPr>
          <a:xfrm>
            <a:off x="6380782" y="2413625"/>
            <a:ext cx="433533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80672" y="2413625"/>
            <a:ext cx="356558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Promociones Inteligentes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672" y="2696748"/>
            <a:ext cx="355673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Evaluar </a:t>
            </a:r>
            <a:pPr>
              <a:lnSpc>
                <a:spcPct val="13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de descuentos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implementación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0597" y="3050653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6380782" y="3050653"/>
            <a:ext cx="433533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0672" y="3050653"/>
            <a:ext cx="406989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Planificación Comercial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80672" y="3333776"/>
            <a:ext cx="4061051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Predecir </a:t>
            </a:r>
            <a:pPr>
              <a:lnSpc>
                <a:spcPct val="13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 de ventas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diferentes escenarios de mercado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0597" y="3687680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6380782" y="3687680"/>
            <a:ext cx="433533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80672" y="3687680"/>
            <a:ext cx="314974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 de Productos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80672" y="3970803"/>
            <a:ext cx="3140900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Optimizar </a:t>
            </a:r>
            <a:pPr>
              <a:lnSpc>
                <a:spcPct val="130000"/>
              </a:lnSpc>
            </a:pPr>
            <a:r>
              <a:rPr lang="en-US" sz="1115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cartera de productos</a:t>
            </a:r>
            <a:pPr>
              <a:lnSpc>
                <a:spcPct val="130000"/>
              </a:lnSpc>
            </a:pPr>
            <a:r>
              <a:rPr lang="en-US" sz="111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según rentabilidad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04715" y="4583060"/>
            <a:ext cx="5625307" cy="2272065"/>
          </a:xfrm>
          <a:custGeom>
            <a:avLst/>
            <a:gdLst/>
            <a:ahLst/>
            <a:cxnLst/>
            <a:rect l="l" t="t" r="r" b="b"/>
            <a:pathLst>
              <a:path w="5625307" h="2272065">
                <a:moveTo>
                  <a:pt x="106174" y="0"/>
                </a:moveTo>
                <a:lnTo>
                  <a:pt x="5519134" y="0"/>
                </a:lnTo>
                <a:cubicBezTo>
                  <a:pt x="5577772" y="0"/>
                  <a:pt x="5625307" y="47536"/>
                  <a:pt x="5625307" y="106174"/>
                </a:cubicBezTo>
                <a:lnTo>
                  <a:pt x="5625307" y="2165891"/>
                </a:lnTo>
                <a:cubicBezTo>
                  <a:pt x="5625307" y="2224529"/>
                  <a:pt x="5577772" y="2272065"/>
                  <a:pt x="5519134" y="2272065"/>
                </a:cubicBezTo>
                <a:lnTo>
                  <a:pt x="106174" y="2272065"/>
                </a:lnTo>
                <a:cubicBezTo>
                  <a:pt x="47536" y="2272065"/>
                  <a:pt x="0" y="2224529"/>
                  <a:pt x="0" y="2165891"/>
                </a:cubicBezTo>
                <a:lnTo>
                  <a:pt x="0" y="106174"/>
                </a:lnTo>
                <a:cubicBezTo>
                  <a:pt x="0" y="47575"/>
                  <a:pt x="47575" y="0"/>
                  <a:pt x="10617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47139" y="4816635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13271" y="13271"/>
                </a:moveTo>
                <a:cubicBezTo>
                  <a:pt x="20612" y="13271"/>
                  <a:pt x="26543" y="19202"/>
                  <a:pt x="26543" y="26543"/>
                </a:cubicBezTo>
                <a:lnTo>
                  <a:pt x="26543" y="165893"/>
                </a:lnTo>
                <a:cubicBezTo>
                  <a:pt x="26543" y="169542"/>
                  <a:pt x="29529" y="172528"/>
                  <a:pt x="33179" y="172528"/>
                </a:cubicBezTo>
                <a:lnTo>
                  <a:pt x="199071" y="172528"/>
                </a:lnTo>
                <a:cubicBezTo>
                  <a:pt x="206412" y="172528"/>
                  <a:pt x="212343" y="178459"/>
                  <a:pt x="212343" y="185800"/>
                </a:cubicBezTo>
                <a:cubicBezTo>
                  <a:pt x="212343" y="193140"/>
                  <a:pt x="206412" y="199071"/>
                  <a:pt x="199071" y="199071"/>
                </a:cubicBezTo>
                <a:lnTo>
                  <a:pt x="33179" y="199071"/>
                </a:lnTo>
                <a:cubicBezTo>
                  <a:pt x="14847" y="199071"/>
                  <a:pt x="0" y="184224"/>
                  <a:pt x="0" y="165893"/>
                </a:cubicBezTo>
                <a:lnTo>
                  <a:pt x="0" y="26543"/>
                </a:lnTo>
                <a:cubicBezTo>
                  <a:pt x="0" y="19202"/>
                  <a:pt x="5931" y="13271"/>
                  <a:pt x="13271" y="13271"/>
                </a:cubicBezTo>
                <a:close/>
                <a:moveTo>
                  <a:pt x="99536" y="39814"/>
                </a:moveTo>
                <a:cubicBezTo>
                  <a:pt x="102314" y="39814"/>
                  <a:pt x="104969" y="40975"/>
                  <a:pt x="106876" y="43049"/>
                </a:cubicBezTo>
                <a:lnTo>
                  <a:pt x="136364" y="75191"/>
                </a:lnTo>
                <a:lnTo>
                  <a:pt x="155524" y="55989"/>
                </a:lnTo>
                <a:cubicBezTo>
                  <a:pt x="159423" y="52090"/>
                  <a:pt x="165727" y="52090"/>
                  <a:pt x="169584" y="55989"/>
                </a:cubicBezTo>
                <a:lnTo>
                  <a:pt x="196127" y="82532"/>
                </a:lnTo>
                <a:cubicBezTo>
                  <a:pt x="197993" y="84398"/>
                  <a:pt x="199030" y="86928"/>
                  <a:pt x="199030" y="89582"/>
                </a:cubicBezTo>
                <a:lnTo>
                  <a:pt x="199030" y="136032"/>
                </a:lnTo>
                <a:cubicBezTo>
                  <a:pt x="199030" y="141548"/>
                  <a:pt x="194592" y="145985"/>
                  <a:pt x="189076" y="145985"/>
                </a:cubicBezTo>
                <a:lnTo>
                  <a:pt x="62998" y="145985"/>
                </a:lnTo>
                <a:cubicBezTo>
                  <a:pt x="57482" y="145985"/>
                  <a:pt x="53044" y="141548"/>
                  <a:pt x="53044" y="136032"/>
                </a:cubicBezTo>
                <a:lnTo>
                  <a:pt x="53044" y="89582"/>
                </a:lnTo>
                <a:cubicBezTo>
                  <a:pt x="53044" y="87094"/>
                  <a:pt x="53998" y="84688"/>
                  <a:pt x="55657" y="82863"/>
                </a:cubicBezTo>
                <a:lnTo>
                  <a:pt x="92153" y="43049"/>
                </a:lnTo>
                <a:cubicBezTo>
                  <a:pt x="94020" y="40975"/>
                  <a:pt x="96715" y="39814"/>
                  <a:pt x="99494" y="3981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6792196" y="4798940"/>
            <a:ext cx="167219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 de Simulación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20597" y="5188235"/>
            <a:ext cx="283123" cy="283123"/>
          </a:xfrm>
          <a:custGeom>
            <a:avLst/>
            <a:gdLst/>
            <a:ahLst/>
            <a:cxnLst/>
            <a:rect l="l" t="t" r="r" b="b"/>
            <a:pathLst>
              <a:path w="283123" h="283123">
                <a:moveTo>
                  <a:pt x="70781" y="0"/>
                </a:moveTo>
                <a:lnTo>
                  <a:pt x="212343" y="0"/>
                </a:lnTo>
                <a:cubicBezTo>
                  <a:pt x="251408" y="0"/>
                  <a:pt x="283123" y="31716"/>
                  <a:pt x="283123" y="70781"/>
                </a:cubicBezTo>
                <a:lnTo>
                  <a:pt x="283123" y="212343"/>
                </a:lnTo>
                <a:cubicBezTo>
                  <a:pt x="283123" y="251408"/>
                  <a:pt x="251408" y="283123"/>
                  <a:pt x="212343" y="283123"/>
                </a:cubicBezTo>
                <a:lnTo>
                  <a:pt x="70781" y="283123"/>
                </a:lnTo>
                <a:cubicBezTo>
                  <a:pt x="31716" y="283123"/>
                  <a:pt x="0" y="251408"/>
                  <a:pt x="0" y="21234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6" name="Text 54"/>
          <p:cNvSpPr/>
          <p:nvPr/>
        </p:nvSpPr>
        <p:spPr>
          <a:xfrm>
            <a:off x="6389630" y="5188235"/>
            <a:ext cx="345057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09891" y="5223625"/>
            <a:ext cx="1442160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Definir combinaciones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20597" y="5577529"/>
            <a:ext cx="283123" cy="283123"/>
          </a:xfrm>
          <a:custGeom>
            <a:avLst/>
            <a:gdLst/>
            <a:ahLst/>
            <a:cxnLst/>
            <a:rect l="l" t="t" r="r" b="b"/>
            <a:pathLst>
              <a:path w="283123" h="283123">
                <a:moveTo>
                  <a:pt x="70781" y="0"/>
                </a:moveTo>
                <a:lnTo>
                  <a:pt x="212343" y="0"/>
                </a:lnTo>
                <a:cubicBezTo>
                  <a:pt x="251408" y="0"/>
                  <a:pt x="283123" y="31716"/>
                  <a:pt x="283123" y="70781"/>
                </a:cubicBezTo>
                <a:lnTo>
                  <a:pt x="283123" y="212343"/>
                </a:lnTo>
                <a:cubicBezTo>
                  <a:pt x="283123" y="251408"/>
                  <a:pt x="251408" y="283123"/>
                  <a:pt x="212343" y="283123"/>
                </a:cubicBezTo>
                <a:lnTo>
                  <a:pt x="70781" y="283123"/>
                </a:lnTo>
                <a:cubicBezTo>
                  <a:pt x="31716" y="283123"/>
                  <a:pt x="0" y="251408"/>
                  <a:pt x="0" y="21234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9" name="Text 57"/>
          <p:cNvSpPr/>
          <p:nvPr/>
        </p:nvSpPr>
        <p:spPr>
          <a:xfrm>
            <a:off x="6389630" y="5577529"/>
            <a:ext cx="345057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09891" y="5612920"/>
            <a:ext cx="165450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Aplicar modelo predictivo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20597" y="5966824"/>
            <a:ext cx="283123" cy="283123"/>
          </a:xfrm>
          <a:custGeom>
            <a:avLst/>
            <a:gdLst/>
            <a:ahLst/>
            <a:cxnLst/>
            <a:rect l="l" t="t" r="r" b="b"/>
            <a:pathLst>
              <a:path w="283123" h="283123">
                <a:moveTo>
                  <a:pt x="70781" y="0"/>
                </a:moveTo>
                <a:lnTo>
                  <a:pt x="212343" y="0"/>
                </a:lnTo>
                <a:cubicBezTo>
                  <a:pt x="251408" y="0"/>
                  <a:pt x="283123" y="31716"/>
                  <a:pt x="283123" y="70781"/>
                </a:cubicBezTo>
                <a:lnTo>
                  <a:pt x="283123" y="212343"/>
                </a:lnTo>
                <a:cubicBezTo>
                  <a:pt x="283123" y="251408"/>
                  <a:pt x="251408" y="283123"/>
                  <a:pt x="212343" y="283123"/>
                </a:cubicBezTo>
                <a:lnTo>
                  <a:pt x="70781" y="283123"/>
                </a:lnTo>
                <a:cubicBezTo>
                  <a:pt x="31716" y="283123"/>
                  <a:pt x="0" y="251408"/>
                  <a:pt x="0" y="21234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6389630" y="5966824"/>
            <a:ext cx="345057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09891" y="6002215"/>
            <a:ext cx="1327141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Calcular rentabilidad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20597" y="6356119"/>
            <a:ext cx="283123" cy="283123"/>
          </a:xfrm>
          <a:custGeom>
            <a:avLst/>
            <a:gdLst/>
            <a:ahLst/>
            <a:cxnLst/>
            <a:rect l="l" t="t" r="r" b="b"/>
            <a:pathLst>
              <a:path w="283123" h="283123">
                <a:moveTo>
                  <a:pt x="70781" y="0"/>
                </a:moveTo>
                <a:lnTo>
                  <a:pt x="212343" y="0"/>
                </a:lnTo>
                <a:cubicBezTo>
                  <a:pt x="251408" y="0"/>
                  <a:pt x="283123" y="31716"/>
                  <a:pt x="283123" y="70781"/>
                </a:cubicBezTo>
                <a:lnTo>
                  <a:pt x="283123" y="212343"/>
                </a:lnTo>
                <a:cubicBezTo>
                  <a:pt x="283123" y="251408"/>
                  <a:pt x="251408" y="283123"/>
                  <a:pt x="212343" y="283123"/>
                </a:cubicBezTo>
                <a:lnTo>
                  <a:pt x="70781" y="283123"/>
                </a:lnTo>
                <a:cubicBezTo>
                  <a:pt x="31716" y="283123"/>
                  <a:pt x="0" y="251408"/>
                  <a:pt x="0" y="21234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5" name="Text 63"/>
          <p:cNvSpPr/>
          <p:nvPr/>
        </p:nvSpPr>
        <p:spPr>
          <a:xfrm>
            <a:off x="6389630" y="6356119"/>
            <a:ext cx="345057" cy="28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09891" y="6391509"/>
            <a:ext cx="1318293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Visualizar resultados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50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4151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Fase 4: Dashboards Interactivos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635000"/>
            <a:ext cx="407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Ejecutiva con Plotly y Streamlit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50925"/>
            <a:ext cx="5673725" cy="6570663"/>
          </a:xfrm>
          <a:custGeom>
            <a:avLst/>
            <a:gdLst/>
            <a:ahLst/>
            <a:cxnLst/>
            <a:rect l="l" t="t" r="r" b="b"/>
            <a:pathLst>
              <a:path w="5673725" h="6570663">
                <a:moveTo>
                  <a:pt x="95262" y="0"/>
                </a:moveTo>
                <a:lnTo>
                  <a:pt x="5578463" y="0"/>
                </a:lnTo>
                <a:cubicBezTo>
                  <a:pt x="5631075" y="0"/>
                  <a:pt x="5673725" y="42650"/>
                  <a:pt x="5673725" y="95262"/>
                </a:cubicBezTo>
                <a:lnTo>
                  <a:pt x="5673725" y="6475401"/>
                </a:lnTo>
                <a:cubicBezTo>
                  <a:pt x="5673725" y="6528012"/>
                  <a:pt x="5631075" y="6570663"/>
                  <a:pt x="5578463" y="6570663"/>
                </a:cubicBezTo>
                <a:lnTo>
                  <a:pt x="95262" y="6570663"/>
                </a:lnTo>
                <a:cubicBezTo>
                  <a:pt x="42650" y="6570663"/>
                  <a:pt x="0" y="6528012"/>
                  <a:pt x="0" y="6475401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12445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474663" y="1244598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308098"/>
            <a:ext cx="1889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 Ventas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7525" y="1787523"/>
            <a:ext cx="5284788" cy="1562100"/>
          </a:xfrm>
          <a:custGeom>
            <a:avLst/>
            <a:gdLst/>
            <a:ahLst/>
            <a:cxnLst/>
            <a:rect l="l" t="t" r="r" b="b"/>
            <a:pathLst>
              <a:path w="5284788" h="1562100">
                <a:moveTo>
                  <a:pt x="63499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499"/>
                </a:cubicBezTo>
                <a:lnTo>
                  <a:pt x="5284788" y="1498601"/>
                </a:lnTo>
                <a:cubicBezTo>
                  <a:pt x="5284788" y="1533670"/>
                  <a:pt x="5256358" y="1562100"/>
                  <a:pt x="5221288" y="1562100"/>
                </a:cubicBezTo>
                <a:lnTo>
                  <a:pt x="63499" y="1562100"/>
                </a:lnTo>
                <a:cubicBezTo>
                  <a:pt x="28430" y="1562100"/>
                  <a:pt x="0" y="1533670"/>
                  <a:pt x="0" y="1498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294" y="198913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921544" y="1949447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Principales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825" y="2266947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$12.5M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669" y="252085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Ingresos Totales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59125" y="2266947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$284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78969" y="252085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 Promedio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1825" y="277485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669" y="3028749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Promedio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59125" y="277485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78969" y="3028749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Cantidad Promedio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3400227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4014" y="3598664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915194" y="3558977"/>
            <a:ext cx="181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Productos por Venta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" y="3876477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de los productos con mayor contribución a ingresos, permitiendo identificar estrellas del portafolio y oportunidades de crecimiento.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4463852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2944" y="466228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07156" y="53578"/>
                </a:moveTo>
                <a:cubicBezTo>
                  <a:pt x="121946" y="53578"/>
                  <a:pt x="133945" y="41579"/>
                  <a:pt x="133945" y="26789"/>
                </a:cubicBezTo>
                <a:cubicBezTo>
                  <a:pt x="133945" y="11999"/>
                  <a:pt x="121946" y="0"/>
                  <a:pt x="107156" y="0"/>
                </a:cubicBezTo>
                <a:cubicBezTo>
                  <a:pt x="92366" y="0"/>
                  <a:pt x="80367" y="11999"/>
                  <a:pt x="80367" y="26789"/>
                </a:cubicBezTo>
                <a:cubicBezTo>
                  <a:pt x="80367" y="28296"/>
                  <a:pt x="80507" y="29803"/>
                  <a:pt x="80730" y="31254"/>
                </a:cubicBezTo>
                <a:lnTo>
                  <a:pt x="44537" y="51374"/>
                </a:lnTo>
                <a:cubicBezTo>
                  <a:pt x="39821" y="47188"/>
                  <a:pt x="33598" y="44648"/>
                  <a:pt x="26789" y="44648"/>
                </a:cubicBezTo>
                <a:cubicBezTo>
                  <a:pt x="11999" y="44648"/>
                  <a:pt x="0" y="56648"/>
                  <a:pt x="0" y="71438"/>
                </a:cubicBezTo>
                <a:cubicBezTo>
                  <a:pt x="0" y="86227"/>
                  <a:pt x="11999" y="98227"/>
                  <a:pt x="26789" y="98227"/>
                </a:cubicBezTo>
                <a:cubicBezTo>
                  <a:pt x="33598" y="98227"/>
                  <a:pt x="39793" y="95687"/>
                  <a:pt x="44537" y="91501"/>
                </a:cubicBezTo>
                <a:lnTo>
                  <a:pt x="80730" y="111621"/>
                </a:lnTo>
                <a:cubicBezTo>
                  <a:pt x="80479" y="113072"/>
                  <a:pt x="80367" y="114551"/>
                  <a:pt x="80367" y="116086"/>
                </a:cubicBezTo>
                <a:cubicBezTo>
                  <a:pt x="80367" y="130876"/>
                  <a:pt x="92366" y="142875"/>
                  <a:pt x="107156" y="142875"/>
                </a:cubicBezTo>
                <a:cubicBezTo>
                  <a:pt x="121946" y="142875"/>
                  <a:pt x="133945" y="130876"/>
                  <a:pt x="133945" y="116086"/>
                </a:cubicBezTo>
                <a:cubicBezTo>
                  <a:pt x="133945" y="101296"/>
                  <a:pt x="121946" y="89297"/>
                  <a:pt x="107156" y="89297"/>
                </a:cubicBezTo>
                <a:cubicBezTo>
                  <a:pt x="100347" y="89297"/>
                  <a:pt x="94152" y="91836"/>
                  <a:pt x="89408" y="96022"/>
                </a:cubicBezTo>
                <a:lnTo>
                  <a:pt x="53215" y="75902"/>
                </a:lnTo>
                <a:cubicBezTo>
                  <a:pt x="53467" y="74451"/>
                  <a:pt x="53578" y="72972"/>
                  <a:pt x="53578" y="71438"/>
                </a:cubicBezTo>
                <a:cubicBezTo>
                  <a:pt x="53578" y="69903"/>
                  <a:pt x="53439" y="68424"/>
                  <a:pt x="53215" y="66973"/>
                </a:cubicBezTo>
                <a:lnTo>
                  <a:pt x="89408" y="46853"/>
                </a:lnTo>
                <a:cubicBezTo>
                  <a:pt x="94124" y="51039"/>
                  <a:pt x="100347" y="53578"/>
                  <a:pt x="107156" y="5357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915194" y="4622602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 por Canal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100" y="4940102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comparativo de canales de distribución para optimizar estrategia comercial y asignación de recursos.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5527477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01873" y="572591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0"/>
                </a:moveTo>
                <a:cubicBezTo>
                  <a:pt x="40658" y="0"/>
                  <a:pt x="44648" y="3990"/>
                  <a:pt x="44648" y="8930"/>
                </a:cubicBezTo>
                <a:lnTo>
                  <a:pt x="44648" y="17859"/>
                </a:lnTo>
                <a:lnTo>
                  <a:pt x="80367" y="17859"/>
                </a:lnTo>
                <a:lnTo>
                  <a:pt x="80367" y="8930"/>
                </a:lnTo>
                <a:cubicBezTo>
                  <a:pt x="80367" y="3990"/>
                  <a:pt x="84358" y="0"/>
                  <a:pt x="89297" y="0"/>
                </a:cubicBezTo>
                <a:cubicBezTo>
                  <a:pt x="94236" y="0"/>
                  <a:pt x="98227" y="3990"/>
                  <a:pt x="98227" y="8930"/>
                </a:cubicBezTo>
                <a:lnTo>
                  <a:pt x="98227" y="17859"/>
                </a:lnTo>
                <a:lnTo>
                  <a:pt x="107156" y="17859"/>
                </a:lnTo>
                <a:cubicBezTo>
                  <a:pt x="117007" y="17859"/>
                  <a:pt x="125016" y="25868"/>
                  <a:pt x="125016" y="3571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35719"/>
                </a:lnTo>
                <a:cubicBezTo>
                  <a:pt x="0" y="25868"/>
                  <a:pt x="8009" y="17859"/>
                  <a:pt x="17859" y="17859"/>
                </a:cubicBezTo>
                <a:lnTo>
                  <a:pt x="26789" y="17859"/>
                </a:lnTo>
                <a:lnTo>
                  <a:pt x="26789" y="8930"/>
                </a:lnTo>
                <a:cubicBezTo>
                  <a:pt x="26789" y="3990"/>
                  <a:pt x="30780" y="0"/>
                  <a:pt x="35719" y="0"/>
                </a:cubicBezTo>
                <a:close/>
                <a:moveTo>
                  <a:pt x="17859" y="66973"/>
                </a:moveTo>
                <a:lnTo>
                  <a:pt x="17859" y="75902"/>
                </a:lnTo>
                <a:cubicBezTo>
                  <a:pt x="17859" y="78358"/>
                  <a:pt x="19869" y="80367"/>
                  <a:pt x="22324" y="80367"/>
                </a:cubicBezTo>
                <a:lnTo>
                  <a:pt x="31254" y="80367"/>
                </a:lnTo>
                <a:cubicBezTo>
                  <a:pt x="33710" y="80367"/>
                  <a:pt x="35719" y="78358"/>
                  <a:pt x="35719" y="75902"/>
                </a:cubicBezTo>
                <a:lnTo>
                  <a:pt x="35719" y="66973"/>
                </a:lnTo>
                <a:cubicBezTo>
                  <a:pt x="35719" y="64517"/>
                  <a:pt x="33710" y="62508"/>
                  <a:pt x="31254" y="62508"/>
                </a:cubicBezTo>
                <a:lnTo>
                  <a:pt x="22324" y="62508"/>
                </a:lnTo>
                <a:cubicBezTo>
                  <a:pt x="19869" y="62508"/>
                  <a:pt x="17859" y="64517"/>
                  <a:pt x="17859" y="66973"/>
                </a:cubicBezTo>
                <a:close/>
                <a:moveTo>
                  <a:pt x="53578" y="66973"/>
                </a:moveTo>
                <a:lnTo>
                  <a:pt x="53578" y="75902"/>
                </a:lnTo>
                <a:cubicBezTo>
                  <a:pt x="53578" y="78358"/>
                  <a:pt x="55587" y="80367"/>
                  <a:pt x="58043" y="80367"/>
                </a:cubicBezTo>
                <a:lnTo>
                  <a:pt x="66973" y="80367"/>
                </a:lnTo>
                <a:cubicBezTo>
                  <a:pt x="69428" y="80367"/>
                  <a:pt x="71438" y="78358"/>
                  <a:pt x="71438" y="75902"/>
                </a:cubicBezTo>
                <a:lnTo>
                  <a:pt x="71438" y="66973"/>
                </a:lnTo>
                <a:cubicBezTo>
                  <a:pt x="71438" y="64517"/>
                  <a:pt x="69428" y="62508"/>
                  <a:pt x="66973" y="62508"/>
                </a:cubicBezTo>
                <a:lnTo>
                  <a:pt x="58043" y="62508"/>
                </a:lnTo>
                <a:cubicBezTo>
                  <a:pt x="55587" y="62508"/>
                  <a:pt x="53578" y="64517"/>
                  <a:pt x="53578" y="66973"/>
                </a:cubicBezTo>
                <a:close/>
                <a:moveTo>
                  <a:pt x="93762" y="62508"/>
                </a:moveTo>
                <a:cubicBezTo>
                  <a:pt x="91306" y="62508"/>
                  <a:pt x="89297" y="64517"/>
                  <a:pt x="89297" y="66973"/>
                </a:cubicBezTo>
                <a:lnTo>
                  <a:pt x="89297" y="75902"/>
                </a:lnTo>
                <a:cubicBezTo>
                  <a:pt x="89297" y="78358"/>
                  <a:pt x="91306" y="80367"/>
                  <a:pt x="93762" y="80367"/>
                </a:cubicBezTo>
                <a:lnTo>
                  <a:pt x="102691" y="80367"/>
                </a:lnTo>
                <a:cubicBezTo>
                  <a:pt x="105147" y="80367"/>
                  <a:pt x="107156" y="78358"/>
                  <a:pt x="107156" y="75902"/>
                </a:cubicBezTo>
                <a:lnTo>
                  <a:pt x="107156" y="66973"/>
                </a:lnTo>
                <a:cubicBezTo>
                  <a:pt x="107156" y="64517"/>
                  <a:pt x="105147" y="62508"/>
                  <a:pt x="102691" y="62508"/>
                </a:cubicBezTo>
                <a:lnTo>
                  <a:pt x="93762" y="62508"/>
                </a:lnTo>
                <a:close/>
                <a:moveTo>
                  <a:pt x="17859" y="102691"/>
                </a:move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31254" y="116086"/>
                </a:lnTo>
                <a:cubicBezTo>
                  <a:pt x="33710" y="116086"/>
                  <a:pt x="35719" y="114077"/>
                  <a:pt x="35719" y="111621"/>
                </a:cubicBezTo>
                <a:lnTo>
                  <a:pt x="35719" y="102691"/>
                </a:lnTo>
                <a:cubicBezTo>
                  <a:pt x="35719" y="100236"/>
                  <a:pt x="33710" y="98227"/>
                  <a:pt x="31254" y="98227"/>
                </a:cubicBezTo>
                <a:lnTo>
                  <a:pt x="22324" y="98227"/>
                </a:lnTo>
                <a:cubicBezTo>
                  <a:pt x="19869" y="98227"/>
                  <a:pt x="17859" y="100236"/>
                  <a:pt x="17859" y="102691"/>
                </a:cubicBezTo>
                <a:close/>
                <a:moveTo>
                  <a:pt x="58043" y="98227"/>
                </a:moveTo>
                <a:cubicBezTo>
                  <a:pt x="55587" y="98227"/>
                  <a:pt x="53578" y="100236"/>
                  <a:pt x="53578" y="102691"/>
                </a:cubicBezTo>
                <a:lnTo>
                  <a:pt x="53578" y="111621"/>
                </a:lnTo>
                <a:cubicBezTo>
                  <a:pt x="53578" y="114077"/>
                  <a:pt x="55587" y="116086"/>
                  <a:pt x="58043" y="116086"/>
                </a:cubicBezTo>
                <a:lnTo>
                  <a:pt x="66973" y="116086"/>
                </a:lnTo>
                <a:cubicBezTo>
                  <a:pt x="69428" y="116086"/>
                  <a:pt x="71438" y="114077"/>
                  <a:pt x="71438" y="111621"/>
                </a:cubicBezTo>
                <a:lnTo>
                  <a:pt x="71438" y="102691"/>
                </a:lnTo>
                <a:cubicBezTo>
                  <a:pt x="71438" y="100236"/>
                  <a:pt x="69428" y="98227"/>
                  <a:pt x="66973" y="98227"/>
                </a:cubicBezTo>
                <a:lnTo>
                  <a:pt x="58043" y="98227"/>
                </a:lnTo>
                <a:close/>
                <a:moveTo>
                  <a:pt x="89297" y="102691"/>
                </a:moveTo>
                <a:lnTo>
                  <a:pt x="89297" y="111621"/>
                </a:lnTo>
                <a:cubicBezTo>
                  <a:pt x="89297" y="114077"/>
                  <a:pt x="91306" y="116086"/>
                  <a:pt x="93762" y="116086"/>
                </a:cubicBezTo>
                <a:lnTo>
                  <a:pt x="102691" y="116086"/>
                </a:lnTo>
                <a:cubicBezTo>
                  <a:pt x="105147" y="116086"/>
                  <a:pt x="107156" y="114077"/>
                  <a:pt x="107156" y="111621"/>
                </a:cubicBezTo>
                <a:lnTo>
                  <a:pt x="107156" y="102691"/>
                </a:lnTo>
                <a:cubicBezTo>
                  <a:pt x="107156" y="100236"/>
                  <a:pt x="105147" y="98227"/>
                  <a:pt x="102691" y="98227"/>
                </a:cubicBezTo>
                <a:lnTo>
                  <a:pt x="93762" y="98227"/>
                </a:lnTo>
                <a:cubicBezTo>
                  <a:pt x="91306" y="98227"/>
                  <a:pt x="89297" y="100236"/>
                  <a:pt x="89297" y="10269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915194" y="5686227"/>
            <a:ext cx="191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Evolución Mensual de Ventas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100" y="6003727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Tendencias temporales con capacidad de drill-down para identificar patrones estacionales y crecimiento.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7525" y="6594277"/>
            <a:ext cx="5284788" cy="831850"/>
          </a:xfrm>
          <a:custGeom>
            <a:avLst/>
            <a:gdLst/>
            <a:ahLst/>
            <a:cxnLst/>
            <a:rect l="l" t="t" r="r" b="b"/>
            <a:pathLst>
              <a:path w="5284788" h="831850">
                <a:moveTo>
                  <a:pt x="63503" y="0"/>
                </a:moveTo>
                <a:lnTo>
                  <a:pt x="5221284" y="0"/>
                </a:lnTo>
                <a:cubicBezTo>
                  <a:pt x="5256333" y="0"/>
                  <a:pt x="5284788" y="28455"/>
                  <a:pt x="5284788" y="63503"/>
                </a:cubicBezTo>
                <a:lnTo>
                  <a:pt x="5284788" y="768347"/>
                </a:lnTo>
                <a:cubicBezTo>
                  <a:pt x="5284787" y="803419"/>
                  <a:pt x="5256356" y="831850"/>
                  <a:pt x="5221284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223" y="67958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25450" y="10297"/>
                </a:moveTo>
                <a:cubicBezTo>
                  <a:pt x="21989" y="8399"/>
                  <a:pt x="17804" y="8483"/>
                  <a:pt x="14399" y="10492"/>
                </a:cubicBezTo>
                <a:cubicBezTo>
                  <a:pt x="10995" y="12502"/>
                  <a:pt x="8930" y="16157"/>
                  <a:pt x="8930" y="20092"/>
                </a:cubicBezTo>
                <a:lnTo>
                  <a:pt x="8930" y="122783"/>
                </a:lnTo>
                <a:cubicBezTo>
                  <a:pt x="8930" y="126718"/>
                  <a:pt x="11023" y="130373"/>
                  <a:pt x="14399" y="132383"/>
                </a:cubicBezTo>
                <a:cubicBezTo>
                  <a:pt x="17776" y="134392"/>
                  <a:pt x="21989" y="134476"/>
                  <a:pt x="25450" y="132578"/>
                </a:cubicBezTo>
                <a:lnTo>
                  <a:pt x="119211" y="81232"/>
                </a:lnTo>
                <a:cubicBezTo>
                  <a:pt x="122783" y="79279"/>
                  <a:pt x="125016" y="75512"/>
                  <a:pt x="125016" y="71438"/>
                </a:cubicBezTo>
                <a:cubicBezTo>
                  <a:pt x="125016" y="67363"/>
                  <a:pt x="122783" y="63596"/>
                  <a:pt x="119211" y="61643"/>
                </a:cubicBezTo>
                <a:lnTo>
                  <a:pt x="25450" y="1029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921544" y="6756200"/>
            <a:ext cx="133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Simulador Dinámico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450" y="7073700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en tiempo real del impacto de precios y cantidades sobre ventas proyectadas.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4425" y="1050925"/>
            <a:ext cx="5673725" cy="6570663"/>
          </a:xfrm>
          <a:custGeom>
            <a:avLst/>
            <a:gdLst/>
            <a:ahLst/>
            <a:cxnLst/>
            <a:rect l="l" t="t" r="r" b="b"/>
            <a:pathLst>
              <a:path w="5673725" h="6570663">
                <a:moveTo>
                  <a:pt x="95262" y="0"/>
                </a:moveTo>
                <a:lnTo>
                  <a:pt x="5578463" y="0"/>
                </a:lnTo>
                <a:cubicBezTo>
                  <a:pt x="5631075" y="0"/>
                  <a:pt x="5673725" y="42650"/>
                  <a:pt x="5673725" y="95262"/>
                </a:cubicBezTo>
                <a:lnTo>
                  <a:pt x="5673725" y="6475401"/>
                </a:lnTo>
                <a:cubicBezTo>
                  <a:pt x="5673725" y="6528012"/>
                  <a:pt x="5631075" y="6570663"/>
                  <a:pt x="5578463" y="6570663"/>
                </a:cubicBezTo>
                <a:lnTo>
                  <a:pt x="95262" y="6570663"/>
                </a:lnTo>
                <a:cubicBezTo>
                  <a:pt x="42650" y="6570663"/>
                  <a:pt x="0" y="6528012"/>
                  <a:pt x="0" y="6475401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8100" y="12445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9" name="Text 37"/>
          <p:cNvSpPr/>
          <p:nvPr/>
        </p:nvSpPr>
        <p:spPr>
          <a:xfrm>
            <a:off x="6348412" y="1244598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64350" y="1308098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 Rentabilidad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1275" y="1787523"/>
            <a:ext cx="5284788" cy="1562100"/>
          </a:xfrm>
          <a:custGeom>
            <a:avLst/>
            <a:gdLst/>
            <a:ahLst/>
            <a:cxnLst/>
            <a:rect l="l" t="t" r="r" b="b"/>
            <a:pathLst>
              <a:path w="5284788" h="1562100">
                <a:moveTo>
                  <a:pt x="63499" y="0"/>
                </a:moveTo>
                <a:lnTo>
                  <a:pt x="5221288" y="0"/>
                </a:lnTo>
                <a:cubicBezTo>
                  <a:pt x="5256358" y="0"/>
                  <a:pt x="5284788" y="28430"/>
                  <a:pt x="5284788" y="63499"/>
                </a:cubicBezTo>
                <a:lnTo>
                  <a:pt x="5284788" y="1498601"/>
                </a:lnTo>
                <a:cubicBezTo>
                  <a:pt x="5284788" y="1533670"/>
                  <a:pt x="5256358" y="1562100"/>
                  <a:pt x="5221288" y="1562100"/>
                </a:cubicBezTo>
                <a:lnTo>
                  <a:pt x="63499" y="1562100"/>
                </a:lnTo>
                <a:cubicBezTo>
                  <a:pt x="28430" y="1562100"/>
                  <a:pt x="0" y="1533670"/>
                  <a:pt x="0" y="1498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73044" y="198913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26789"/>
                </a:moveTo>
                <a:lnTo>
                  <a:pt x="35719" y="22324"/>
                </a:lnTo>
                <a:cubicBezTo>
                  <a:pt x="35719" y="9990"/>
                  <a:pt x="59717" y="0"/>
                  <a:pt x="89297" y="0"/>
                </a:cubicBezTo>
                <a:cubicBezTo>
                  <a:pt x="118876" y="0"/>
                  <a:pt x="142875" y="9990"/>
                  <a:pt x="142875" y="22324"/>
                </a:cubicBezTo>
                <a:lnTo>
                  <a:pt x="142875" y="26789"/>
                </a:lnTo>
                <a:cubicBezTo>
                  <a:pt x="142875" y="35328"/>
                  <a:pt x="131350" y="42751"/>
                  <a:pt x="114412" y="46518"/>
                </a:cubicBezTo>
                <a:cubicBezTo>
                  <a:pt x="113742" y="45737"/>
                  <a:pt x="113044" y="44983"/>
                  <a:pt x="112347" y="44286"/>
                </a:cubicBezTo>
                <a:cubicBezTo>
                  <a:pt x="108021" y="40016"/>
                  <a:pt x="102440" y="36779"/>
                  <a:pt x="96608" y="34379"/>
                </a:cubicBezTo>
                <a:cubicBezTo>
                  <a:pt x="84916" y="29496"/>
                  <a:pt x="69679" y="26817"/>
                  <a:pt x="53578" y="26817"/>
                </a:cubicBezTo>
                <a:cubicBezTo>
                  <a:pt x="47467" y="26817"/>
                  <a:pt x="41495" y="27208"/>
                  <a:pt x="35775" y="27961"/>
                </a:cubicBezTo>
                <a:cubicBezTo>
                  <a:pt x="35719" y="27598"/>
                  <a:pt x="35719" y="27208"/>
                  <a:pt x="35719" y="26817"/>
                </a:cubicBezTo>
                <a:close/>
                <a:moveTo>
                  <a:pt x="120551" y="98506"/>
                </a:moveTo>
                <a:lnTo>
                  <a:pt x="120551" y="85613"/>
                </a:lnTo>
                <a:cubicBezTo>
                  <a:pt x="124764" y="84525"/>
                  <a:pt x="128727" y="83241"/>
                  <a:pt x="132327" y="81735"/>
                </a:cubicBezTo>
                <a:cubicBezTo>
                  <a:pt x="136010" y="80200"/>
                  <a:pt x="139610" y="78330"/>
                  <a:pt x="142875" y="76070"/>
                </a:cubicBezTo>
                <a:lnTo>
                  <a:pt x="142875" y="80367"/>
                </a:lnTo>
                <a:cubicBezTo>
                  <a:pt x="142875" y="87846"/>
                  <a:pt x="134085" y="94459"/>
                  <a:pt x="120551" y="98506"/>
                </a:cubicBezTo>
                <a:close/>
                <a:moveTo>
                  <a:pt x="120551" y="71717"/>
                </a:moveTo>
                <a:lnTo>
                  <a:pt x="120551" y="62508"/>
                </a:lnTo>
                <a:cubicBezTo>
                  <a:pt x="120551" y="61252"/>
                  <a:pt x="120439" y="60052"/>
                  <a:pt x="120272" y="58880"/>
                </a:cubicBezTo>
                <a:cubicBezTo>
                  <a:pt x="124597" y="57792"/>
                  <a:pt x="128643" y="56480"/>
                  <a:pt x="132327" y="54918"/>
                </a:cubicBezTo>
                <a:cubicBezTo>
                  <a:pt x="136010" y="53355"/>
                  <a:pt x="139610" y="51513"/>
                  <a:pt x="142875" y="49253"/>
                </a:cubicBezTo>
                <a:lnTo>
                  <a:pt x="142875" y="53550"/>
                </a:lnTo>
                <a:cubicBezTo>
                  <a:pt x="142875" y="61029"/>
                  <a:pt x="134085" y="67642"/>
                  <a:pt x="120551" y="71689"/>
                </a:cubicBezTo>
                <a:close/>
                <a:moveTo>
                  <a:pt x="0" y="66973"/>
                </a:moveTo>
                <a:lnTo>
                  <a:pt x="0" y="62508"/>
                </a:lnTo>
                <a:cubicBezTo>
                  <a:pt x="0" y="50174"/>
                  <a:pt x="23999" y="40184"/>
                  <a:pt x="53578" y="40184"/>
                </a:cubicBezTo>
                <a:cubicBezTo>
                  <a:pt x="83158" y="40184"/>
                  <a:pt x="107156" y="50174"/>
                  <a:pt x="107156" y="62508"/>
                </a:cubicBezTo>
                <a:lnTo>
                  <a:pt x="107156" y="66973"/>
                </a:lnTo>
                <a:cubicBezTo>
                  <a:pt x="107156" y="79307"/>
                  <a:pt x="83158" y="89297"/>
                  <a:pt x="53578" y="89297"/>
                </a:cubicBezTo>
                <a:cubicBezTo>
                  <a:pt x="23999" y="89297"/>
                  <a:pt x="0" y="79307"/>
                  <a:pt x="0" y="66973"/>
                </a:cubicBezTo>
                <a:close/>
                <a:moveTo>
                  <a:pt x="107156" y="93762"/>
                </a:moveTo>
                <a:cubicBezTo>
                  <a:pt x="107156" y="106096"/>
                  <a:pt x="83158" y="116086"/>
                  <a:pt x="53578" y="116086"/>
                </a:cubicBezTo>
                <a:cubicBezTo>
                  <a:pt x="23999" y="116086"/>
                  <a:pt x="0" y="106096"/>
                  <a:pt x="0" y="93762"/>
                </a:cubicBezTo>
                <a:lnTo>
                  <a:pt x="0" y="89464"/>
                </a:lnTo>
                <a:cubicBezTo>
                  <a:pt x="3237" y="91725"/>
                  <a:pt x="6837" y="93566"/>
                  <a:pt x="10548" y="95129"/>
                </a:cubicBezTo>
                <a:cubicBezTo>
                  <a:pt x="22241" y="100013"/>
                  <a:pt x="37477" y="102691"/>
                  <a:pt x="53578" y="102691"/>
                </a:cubicBezTo>
                <a:cubicBezTo>
                  <a:pt x="69679" y="102691"/>
                  <a:pt x="84916" y="99985"/>
                  <a:pt x="96608" y="95129"/>
                </a:cubicBezTo>
                <a:cubicBezTo>
                  <a:pt x="100292" y="93594"/>
                  <a:pt x="103891" y="91725"/>
                  <a:pt x="107156" y="89464"/>
                </a:cubicBezTo>
                <a:lnTo>
                  <a:pt x="107156" y="93762"/>
                </a:lnTo>
                <a:close/>
                <a:moveTo>
                  <a:pt x="107156" y="116253"/>
                </a:moveTo>
                <a:lnTo>
                  <a:pt x="107156" y="120551"/>
                </a:lnTo>
                <a:cubicBezTo>
                  <a:pt x="107156" y="132885"/>
                  <a:pt x="83158" y="142875"/>
                  <a:pt x="53578" y="142875"/>
                </a:cubicBezTo>
                <a:cubicBezTo>
                  <a:pt x="23999" y="142875"/>
                  <a:pt x="0" y="132885"/>
                  <a:pt x="0" y="120551"/>
                </a:cubicBezTo>
                <a:lnTo>
                  <a:pt x="0" y="116253"/>
                </a:lnTo>
                <a:cubicBezTo>
                  <a:pt x="3237" y="118514"/>
                  <a:pt x="6837" y="120355"/>
                  <a:pt x="10548" y="121918"/>
                </a:cubicBezTo>
                <a:cubicBezTo>
                  <a:pt x="22241" y="126802"/>
                  <a:pt x="37477" y="129480"/>
                  <a:pt x="53578" y="129480"/>
                </a:cubicBezTo>
                <a:cubicBezTo>
                  <a:pt x="69679" y="129480"/>
                  <a:pt x="84916" y="126774"/>
                  <a:pt x="96608" y="121918"/>
                </a:cubicBezTo>
                <a:cubicBezTo>
                  <a:pt x="100292" y="120383"/>
                  <a:pt x="103891" y="118514"/>
                  <a:pt x="107156" y="1162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6795294" y="1949447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de Rentabilidad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5575" y="2266947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$12.5M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5419" y="252085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32875" y="2266947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$7.8M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2719" y="252085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5575" y="277485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$4.7M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25419" y="3028749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Rentabilidad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32875" y="2774850"/>
            <a:ext cx="2524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37.6%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52719" y="3028749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Margen Promedio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8100" y="3352602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57764" y="3551039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6788944" y="3511352"/>
            <a:ext cx="170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Rentabilidad por Producto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6850" y="3828852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Identificación de productos con mayor margen de contribución para priorizar esfuerzos comerciales y de marketing.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8100" y="4368602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566694" y="45670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26789"/>
                </a:moveTo>
                <a:cubicBezTo>
                  <a:pt x="142875" y="40798"/>
                  <a:pt x="126383" y="61699"/>
                  <a:pt x="119267" y="70042"/>
                </a:cubicBezTo>
                <a:cubicBezTo>
                  <a:pt x="118207" y="71270"/>
                  <a:pt x="116644" y="71744"/>
                  <a:pt x="115221" y="71438"/>
                </a:cubicBezTo>
                <a:lnTo>
                  <a:pt x="89297" y="71438"/>
                </a:lnTo>
                <a:cubicBezTo>
                  <a:pt x="84358" y="71438"/>
                  <a:pt x="80367" y="75428"/>
                  <a:pt x="80367" y="80367"/>
                </a:cubicBezTo>
                <a:cubicBezTo>
                  <a:pt x="80367" y="85306"/>
                  <a:pt x="84358" y="89297"/>
                  <a:pt x="89297" y="89297"/>
                </a:cubicBezTo>
                <a:lnTo>
                  <a:pt x="116086" y="89297"/>
                </a:lnTo>
                <a:cubicBezTo>
                  <a:pt x="130876" y="89297"/>
                  <a:pt x="142875" y="101296"/>
                  <a:pt x="142875" y="116086"/>
                </a:cubicBezTo>
                <a:cubicBezTo>
                  <a:pt x="142875" y="130876"/>
                  <a:pt x="130876" y="142875"/>
                  <a:pt x="116086" y="142875"/>
                </a:cubicBezTo>
                <a:lnTo>
                  <a:pt x="38956" y="142875"/>
                </a:lnTo>
                <a:cubicBezTo>
                  <a:pt x="41384" y="140112"/>
                  <a:pt x="44341" y="136568"/>
                  <a:pt x="47327" y="132606"/>
                </a:cubicBezTo>
                <a:cubicBezTo>
                  <a:pt x="49085" y="130262"/>
                  <a:pt x="50899" y="127695"/>
                  <a:pt x="52629" y="125016"/>
                </a:cubicBezTo>
                <a:lnTo>
                  <a:pt x="116086" y="125016"/>
                </a:lnTo>
                <a:cubicBezTo>
                  <a:pt x="121025" y="125016"/>
                  <a:pt x="125016" y="121025"/>
                  <a:pt x="125016" y="116086"/>
                </a:cubicBezTo>
                <a:cubicBezTo>
                  <a:pt x="125016" y="111147"/>
                  <a:pt x="121025" y="107156"/>
                  <a:pt x="116086" y="107156"/>
                </a:cubicBezTo>
                <a:lnTo>
                  <a:pt x="89297" y="107156"/>
                </a:lnTo>
                <a:cubicBezTo>
                  <a:pt x="74507" y="107156"/>
                  <a:pt x="62508" y="95157"/>
                  <a:pt x="62508" y="80367"/>
                </a:cubicBezTo>
                <a:cubicBezTo>
                  <a:pt x="62508" y="65577"/>
                  <a:pt x="74507" y="53578"/>
                  <a:pt x="89297" y="53578"/>
                </a:cubicBezTo>
                <a:lnTo>
                  <a:pt x="100403" y="53578"/>
                </a:lnTo>
                <a:cubicBezTo>
                  <a:pt x="94543" y="44788"/>
                  <a:pt x="89297" y="34686"/>
                  <a:pt x="89297" y="26789"/>
                </a:cubicBezTo>
                <a:cubicBezTo>
                  <a:pt x="89297" y="11999"/>
                  <a:pt x="101296" y="0"/>
                  <a:pt x="116086" y="0"/>
                </a:cubicBezTo>
                <a:cubicBezTo>
                  <a:pt x="130876" y="0"/>
                  <a:pt x="142875" y="11999"/>
                  <a:pt x="142875" y="26789"/>
                </a:cubicBezTo>
                <a:close/>
                <a:moveTo>
                  <a:pt x="32677" y="136485"/>
                </a:moveTo>
                <a:cubicBezTo>
                  <a:pt x="31617" y="137685"/>
                  <a:pt x="30668" y="138745"/>
                  <a:pt x="29859" y="139638"/>
                </a:cubicBezTo>
                <a:lnTo>
                  <a:pt x="29356" y="140196"/>
                </a:lnTo>
                <a:lnTo>
                  <a:pt x="29301" y="140140"/>
                </a:lnTo>
                <a:cubicBezTo>
                  <a:pt x="27626" y="141424"/>
                  <a:pt x="25226" y="141256"/>
                  <a:pt x="23719" y="139638"/>
                </a:cubicBezTo>
                <a:cubicBezTo>
                  <a:pt x="16687" y="131992"/>
                  <a:pt x="0" y="112319"/>
                  <a:pt x="0" y="98227"/>
                </a:cubicBezTo>
                <a:cubicBezTo>
                  <a:pt x="0" y="83437"/>
                  <a:pt x="11999" y="71438"/>
                  <a:pt x="26789" y="71438"/>
                </a:cubicBezTo>
                <a:cubicBezTo>
                  <a:pt x="41579" y="71438"/>
                  <a:pt x="53578" y="83437"/>
                  <a:pt x="53578" y="98227"/>
                </a:cubicBezTo>
                <a:cubicBezTo>
                  <a:pt x="53578" y="106598"/>
                  <a:pt x="47690" y="116923"/>
                  <a:pt x="41439" y="125546"/>
                </a:cubicBezTo>
                <a:cubicBezTo>
                  <a:pt x="38453" y="129648"/>
                  <a:pt x="35384" y="133359"/>
                  <a:pt x="32845" y="136289"/>
                </a:cubicBezTo>
                <a:lnTo>
                  <a:pt x="32677" y="136485"/>
                </a:lnTo>
                <a:close/>
                <a:moveTo>
                  <a:pt x="35719" y="98227"/>
                </a:moveTo>
                <a:cubicBezTo>
                  <a:pt x="35719" y="93298"/>
                  <a:pt x="31717" y="89297"/>
                  <a:pt x="26789" y="89297"/>
                </a:cubicBezTo>
                <a:cubicBezTo>
                  <a:pt x="21861" y="89297"/>
                  <a:pt x="17859" y="93298"/>
                  <a:pt x="17859" y="98227"/>
                </a:cubicBezTo>
                <a:cubicBezTo>
                  <a:pt x="17859" y="103155"/>
                  <a:pt x="21861" y="107156"/>
                  <a:pt x="26789" y="107156"/>
                </a:cubicBezTo>
                <a:cubicBezTo>
                  <a:pt x="31717" y="107156"/>
                  <a:pt x="35719" y="103155"/>
                  <a:pt x="35719" y="98227"/>
                </a:cubicBezTo>
                <a:close/>
                <a:moveTo>
                  <a:pt x="116086" y="35719"/>
                </a:moveTo>
                <a:cubicBezTo>
                  <a:pt x="121014" y="35719"/>
                  <a:pt x="125016" y="31717"/>
                  <a:pt x="125016" y="26789"/>
                </a:cubicBezTo>
                <a:cubicBezTo>
                  <a:pt x="125016" y="21861"/>
                  <a:pt x="121014" y="17859"/>
                  <a:pt x="116086" y="17859"/>
                </a:cubicBezTo>
                <a:cubicBezTo>
                  <a:pt x="111158" y="17859"/>
                  <a:pt x="107156" y="21861"/>
                  <a:pt x="107156" y="26789"/>
                </a:cubicBezTo>
                <a:cubicBezTo>
                  <a:pt x="107156" y="31717"/>
                  <a:pt x="111158" y="35719"/>
                  <a:pt x="116086" y="3571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8" name="Text 56"/>
          <p:cNvSpPr/>
          <p:nvPr/>
        </p:nvSpPr>
        <p:spPr>
          <a:xfrm>
            <a:off x="6788944" y="4527352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Rentabilidad por Canal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46850" y="4844852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eficiencia de canales considerando costos asociados y márgenes reales generados.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88100" y="5384602"/>
            <a:ext cx="5286375" cy="1016000"/>
          </a:xfrm>
          <a:custGeom>
            <a:avLst/>
            <a:gdLst/>
            <a:ahLst/>
            <a:cxnLst/>
            <a:rect l="l" t="t" r="r" b="b"/>
            <a:pathLst>
              <a:path w="5286375" h="1016000">
                <a:moveTo>
                  <a:pt x="63500" y="0"/>
                </a:moveTo>
                <a:lnTo>
                  <a:pt x="5222875" y="0"/>
                </a:lnTo>
                <a:cubicBezTo>
                  <a:pt x="5257922" y="0"/>
                  <a:pt x="5286375" y="28453"/>
                  <a:pt x="5286375" y="63500"/>
                </a:cubicBezTo>
                <a:lnTo>
                  <a:pt x="5286375" y="952500"/>
                </a:lnTo>
                <a:cubicBezTo>
                  <a:pt x="5286375" y="987547"/>
                  <a:pt x="5257922" y="1016000"/>
                  <a:pt x="522287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566694" y="55830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8390" y="63764"/>
                </a:moveTo>
                <a:cubicBezTo>
                  <a:pt x="22101" y="37812"/>
                  <a:pt x="44453" y="17859"/>
                  <a:pt x="71438" y="17859"/>
                </a:cubicBezTo>
                <a:cubicBezTo>
                  <a:pt x="86227" y="17859"/>
                  <a:pt x="99622" y="23859"/>
                  <a:pt x="109333" y="33542"/>
                </a:cubicBezTo>
                <a:cubicBezTo>
                  <a:pt x="109389" y="33598"/>
                  <a:pt x="109444" y="33654"/>
                  <a:pt x="109500" y="33710"/>
                </a:cubicBezTo>
                <a:lnTo>
                  <a:pt x="111621" y="35719"/>
                </a:lnTo>
                <a:lnTo>
                  <a:pt x="98254" y="35719"/>
                </a:lnTo>
                <a:cubicBezTo>
                  <a:pt x="93315" y="35719"/>
                  <a:pt x="89325" y="39709"/>
                  <a:pt x="89325" y="44648"/>
                </a:cubicBezTo>
                <a:cubicBezTo>
                  <a:pt x="89325" y="49588"/>
                  <a:pt x="93315" y="53578"/>
                  <a:pt x="98254" y="53578"/>
                </a:cubicBezTo>
                <a:lnTo>
                  <a:pt x="133973" y="53578"/>
                </a:lnTo>
                <a:cubicBezTo>
                  <a:pt x="138912" y="53578"/>
                  <a:pt x="142903" y="49588"/>
                  <a:pt x="142903" y="44648"/>
                </a:cubicBezTo>
                <a:lnTo>
                  <a:pt x="142903" y="8930"/>
                </a:lnTo>
                <a:cubicBezTo>
                  <a:pt x="142903" y="3990"/>
                  <a:pt x="138912" y="0"/>
                  <a:pt x="133973" y="0"/>
                </a:cubicBezTo>
                <a:cubicBezTo>
                  <a:pt x="129034" y="0"/>
                  <a:pt x="125044" y="3990"/>
                  <a:pt x="125044" y="8930"/>
                </a:cubicBezTo>
                <a:lnTo>
                  <a:pt x="125044" y="23831"/>
                </a:lnTo>
                <a:lnTo>
                  <a:pt x="121890" y="20845"/>
                </a:lnTo>
                <a:cubicBezTo>
                  <a:pt x="108970" y="7981"/>
                  <a:pt x="91111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lose/>
                <a:moveTo>
                  <a:pt x="142149" y="81623"/>
                </a:moveTo>
                <a:cubicBezTo>
                  <a:pt x="142847" y="76740"/>
                  <a:pt x="139443" y="72219"/>
                  <a:pt x="134587" y="71521"/>
                </a:cubicBezTo>
                <a:cubicBezTo>
                  <a:pt x="129732" y="70824"/>
                  <a:pt x="125183" y="74228"/>
                  <a:pt x="124485" y="79084"/>
                </a:cubicBezTo>
                <a:cubicBezTo>
                  <a:pt x="120774" y="105035"/>
                  <a:pt x="98422" y="124988"/>
                  <a:pt x="71438" y="124988"/>
                </a:cubicBezTo>
                <a:cubicBezTo>
                  <a:pt x="56648" y="124988"/>
                  <a:pt x="43253" y="118988"/>
                  <a:pt x="33542" y="109305"/>
                </a:cubicBezTo>
                <a:cubicBezTo>
                  <a:pt x="33486" y="109249"/>
                  <a:pt x="33431" y="109193"/>
                  <a:pt x="33375" y="109138"/>
                </a:cubicBezTo>
                <a:lnTo>
                  <a:pt x="31254" y="107128"/>
                </a:lnTo>
                <a:lnTo>
                  <a:pt x="44621" y="107128"/>
                </a:lnTo>
                <a:cubicBezTo>
                  <a:pt x="49560" y="107128"/>
                  <a:pt x="53550" y="103138"/>
                  <a:pt x="53550" y="98199"/>
                </a:cubicBezTo>
                <a:cubicBezTo>
                  <a:pt x="53550" y="93259"/>
                  <a:pt x="49560" y="89269"/>
                  <a:pt x="44621" y="89269"/>
                </a:cubicBezTo>
                <a:lnTo>
                  <a:pt x="8930" y="89297"/>
                </a:lnTo>
                <a:cubicBezTo>
                  <a:pt x="6558" y="89297"/>
                  <a:pt x="4270" y="90246"/>
                  <a:pt x="2595" y="91948"/>
                </a:cubicBezTo>
                <a:cubicBezTo>
                  <a:pt x="921" y="93650"/>
                  <a:pt x="-28" y="95910"/>
                  <a:pt x="0" y="98310"/>
                </a:cubicBezTo>
                <a:lnTo>
                  <a:pt x="279" y="133750"/>
                </a:lnTo>
                <a:cubicBezTo>
                  <a:pt x="307" y="138689"/>
                  <a:pt x="4353" y="142652"/>
                  <a:pt x="9292" y="142596"/>
                </a:cubicBezTo>
                <a:cubicBezTo>
                  <a:pt x="14232" y="142540"/>
                  <a:pt x="18194" y="138522"/>
                  <a:pt x="18138" y="133583"/>
                </a:cubicBezTo>
                <a:lnTo>
                  <a:pt x="18027" y="119211"/>
                </a:lnTo>
                <a:lnTo>
                  <a:pt x="21013" y="122030"/>
                </a:lnTo>
                <a:cubicBezTo>
                  <a:pt x="33933" y="134894"/>
                  <a:pt x="51764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6788944" y="5543352"/>
            <a:ext cx="131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Evolución Temporal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46850" y="5860852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Seguimiento de rentabilidad mensual con capacidad de análisis de tendencias y variaciones.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91275" y="6403777"/>
            <a:ext cx="5284788" cy="1022350"/>
          </a:xfrm>
          <a:custGeom>
            <a:avLst/>
            <a:gdLst/>
            <a:ahLst/>
            <a:cxnLst/>
            <a:rect l="l" t="t" r="r" b="b"/>
            <a:pathLst>
              <a:path w="5284788" h="1022350">
                <a:moveTo>
                  <a:pt x="63498" y="0"/>
                </a:moveTo>
                <a:lnTo>
                  <a:pt x="5221289" y="0"/>
                </a:lnTo>
                <a:cubicBezTo>
                  <a:pt x="5256358" y="0"/>
                  <a:pt x="5284788" y="28429"/>
                  <a:pt x="5284788" y="63498"/>
                </a:cubicBezTo>
                <a:lnTo>
                  <a:pt x="5284788" y="958852"/>
                </a:lnTo>
                <a:cubicBezTo>
                  <a:pt x="5284788" y="993921"/>
                  <a:pt x="5256358" y="1022350"/>
                  <a:pt x="5221289" y="1022350"/>
                </a:cubicBezTo>
                <a:lnTo>
                  <a:pt x="63498" y="1022350"/>
                </a:lnTo>
                <a:cubicBezTo>
                  <a:pt x="28429" y="1022350"/>
                  <a:pt x="0" y="993921"/>
                  <a:pt x="0" y="958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73044" y="66053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Text 64"/>
          <p:cNvSpPr/>
          <p:nvPr/>
        </p:nvSpPr>
        <p:spPr>
          <a:xfrm>
            <a:off x="6795294" y="6565700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Predictivo Integrado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553200" y="6883200"/>
            <a:ext cx="5024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Estimación de rentabilidad futura según escenarios simulados, permitiendo proyecciones financieras.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116" y="440144"/>
            <a:ext cx="422539" cy="422539"/>
          </a:xfrm>
          <a:custGeom>
            <a:avLst/>
            <a:gdLst/>
            <a:ahLst/>
            <a:cxnLst/>
            <a:rect l="l" t="t" r="r" b="b"/>
            <a:pathLst>
              <a:path w="422539" h="422539">
                <a:moveTo>
                  <a:pt x="70425" y="0"/>
                </a:moveTo>
                <a:lnTo>
                  <a:pt x="352114" y="0"/>
                </a:lnTo>
                <a:cubicBezTo>
                  <a:pt x="391008" y="0"/>
                  <a:pt x="422539" y="31530"/>
                  <a:pt x="422539" y="70425"/>
                </a:cubicBezTo>
                <a:lnTo>
                  <a:pt x="422539" y="352114"/>
                </a:lnTo>
                <a:cubicBezTo>
                  <a:pt x="422539" y="391008"/>
                  <a:pt x="391008" y="422539"/>
                  <a:pt x="352114" y="422539"/>
                </a:cubicBezTo>
                <a:lnTo>
                  <a:pt x="70425" y="422539"/>
                </a:lnTo>
                <a:cubicBezTo>
                  <a:pt x="31530" y="422539"/>
                  <a:pt x="0" y="391008"/>
                  <a:pt x="0" y="352114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497363" y="563385"/>
            <a:ext cx="132043" cy="176058"/>
          </a:xfrm>
          <a:custGeom>
            <a:avLst/>
            <a:gdLst/>
            <a:ahLst/>
            <a:cxnLst/>
            <a:rect l="l" t="t" r="r" b="b"/>
            <a:pathLst>
              <a:path w="132043" h="176058">
                <a:moveTo>
                  <a:pt x="100717" y="132043"/>
                </a:moveTo>
                <a:cubicBezTo>
                  <a:pt x="103228" y="124375"/>
                  <a:pt x="108248" y="117429"/>
                  <a:pt x="113922" y="111446"/>
                </a:cubicBezTo>
                <a:cubicBezTo>
                  <a:pt x="125166" y="99617"/>
                  <a:pt x="132043" y="83627"/>
                  <a:pt x="132043" y="66022"/>
                </a:cubicBezTo>
                <a:cubicBezTo>
                  <a:pt x="132043" y="29572"/>
                  <a:pt x="102471" y="0"/>
                  <a:pt x="66022" y="0"/>
                </a:cubicBezTo>
                <a:cubicBezTo>
                  <a:pt x="29572" y="0"/>
                  <a:pt x="0" y="29572"/>
                  <a:pt x="0" y="66022"/>
                </a:cubicBezTo>
                <a:cubicBezTo>
                  <a:pt x="0" y="83627"/>
                  <a:pt x="6877" y="99617"/>
                  <a:pt x="18122" y="111446"/>
                </a:cubicBezTo>
                <a:cubicBezTo>
                  <a:pt x="23795" y="117429"/>
                  <a:pt x="28850" y="124375"/>
                  <a:pt x="31326" y="132043"/>
                </a:cubicBezTo>
                <a:lnTo>
                  <a:pt x="100683" y="132043"/>
                </a:lnTo>
                <a:close/>
                <a:moveTo>
                  <a:pt x="99032" y="148549"/>
                </a:moveTo>
                <a:lnTo>
                  <a:pt x="33011" y="148549"/>
                </a:lnTo>
                <a:lnTo>
                  <a:pt x="33011" y="154051"/>
                </a:lnTo>
                <a:cubicBezTo>
                  <a:pt x="33011" y="169249"/>
                  <a:pt x="45321" y="181560"/>
                  <a:pt x="60520" y="181560"/>
                </a:cubicBezTo>
                <a:lnTo>
                  <a:pt x="71523" y="181560"/>
                </a:lnTo>
                <a:cubicBezTo>
                  <a:pt x="86722" y="181560"/>
                  <a:pt x="99032" y="169249"/>
                  <a:pt x="99032" y="154051"/>
                </a:cubicBezTo>
                <a:lnTo>
                  <a:pt x="99032" y="148549"/>
                </a:lnTo>
                <a:close/>
                <a:moveTo>
                  <a:pt x="63271" y="38513"/>
                </a:moveTo>
                <a:cubicBezTo>
                  <a:pt x="49585" y="38513"/>
                  <a:pt x="38513" y="49585"/>
                  <a:pt x="38513" y="63271"/>
                </a:cubicBezTo>
                <a:cubicBezTo>
                  <a:pt x="38513" y="67844"/>
                  <a:pt x="34833" y="71523"/>
                  <a:pt x="30260" y="71523"/>
                </a:cubicBezTo>
                <a:cubicBezTo>
                  <a:pt x="25687" y="71523"/>
                  <a:pt x="22007" y="67844"/>
                  <a:pt x="22007" y="63271"/>
                </a:cubicBezTo>
                <a:cubicBezTo>
                  <a:pt x="22007" y="40473"/>
                  <a:pt x="40473" y="22007"/>
                  <a:pt x="63271" y="22007"/>
                </a:cubicBezTo>
                <a:cubicBezTo>
                  <a:pt x="67844" y="22007"/>
                  <a:pt x="71523" y="25687"/>
                  <a:pt x="71523" y="30260"/>
                </a:cubicBezTo>
                <a:cubicBezTo>
                  <a:pt x="71523" y="34833"/>
                  <a:pt x="67844" y="38513"/>
                  <a:pt x="63271" y="38513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880289" y="352116"/>
            <a:ext cx="3459535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Hallazgos Clave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0289" y="704231"/>
            <a:ext cx="338030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 Ingreso al Margen: Insights Transformadores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637" y="1165502"/>
            <a:ext cx="5632088" cy="1961283"/>
          </a:xfrm>
          <a:custGeom>
            <a:avLst/>
            <a:gdLst/>
            <a:ahLst/>
            <a:cxnLst/>
            <a:rect l="l" t="t" r="r" b="b"/>
            <a:pathLst>
              <a:path w="5632088" h="1961283">
                <a:moveTo>
                  <a:pt x="105635" y="0"/>
                </a:moveTo>
                <a:lnTo>
                  <a:pt x="5526453" y="0"/>
                </a:lnTo>
                <a:cubicBezTo>
                  <a:pt x="5584794" y="0"/>
                  <a:pt x="5632088" y="47294"/>
                  <a:pt x="5632088" y="105635"/>
                </a:cubicBezTo>
                <a:lnTo>
                  <a:pt x="5632088" y="1855649"/>
                </a:lnTo>
                <a:cubicBezTo>
                  <a:pt x="5632088" y="1913989"/>
                  <a:pt x="5584794" y="1961283"/>
                  <a:pt x="5526453" y="1961283"/>
                </a:cubicBezTo>
                <a:lnTo>
                  <a:pt x="105635" y="1961283"/>
                </a:lnTo>
                <a:cubicBezTo>
                  <a:pt x="47294" y="1961283"/>
                  <a:pt x="0" y="1913989"/>
                  <a:pt x="0" y="1855649"/>
                </a:cubicBezTo>
                <a:lnTo>
                  <a:pt x="0" y="105635"/>
                </a:lnTo>
                <a:cubicBezTo>
                  <a:pt x="0" y="47333"/>
                  <a:pt x="47333" y="0"/>
                  <a:pt x="105635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0427" y="1380295"/>
            <a:ext cx="492962" cy="492962"/>
          </a:xfrm>
          <a:custGeom>
            <a:avLst/>
            <a:gdLst/>
            <a:ahLst/>
            <a:cxnLst/>
            <a:rect l="l" t="t" r="r" b="b"/>
            <a:pathLst>
              <a:path w="492962" h="492962">
                <a:moveTo>
                  <a:pt x="105637" y="0"/>
                </a:moveTo>
                <a:lnTo>
                  <a:pt x="387325" y="0"/>
                </a:lnTo>
                <a:cubicBezTo>
                  <a:pt x="445667" y="0"/>
                  <a:pt x="492962" y="47295"/>
                  <a:pt x="492962" y="105637"/>
                </a:cubicBezTo>
                <a:lnTo>
                  <a:pt x="492962" y="387325"/>
                </a:lnTo>
                <a:cubicBezTo>
                  <a:pt x="492962" y="445667"/>
                  <a:pt x="445667" y="492962"/>
                  <a:pt x="387325" y="492962"/>
                </a:cubicBezTo>
                <a:lnTo>
                  <a:pt x="105637" y="492962"/>
                </a:lnTo>
                <a:cubicBezTo>
                  <a:pt x="47295" y="492962"/>
                  <a:pt x="0" y="445667"/>
                  <a:pt x="0" y="387325"/>
                </a:cubicBezTo>
                <a:lnTo>
                  <a:pt x="0" y="105637"/>
                </a:lnTo>
                <a:cubicBezTo>
                  <a:pt x="0" y="47295"/>
                  <a:pt x="47295" y="0"/>
                  <a:pt x="1056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517610" y="1380295"/>
            <a:ext cx="598596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9447" y="1380295"/>
            <a:ext cx="4639122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Ventas ≠ Rentabilidad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9447" y="1767511"/>
            <a:ext cx="4603910" cy="114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Productos con alto volumen de ventas no necesariamente generan mayor margen.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 identificaron casos donde productos de alto precio y bajo volumen superan en rentabilidad a los de alto volumen y bajo precio, evidenciando la necesidad de analizar el mix de productos más allá de las ventas brutas.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4606" y="1165502"/>
            <a:ext cx="5632088" cy="1961283"/>
          </a:xfrm>
          <a:custGeom>
            <a:avLst/>
            <a:gdLst/>
            <a:ahLst/>
            <a:cxnLst/>
            <a:rect l="l" t="t" r="r" b="b"/>
            <a:pathLst>
              <a:path w="5632088" h="1961283">
                <a:moveTo>
                  <a:pt x="105635" y="0"/>
                </a:moveTo>
                <a:lnTo>
                  <a:pt x="5526453" y="0"/>
                </a:lnTo>
                <a:cubicBezTo>
                  <a:pt x="5584794" y="0"/>
                  <a:pt x="5632088" y="47294"/>
                  <a:pt x="5632088" y="105635"/>
                </a:cubicBezTo>
                <a:lnTo>
                  <a:pt x="5632088" y="1855649"/>
                </a:lnTo>
                <a:cubicBezTo>
                  <a:pt x="5632088" y="1913989"/>
                  <a:pt x="5584794" y="1961283"/>
                  <a:pt x="5526453" y="1961283"/>
                </a:cubicBezTo>
                <a:lnTo>
                  <a:pt x="105635" y="1961283"/>
                </a:lnTo>
                <a:cubicBezTo>
                  <a:pt x="47294" y="1961283"/>
                  <a:pt x="0" y="1913989"/>
                  <a:pt x="0" y="1855649"/>
                </a:cubicBezTo>
                <a:lnTo>
                  <a:pt x="0" y="105635"/>
                </a:lnTo>
                <a:cubicBezTo>
                  <a:pt x="0" y="47333"/>
                  <a:pt x="47333" y="0"/>
                  <a:pt x="105635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396" y="1380295"/>
            <a:ext cx="492962" cy="492962"/>
          </a:xfrm>
          <a:custGeom>
            <a:avLst/>
            <a:gdLst/>
            <a:ahLst/>
            <a:cxnLst/>
            <a:rect l="l" t="t" r="r" b="b"/>
            <a:pathLst>
              <a:path w="492962" h="492962">
                <a:moveTo>
                  <a:pt x="105637" y="0"/>
                </a:moveTo>
                <a:lnTo>
                  <a:pt x="387325" y="0"/>
                </a:lnTo>
                <a:cubicBezTo>
                  <a:pt x="445667" y="0"/>
                  <a:pt x="492962" y="47295"/>
                  <a:pt x="492962" y="105637"/>
                </a:cubicBezTo>
                <a:lnTo>
                  <a:pt x="492962" y="387325"/>
                </a:lnTo>
                <a:cubicBezTo>
                  <a:pt x="492962" y="445667"/>
                  <a:pt x="445667" y="492962"/>
                  <a:pt x="387325" y="492962"/>
                </a:cubicBezTo>
                <a:lnTo>
                  <a:pt x="105637" y="492962"/>
                </a:lnTo>
                <a:cubicBezTo>
                  <a:pt x="47295" y="492962"/>
                  <a:pt x="0" y="445667"/>
                  <a:pt x="0" y="387325"/>
                </a:cubicBezTo>
                <a:lnTo>
                  <a:pt x="0" y="105637"/>
                </a:lnTo>
                <a:cubicBezTo>
                  <a:pt x="0" y="47295"/>
                  <a:pt x="47295" y="0"/>
                  <a:pt x="1056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6366579" y="1380295"/>
            <a:ext cx="598596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8415" y="1380295"/>
            <a:ext cx="4639122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Canales Diferenciados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8415" y="1767511"/>
            <a:ext cx="4603910" cy="91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Ciertos canales generan mayor rentabilidad relativa al costo.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análisis por canal reveló diferencias significativas en márgenes, permitiendo redirigir recursos hacia canales más eficientes y optimizar la estrategia de distribución multicanal.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5637" y="3344987"/>
            <a:ext cx="3677847" cy="1750014"/>
          </a:xfrm>
          <a:custGeom>
            <a:avLst/>
            <a:gdLst/>
            <a:ahLst/>
            <a:cxnLst/>
            <a:rect l="l" t="t" r="r" b="b"/>
            <a:pathLst>
              <a:path w="3677847" h="1750014">
                <a:moveTo>
                  <a:pt x="105631" y="0"/>
                </a:moveTo>
                <a:lnTo>
                  <a:pt x="3572216" y="0"/>
                </a:lnTo>
                <a:cubicBezTo>
                  <a:pt x="3630554" y="0"/>
                  <a:pt x="3677847" y="47293"/>
                  <a:pt x="3677847" y="105631"/>
                </a:cubicBezTo>
                <a:lnTo>
                  <a:pt x="3677847" y="1644383"/>
                </a:lnTo>
                <a:cubicBezTo>
                  <a:pt x="3677847" y="1702722"/>
                  <a:pt x="3630554" y="1750014"/>
                  <a:pt x="3572216" y="1750014"/>
                </a:cubicBezTo>
                <a:lnTo>
                  <a:pt x="105631" y="1750014"/>
                </a:lnTo>
                <a:cubicBezTo>
                  <a:pt x="47293" y="1750014"/>
                  <a:pt x="0" y="1702722"/>
                  <a:pt x="0" y="1644383"/>
                </a:cubicBezTo>
                <a:lnTo>
                  <a:pt x="0" y="105631"/>
                </a:lnTo>
                <a:cubicBezTo>
                  <a:pt x="0" y="47332"/>
                  <a:pt x="47332" y="0"/>
                  <a:pt x="105631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427" y="3559780"/>
            <a:ext cx="492962" cy="492962"/>
          </a:xfrm>
          <a:custGeom>
            <a:avLst/>
            <a:gdLst/>
            <a:ahLst/>
            <a:cxnLst/>
            <a:rect l="l" t="t" r="r" b="b"/>
            <a:pathLst>
              <a:path w="492962" h="492962">
                <a:moveTo>
                  <a:pt x="105637" y="0"/>
                </a:moveTo>
                <a:lnTo>
                  <a:pt x="387325" y="0"/>
                </a:lnTo>
                <a:cubicBezTo>
                  <a:pt x="445667" y="0"/>
                  <a:pt x="492962" y="47295"/>
                  <a:pt x="492962" y="105637"/>
                </a:cubicBezTo>
                <a:lnTo>
                  <a:pt x="492962" y="387325"/>
                </a:lnTo>
                <a:cubicBezTo>
                  <a:pt x="492962" y="445667"/>
                  <a:pt x="445667" y="492962"/>
                  <a:pt x="387325" y="492962"/>
                </a:cubicBezTo>
                <a:lnTo>
                  <a:pt x="105637" y="492962"/>
                </a:lnTo>
                <a:cubicBezTo>
                  <a:pt x="47295" y="492962"/>
                  <a:pt x="0" y="445667"/>
                  <a:pt x="0" y="387325"/>
                </a:cubicBezTo>
                <a:lnTo>
                  <a:pt x="0" y="105637"/>
                </a:lnTo>
                <a:cubicBezTo>
                  <a:pt x="0" y="47295"/>
                  <a:pt x="47295" y="0"/>
                  <a:pt x="1056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517610" y="3559780"/>
            <a:ext cx="598596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9447" y="3559780"/>
            <a:ext cx="266727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Confiable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9447" y="3911895"/>
            <a:ext cx="2649669" cy="96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captura relaciones complejas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permite simular escenarios estratégicos con alta precisión (R² = 0.94), proporcionando base sólida para la toma de decisiones.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4986" y="3344987"/>
            <a:ext cx="3677847" cy="1750014"/>
          </a:xfrm>
          <a:custGeom>
            <a:avLst/>
            <a:gdLst/>
            <a:ahLst/>
            <a:cxnLst/>
            <a:rect l="l" t="t" r="r" b="b"/>
            <a:pathLst>
              <a:path w="3677847" h="1750014">
                <a:moveTo>
                  <a:pt x="105631" y="0"/>
                </a:moveTo>
                <a:lnTo>
                  <a:pt x="3572216" y="0"/>
                </a:lnTo>
                <a:cubicBezTo>
                  <a:pt x="3630554" y="0"/>
                  <a:pt x="3677847" y="47293"/>
                  <a:pt x="3677847" y="105631"/>
                </a:cubicBezTo>
                <a:lnTo>
                  <a:pt x="3677847" y="1644383"/>
                </a:lnTo>
                <a:cubicBezTo>
                  <a:pt x="3677847" y="1702722"/>
                  <a:pt x="3630554" y="1750014"/>
                  <a:pt x="3572216" y="1750014"/>
                </a:cubicBezTo>
                <a:lnTo>
                  <a:pt x="105631" y="1750014"/>
                </a:lnTo>
                <a:cubicBezTo>
                  <a:pt x="47293" y="1750014"/>
                  <a:pt x="0" y="1702722"/>
                  <a:pt x="0" y="1644383"/>
                </a:cubicBezTo>
                <a:lnTo>
                  <a:pt x="0" y="105631"/>
                </a:lnTo>
                <a:cubicBezTo>
                  <a:pt x="0" y="47332"/>
                  <a:pt x="47332" y="0"/>
                  <a:pt x="105631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9777" y="3559780"/>
            <a:ext cx="492962" cy="492962"/>
          </a:xfrm>
          <a:custGeom>
            <a:avLst/>
            <a:gdLst/>
            <a:ahLst/>
            <a:cxnLst/>
            <a:rect l="l" t="t" r="r" b="b"/>
            <a:pathLst>
              <a:path w="492962" h="492962">
                <a:moveTo>
                  <a:pt x="105637" y="0"/>
                </a:moveTo>
                <a:lnTo>
                  <a:pt x="387325" y="0"/>
                </a:lnTo>
                <a:cubicBezTo>
                  <a:pt x="445667" y="0"/>
                  <a:pt x="492962" y="47295"/>
                  <a:pt x="492962" y="105637"/>
                </a:cubicBezTo>
                <a:lnTo>
                  <a:pt x="492962" y="387325"/>
                </a:lnTo>
                <a:cubicBezTo>
                  <a:pt x="492962" y="445667"/>
                  <a:pt x="445667" y="492962"/>
                  <a:pt x="387325" y="492962"/>
                </a:cubicBezTo>
                <a:lnTo>
                  <a:pt x="105637" y="492962"/>
                </a:lnTo>
                <a:cubicBezTo>
                  <a:pt x="47295" y="492962"/>
                  <a:pt x="0" y="445667"/>
                  <a:pt x="0" y="387325"/>
                </a:cubicBezTo>
                <a:lnTo>
                  <a:pt x="0" y="105637"/>
                </a:lnTo>
                <a:cubicBezTo>
                  <a:pt x="0" y="47295"/>
                  <a:pt x="47295" y="0"/>
                  <a:pt x="1056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959" y="3559780"/>
            <a:ext cx="598596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796" y="3559780"/>
            <a:ext cx="266727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Decisión Basada en Datos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8796" y="3911895"/>
            <a:ext cx="2649669" cy="96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dashboards permiten tomar decisiones de pricing y mix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evidencia cuantitativa, eliminando suposiciones y reduciendo el riesgo de decisiones estratégicas.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4335" y="3344987"/>
            <a:ext cx="3677847" cy="1750014"/>
          </a:xfrm>
          <a:custGeom>
            <a:avLst/>
            <a:gdLst/>
            <a:ahLst/>
            <a:cxnLst/>
            <a:rect l="l" t="t" r="r" b="b"/>
            <a:pathLst>
              <a:path w="3677847" h="1750014">
                <a:moveTo>
                  <a:pt x="105631" y="0"/>
                </a:moveTo>
                <a:lnTo>
                  <a:pt x="3572216" y="0"/>
                </a:lnTo>
                <a:cubicBezTo>
                  <a:pt x="3630554" y="0"/>
                  <a:pt x="3677847" y="47293"/>
                  <a:pt x="3677847" y="105631"/>
                </a:cubicBezTo>
                <a:lnTo>
                  <a:pt x="3677847" y="1644383"/>
                </a:lnTo>
                <a:cubicBezTo>
                  <a:pt x="3677847" y="1702722"/>
                  <a:pt x="3630554" y="1750014"/>
                  <a:pt x="3572216" y="1750014"/>
                </a:cubicBezTo>
                <a:lnTo>
                  <a:pt x="105631" y="1750014"/>
                </a:lnTo>
                <a:cubicBezTo>
                  <a:pt x="47293" y="1750014"/>
                  <a:pt x="0" y="1702722"/>
                  <a:pt x="0" y="1644383"/>
                </a:cubicBezTo>
                <a:lnTo>
                  <a:pt x="0" y="105631"/>
                </a:lnTo>
                <a:cubicBezTo>
                  <a:pt x="0" y="47332"/>
                  <a:pt x="47332" y="0"/>
                  <a:pt x="10563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9126" y="3559780"/>
            <a:ext cx="492962" cy="492962"/>
          </a:xfrm>
          <a:custGeom>
            <a:avLst/>
            <a:gdLst/>
            <a:ahLst/>
            <a:cxnLst/>
            <a:rect l="l" t="t" r="r" b="b"/>
            <a:pathLst>
              <a:path w="492962" h="492962">
                <a:moveTo>
                  <a:pt x="105637" y="0"/>
                </a:moveTo>
                <a:lnTo>
                  <a:pt x="387325" y="0"/>
                </a:lnTo>
                <a:cubicBezTo>
                  <a:pt x="445667" y="0"/>
                  <a:pt x="492962" y="47295"/>
                  <a:pt x="492962" y="105637"/>
                </a:cubicBezTo>
                <a:lnTo>
                  <a:pt x="492962" y="387325"/>
                </a:lnTo>
                <a:cubicBezTo>
                  <a:pt x="492962" y="445667"/>
                  <a:pt x="445667" y="492962"/>
                  <a:pt x="387325" y="492962"/>
                </a:cubicBezTo>
                <a:lnTo>
                  <a:pt x="105637" y="492962"/>
                </a:lnTo>
                <a:cubicBezTo>
                  <a:pt x="47295" y="492962"/>
                  <a:pt x="0" y="445667"/>
                  <a:pt x="0" y="387325"/>
                </a:cubicBezTo>
                <a:lnTo>
                  <a:pt x="0" y="105637"/>
                </a:lnTo>
                <a:cubicBezTo>
                  <a:pt x="0" y="47295"/>
                  <a:pt x="47295" y="0"/>
                  <a:pt x="105637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8316309" y="3559780"/>
            <a:ext cx="598596" cy="4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4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38145" y="3559780"/>
            <a:ext cx="266727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Visualización Clara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38145" y="3911895"/>
            <a:ext cx="2649669" cy="77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 genera dashboards interactivos listos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presentación ejecutiva o LinkedIn, facilitando la comunicación de insights complejos a stakeholders clave.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9721" y="5309792"/>
            <a:ext cx="2720092" cy="1355645"/>
          </a:xfrm>
          <a:custGeom>
            <a:avLst/>
            <a:gdLst/>
            <a:ahLst/>
            <a:cxnLst/>
            <a:rect l="l" t="t" r="r" b="b"/>
            <a:pathLst>
              <a:path w="2720092" h="1355645">
                <a:moveTo>
                  <a:pt x="35212" y="0"/>
                </a:moveTo>
                <a:lnTo>
                  <a:pt x="2614461" y="0"/>
                </a:lnTo>
                <a:cubicBezTo>
                  <a:pt x="2672799" y="0"/>
                  <a:pt x="2720092" y="47293"/>
                  <a:pt x="2720092" y="105632"/>
                </a:cubicBezTo>
                <a:lnTo>
                  <a:pt x="2720092" y="1250013"/>
                </a:lnTo>
                <a:cubicBezTo>
                  <a:pt x="2720092" y="1308352"/>
                  <a:pt x="2672799" y="1355645"/>
                  <a:pt x="2614461" y="1355645"/>
                </a:cubicBez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9721" y="5309792"/>
            <a:ext cx="35212" cy="1355645"/>
          </a:xfrm>
          <a:custGeom>
            <a:avLst/>
            <a:gdLst/>
            <a:ahLst/>
            <a:cxnLst/>
            <a:rect l="l" t="t" r="r" b="b"/>
            <a:pathLst>
              <a:path w="35212" h="1355645">
                <a:moveTo>
                  <a:pt x="35212" y="0"/>
                </a:moveTo>
                <a:lnTo>
                  <a:pt x="35212" y="0"/>
                </a:lnTo>
                <a:lnTo>
                  <a:pt x="35212" y="1355645"/>
                </a:ln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Shape 31"/>
          <p:cNvSpPr/>
          <p:nvPr/>
        </p:nvSpPr>
        <p:spPr>
          <a:xfrm>
            <a:off x="625005" y="5538667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105635" y="211269"/>
                </a:moveTo>
                <a:cubicBezTo>
                  <a:pt x="163936" y="211269"/>
                  <a:pt x="211269" y="163936"/>
                  <a:pt x="211269" y="105635"/>
                </a:cubicBezTo>
                <a:cubicBezTo>
                  <a:pt x="211269" y="47333"/>
                  <a:pt x="163936" y="0"/>
                  <a:pt x="105635" y="0"/>
                </a:cubicBezTo>
                <a:cubicBezTo>
                  <a:pt x="47333" y="0"/>
                  <a:pt x="0" y="47333"/>
                  <a:pt x="0" y="105635"/>
                </a:cubicBezTo>
                <a:cubicBezTo>
                  <a:pt x="0" y="163936"/>
                  <a:pt x="47333" y="211269"/>
                  <a:pt x="105635" y="211269"/>
                </a:cubicBezTo>
                <a:close/>
                <a:moveTo>
                  <a:pt x="105635" y="56118"/>
                </a:moveTo>
                <a:cubicBezTo>
                  <a:pt x="111123" y="56118"/>
                  <a:pt x="115538" y="60534"/>
                  <a:pt x="115538" y="66022"/>
                </a:cubicBezTo>
                <a:lnTo>
                  <a:pt x="115538" y="112237"/>
                </a:lnTo>
                <a:cubicBezTo>
                  <a:pt x="115538" y="117725"/>
                  <a:pt x="111123" y="122140"/>
                  <a:pt x="105635" y="122140"/>
                </a:cubicBezTo>
                <a:cubicBezTo>
                  <a:pt x="100147" y="122140"/>
                  <a:pt x="95731" y="117725"/>
                  <a:pt x="95731" y="112237"/>
                </a:cubicBezTo>
                <a:lnTo>
                  <a:pt x="95731" y="66022"/>
                </a:lnTo>
                <a:cubicBezTo>
                  <a:pt x="95731" y="60534"/>
                  <a:pt x="100147" y="56118"/>
                  <a:pt x="105635" y="56118"/>
                </a:cubicBezTo>
                <a:close/>
                <a:moveTo>
                  <a:pt x="94617" y="145248"/>
                </a:moveTo>
                <a:cubicBezTo>
                  <a:pt x="94367" y="141158"/>
                  <a:pt x="96406" y="137267"/>
                  <a:pt x="99912" y="135147"/>
                </a:cubicBezTo>
                <a:cubicBezTo>
                  <a:pt x="103418" y="133026"/>
                  <a:pt x="107810" y="133026"/>
                  <a:pt x="111316" y="135147"/>
                </a:cubicBezTo>
                <a:cubicBezTo>
                  <a:pt x="114822" y="137267"/>
                  <a:pt x="116861" y="141158"/>
                  <a:pt x="116611" y="145248"/>
                </a:cubicBezTo>
                <a:cubicBezTo>
                  <a:pt x="116861" y="149337"/>
                  <a:pt x="114822" y="153228"/>
                  <a:pt x="111316" y="155349"/>
                </a:cubicBezTo>
                <a:cubicBezTo>
                  <a:pt x="107810" y="157469"/>
                  <a:pt x="103418" y="157469"/>
                  <a:pt x="99912" y="155349"/>
                </a:cubicBezTo>
                <a:cubicBezTo>
                  <a:pt x="96406" y="153228"/>
                  <a:pt x="94367" y="149337"/>
                  <a:pt x="94617" y="14524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968318" y="5521061"/>
            <a:ext cx="1047544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 Crítico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8596" y="5873177"/>
            <a:ext cx="2350371" cy="58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68% de productos con alto volumen tienen margen </a:t>
            </a:r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 debajo del promedio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85348" y="5309792"/>
            <a:ext cx="2720092" cy="1355645"/>
          </a:xfrm>
          <a:custGeom>
            <a:avLst/>
            <a:gdLst/>
            <a:ahLst/>
            <a:cxnLst/>
            <a:rect l="l" t="t" r="r" b="b"/>
            <a:pathLst>
              <a:path w="2720092" h="1355645">
                <a:moveTo>
                  <a:pt x="35212" y="0"/>
                </a:moveTo>
                <a:lnTo>
                  <a:pt x="2614461" y="0"/>
                </a:lnTo>
                <a:cubicBezTo>
                  <a:pt x="2672799" y="0"/>
                  <a:pt x="2720092" y="47293"/>
                  <a:pt x="2720092" y="105632"/>
                </a:cubicBezTo>
                <a:lnTo>
                  <a:pt x="2720092" y="1250013"/>
                </a:lnTo>
                <a:cubicBezTo>
                  <a:pt x="2720092" y="1308352"/>
                  <a:pt x="2672799" y="1355645"/>
                  <a:pt x="2614461" y="1355645"/>
                </a:cubicBez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285348" y="5309792"/>
            <a:ext cx="35212" cy="1355645"/>
          </a:xfrm>
          <a:custGeom>
            <a:avLst/>
            <a:gdLst/>
            <a:ahLst/>
            <a:cxnLst/>
            <a:rect l="l" t="t" r="r" b="b"/>
            <a:pathLst>
              <a:path w="35212" h="1355645">
                <a:moveTo>
                  <a:pt x="35212" y="0"/>
                </a:moveTo>
                <a:lnTo>
                  <a:pt x="35212" y="0"/>
                </a:lnTo>
                <a:lnTo>
                  <a:pt x="35212" y="1355645"/>
                </a:ln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Shape 36"/>
          <p:cNvSpPr/>
          <p:nvPr/>
        </p:nvSpPr>
        <p:spPr>
          <a:xfrm>
            <a:off x="3540632" y="5635499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26409" y="26409"/>
                </a:moveTo>
                <a:cubicBezTo>
                  <a:pt x="26409" y="19105"/>
                  <a:pt x="20508" y="13204"/>
                  <a:pt x="13204" y="13204"/>
                </a:cubicBezTo>
                <a:cubicBezTo>
                  <a:pt x="5901" y="13204"/>
                  <a:pt x="0" y="19105"/>
                  <a:pt x="0" y="26409"/>
                </a:cubicBezTo>
                <a:lnTo>
                  <a:pt x="0" y="165054"/>
                </a:lnTo>
                <a:cubicBezTo>
                  <a:pt x="0" y="183293"/>
                  <a:pt x="14772" y="198065"/>
                  <a:pt x="33011" y="198065"/>
                </a:cubicBezTo>
                <a:lnTo>
                  <a:pt x="198065" y="198065"/>
                </a:lnTo>
                <a:cubicBezTo>
                  <a:pt x="205369" y="198065"/>
                  <a:pt x="211269" y="192164"/>
                  <a:pt x="211269" y="184861"/>
                </a:cubicBezTo>
                <a:cubicBezTo>
                  <a:pt x="211269" y="177557"/>
                  <a:pt x="205369" y="171656"/>
                  <a:pt x="198065" y="171656"/>
                </a:cubicBezTo>
                <a:lnTo>
                  <a:pt x="33011" y="171656"/>
                </a:lnTo>
                <a:cubicBezTo>
                  <a:pt x="29380" y="171656"/>
                  <a:pt x="26409" y="168685"/>
                  <a:pt x="26409" y="165054"/>
                </a:cubicBezTo>
                <a:lnTo>
                  <a:pt x="26409" y="26409"/>
                </a:lnTo>
                <a:close/>
                <a:moveTo>
                  <a:pt x="194186" y="62143"/>
                </a:moveTo>
                <a:cubicBezTo>
                  <a:pt x="199344" y="56985"/>
                  <a:pt x="199344" y="48608"/>
                  <a:pt x="194186" y="43451"/>
                </a:cubicBezTo>
                <a:cubicBezTo>
                  <a:pt x="189028" y="38293"/>
                  <a:pt x="180652" y="38293"/>
                  <a:pt x="175494" y="43451"/>
                </a:cubicBezTo>
                <a:lnTo>
                  <a:pt x="132043" y="86942"/>
                </a:lnTo>
                <a:lnTo>
                  <a:pt x="108358" y="63298"/>
                </a:lnTo>
                <a:cubicBezTo>
                  <a:pt x="103200" y="58140"/>
                  <a:pt x="94824" y="58140"/>
                  <a:pt x="89666" y="63298"/>
                </a:cubicBezTo>
                <a:lnTo>
                  <a:pt x="50053" y="102911"/>
                </a:lnTo>
                <a:cubicBezTo>
                  <a:pt x="44895" y="108069"/>
                  <a:pt x="44895" y="116446"/>
                  <a:pt x="50053" y="121604"/>
                </a:cubicBezTo>
                <a:cubicBezTo>
                  <a:pt x="55211" y="126762"/>
                  <a:pt x="63587" y="126762"/>
                  <a:pt x="68745" y="121604"/>
                </a:cubicBezTo>
                <a:lnTo>
                  <a:pt x="99032" y="91316"/>
                </a:lnTo>
                <a:lnTo>
                  <a:pt x="122718" y="115001"/>
                </a:lnTo>
                <a:cubicBezTo>
                  <a:pt x="127876" y="120159"/>
                  <a:pt x="136252" y="120159"/>
                  <a:pt x="141410" y="115001"/>
                </a:cubicBezTo>
                <a:lnTo>
                  <a:pt x="194227" y="6218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9" name="Text 37"/>
          <p:cNvSpPr/>
          <p:nvPr/>
        </p:nvSpPr>
        <p:spPr>
          <a:xfrm>
            <a:off x="3883944" y="5617893"/>
            <a:ext cx="1258813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Diferencial Canal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14223" y="5970009"/>
            <a:ext cx="2350371" cy="387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Canal B2B genera </a:t>
            </a:r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 más margen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retail tradicional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1084" y="5309792"/>
            <a:ext cx="2720092" cy="1355645"/>
          </a:xfrm>
          <a:custGeom>
            <a:avLst/>
            <a:gdLst/>
            <a:ahLst/>
            <a:cxnLst/>
            <a:rect l="l" t="t" r="r" b="b"/>
            <a:pathLst>
              <a:path w="2720092" h="1355645">
                <a:moveTo>
                  <a:pt x="35212" y="0"/>
                </a:moveTo>
                <a:lnTo>
                  <a:pt x="2614461" y="0"/>
                </a:lnTo>
                <a:cubicBezTo>
                  <a:pt x="2672799" y="0"/>
                  <a:pt x="2720092" y="47293"/>
                  <a:pt x="2720092" y="105632"/>
                </a:cubicBezTo>
                <a:lnTo>
                  <a:pt x="2720092" y="1250013"/>
                </a:lnTo>
                <a:cubicBezTo>
                  <a:pt x="2720092" y="1308352"/>
                  <a:pt x="2672799" y="1355645"/>
                  <a:pt x="2614461" y="1355645"/>
                </a:cubicBez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1084" y="5309792"/>
            <a:ext cx="35212" cy="1355645"/>
          </a:xfrm>
          <a:custGeom>
            <a:avLst/>
            <a:gdLst/>
            <a:ahLst/>
            <a:cxnLst/>
            <a:rect l="l" t="t" r="r" b="b"/>
            <a:pathLst>
              <a:path w="35212" h="1355645">
                <a:moveTo>
                  <a:pt x="35212" y="0"/>
                </a:moveTo>
                <a:lnTo>
                  <a:pt x="35212" y="0"/>
                </a:lnTo>
                <a:lnTo>
                  <a:pt x="35212" y="1355645"/>
                </a:ln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56368" y="5635499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184861" y="105635"/>
                </a:moveTo>
                <a:cubicBezTo>
                  <a:pt x="184861" y="61909"/>
                  <a:pt x="149361" y="26409"/>
                  <a:pt x="105635" y="26409"/>
                </a:cubicBezTo>
                <a:cubicBezTo>
                  <a:pt x="61909" y="26409"/>
                  <a:pt x="26409" y="61909"/>
                  <a:pt x="26409" y="105635"/>
                </a:cubicBezTo>
                <a:cubicBezTo>
                  <a:pt x="26409" y="149361"/>
                  <a:pt x="61909" y="184861"/>
                  <a:pt x="105635" y="184861"/>
                </a:cubicBezTo>
                <a:cubicBezTo>
                  <a:pt x="149361" y="184861"/>
                  <a:pt x="184861" y="149361"/>
                  <a:pt x="184861" y="105635"/>
                </a:cubicBezTo>
                <a:close/>
                <a:moveTo>
                  <a:pt x="0" y="105635"/>
                </a:moveTo>
                <a:cubicBezTo>
                  <a:pt x="0" y="47333"/>
                  <a:pt x="47333" y="0"/>
                  <a:pt x="105635" y="0"/>
                </a:cubicBezTo>
                <a:cubicBezTo>
                  <a:pt x="163936" y="0"/>
                  <a:pt x="211269" y="47333"/>
                  <a:pt x="211269" y="105635"/>
                </a:cubicBezTo>
                <a:cubicBezTo>
                  <a:pt x="211269" y="163936"/>
                  <a:pt x="163936" y="211269"/>
                  <a:pt x="105635" y="211269"/>
                </a:cubicBezTo>
                <a:cubicBezTo>
                  <a:pt x="47333" y="211269"/>
                  <a:pt x="0" y="163936"/>
                  <a:pt x="0" y="105635"/>
                </a:cubicBezTo>
                <a:close/>
                <a:moveTo>
                  <a:pt x="105635" y="138645"/>
                </a:moveTo>
                <a:cubicBezTo>
                  <a:pt x="123854" y="138645"/>
                  <a:pt x="138645" y="123854"/>
                  <a:pt x="138645" y="105635"/>
                </a:cubicBezTo>
                <a:cubicBezTo>
                  <a:pt x="138645" y="87415"/>
                  <a:pt x="123854" y="72624"/>
                  <a:pt x="105635" y="72624"/>
                </a:cubicBezTo>
                <a:cubicBezTo>
                  <a:pt x="87415" y="72624"/>
                  <a:pt x="72624" y="87415"/>
                  <a:pt x="72624" y="105635"/>
                </a:cubicBezTo>
                <a:cubicBezTo>
                  <a:pt x="72624" y="123854"/>
                  <a:pt x="87415" y="138645"/>
                  <a:pt x="105635" y="138645"/>
                </a:cubicBezTo>
                <a:close/>
                <a:moveTo>
                  <a:pt x="105635" y="46215"/>
                </a:moveTo>
                <a:cubicBezTo>
                  <a:pt x="138429" y="46215"/>
                  <a:pt x="165054" y="72840"/>
                  <a:pt x="165054" y="105635"/>
                </a:cubicBezTo>
                <a:cubicBezTo>
                  <a:pt x="165054" y="138429"/>
                  <a:pt x="138429" y="165054"/>
                  <a:pt x="105635" y="165054"/>
                </a:cubicBezTo>
                <a:cubicBezTo>
                  <a:pt x="72840" y="165054"/>
                  <a:pt x="46215" y="138429"/>
                  <a:pt x="46215" y="105635"/>
                </a:cubicBezTo>
                <a:cubicBezTo>
                  <a:pt x="46215" y="72840"/>
                  <a:pt x="72840" y="46215"/>
                  <a:pt x="105635" y="46215"/>
                </a:cubicBezTo>
                <a:close/>
                <a:moveTo>
                  <a:pt x="92430" y="105635"/>
                </a:moveTo>
                <a:cubicBezTo>
                  <a:pt x="92430" y="98347"/>
                  <a:pt x="98347" y="92430"/>
                  <a:pt x="105635" y="92430"/>
                </a:cubicBezTo>
                <a:cubicBezTo>
                  <a:pt x="112922" y="92430"/>
                  <a:pt x="118839" y="98347"/>
                  <a:pt x="118839" y="105635"/>
                </a:cubicBezTo>
                <a:cubicBezTo>
                  <a:pt x="118839" y="112922"/>
                  <a:pt x="112922" y="118839"/>
                  <a:pt x="105635" y="118839"/>
                </a:cubicBezTo>
                <a:cubicBezTo>
                  <a:pt x="98347" y="118839"/>
                  <a:pt x="92430" y="112922"/>
                  <a:pt x="92430" y="10563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Text 42"/>
          <p:cNvSpPr/>
          <p:nvPr/>
        </p:nvSpPr>
        <p:spPr>
          <a:xfrm>
            <a:off x="6799681" y="5617893"/>
            <a:ext cx="1285222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Precisión Modelo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29960" y="5970009"/>
            <a:ext cx="2350371" cy="387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 predicción </a:t>
            </a:r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±12%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escenarios de validación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116821" y="5309792"/>
            <a:ext cx="2720092" cy="1355645"/>
          </a:xfrm>
          <a:custGeom>
            <a:avLst/>
            <a:gdLst/>
            <a:ahLst/>
            <a:cxnLst/>
            <a:rect l="l" t="t" r="r" b="b"/>
            <a:pathLst>
              <a:path w="2720092" h="1355645">
                <a:moveTo>
                  <a:pt x="35212" y="0"/>
                </a:moveTo>
                <a:lnTo>
                  <a:pt x="2614461" y="0"/>
                </a:lnTo>
                <a:cubicBezTo>
                  <a:pt x="2672799" y="0"/>
                  <a:pt x="2720092" y="47293"/>
                  <a:pt x="2720092" y="105632"/>
                </a:cubicBezTo>
                <a:lnTo>
                  <a:pt x="2720092" y="1250013"/>
                </a:lnTo>
                <a:cubicBezTo>
                  <a:pt x="2720092" y="1308352"/>
                  <a:pt x="2672799" y="1355645"/>
                  <a:pt x="2614461" y="1355645"/>
                </a:cubicBez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16821" y="5309792"/>
            <a:ext cx="35212" cy="1355645"/>
          </a:xfrm>
          <a:custGeom>
            <a:avLst/>
            <a:gdLst/>
            <a:ahLst/>
            <a:cxnLst/>
            <a:rect l="l" t="t" r="r" b="b"/>
            <a:pathLst>
              <a:path w="35212" h="1355645">
                <a:moveTo>
                  <a:pt x="35212" y="0"/>
                </a:moveTo>
                <a:lnTo>
                  <a:pt x="35212" y="0"/>
                </a:lnTo>
                <a:lnTo>
                  <a:pt x="35212" y="1355645"/>
                </a:lnTo>
                <a:lnTo>
                  <a:pt x="35212" y="1355645"/>
                </a:lnTo>
                <a:cubicBezTo>
                  <a:pt x="15765" y="1355645"/>
                  <a:pt x="0" y="1339880"/>
                  <a:pt x="0" y="1320433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8" name="Shape 46"/>
          <p:cNvSpPr/>
          <p:nvPr/>
        </p:nvSpPr>
        <p:spPr>
          <a:xfrm>
            <a:off x="9372105" y="5635499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105635" y="0"/>
                </a:moveTo>
                <a:cubicBezTo>
                  <a:pt x="163936" y="0"/>
                  <a:pt x="211269" y="47333"/>
                  <a:pt x="211269" y="105635"/>
                </a:cubicBezTo>
                <a:cubicBezTo>
                  <a:pt x="211269" y="163936"/>
                  <a:pt x="163936" y="211269"/>
                  <a:pt x="105635" y="211269"/>
                </a:cubicBezTo>
                <a:cubicBezTo>
                  <a:pt x="47333" y="211269"/>
                  <a:pt x="0" y="163936"/>
                  <a:pt x="0" y="105635"/>
                </a:cubicBezTo>
                <a:cubicBezTo>
                  <a:pt x="0" y="47333"/>
                  <a:pt x="47333" y="0"/>
                  <a:pt x="105635" y="0"/>
                </a:cubicBezTo>
                <a:close/>
                <a:moveTo>
                  <a:pt x="95731" y="49516"/>
                </a:moveTo>
                <a:lnTo>
                  <a:pt x="95731" y="105635"/>
                </a:lnTo>
                <a:cubicBezTo>
                  <a:pt x="95731" y="108936"/>
                  <a:pt x="97382" y="112031"/>
                  <a:pt x="100147" y="113887"/>
                </a:cubicBezTo>
                <a:lnTo>
                  <a:pt x="139760" y="140296"/>
                </a:lnTo>
                <a:cubicBezTo>
                  <a:pt x="144299" y="143350"/>
                  <a:pt x="150447" y="142112"/>
                  <a:pt x="153500" y="137531"/>
                </a:cubicBezTo>
                <a:cubicBezTo>
                  <a:pt x="156554" y="132951"/>
                  <a:pt x="155316" y="126844"/>
                  <a:pt x="150736" y="123791"/>
                </a:cubicBezTo>
                <a:lnTo>
                  <a:pt x="115538" y="100353"/>
                </a:lnTo>
                <a:lnTo>
                  <a:pt x="115538" y="49516"/>
                </a:lnTo>
                <a:cubicBezTo>
                  <a:pt x="115538" y="44028"/>
                  <a:pt x="111123" y="39613"/>
                  <a:pt x="105635" y="39613"/>
                </a:cubicBezTo>
                <a:cubicBezTo>
                  <a:pt x="100147" y="39613"/>
                  <a:pt x="95731" y="44028"/>
                  <a:pt x="95731" y="4951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Text 47"/>
          <p:cNvSpPr/>
          <p:nvPr/>
        </p:nvSpPr>
        <p:spPr>
          <a:xfrm>
            <a:off x="9715417" y="5617893"/>
            <a:ext cx="1179587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Time-to-Insight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45696" y="5970009"/>
            <a:ext cx="2350371" cy="387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del </a:t>
            </a:r>
            <a:pPr>
              <a:lnSpc>
                <a:spcPct val="110000"/>
              </a:lnSpc>
            </a:pPr>
            <a:r>
              <a:rPr lang="en-US" sz="1109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 en tiempo</a:t>
            </a:r>
            <a:pPr>
              <a:lnSpc>
                <a:spcPct val="110000"/>
              </a:lnSpc>
            </a:pPr>
            <a:r>
              <a:rPr lang="en-US" sz="110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análisis ejecutivo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50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381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Recomendaciones Ejecutivas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50" y="635000"/>
            <a:ext cx="374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Estrategias para Maximizar Rentabilidad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050925"/>
            <a:ext cx="5689600" cy="1831975"/>
          </a:xfrm>
          <a:custGeom>
            <a:avLst/>
            <a:gdLst/>
            <a:ahLst/>
            <a:cxnLst/>
            <a:rect l="l" t="t" r="r" b="b"/>
            <a:pathLst>
              <a:path w="5689600" h="1831975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736731"/>
                </a:lnTo>
                <a:cubicBezTo>
                  <a:pt x="5689600" y="1789333"/>
                  <a:pt x="5646958" y="1831975"/>
                  <a:pt x="5594356" y="1831975"/>
                </a:cubicBezTo>
                <a:lnTo>
                  <a:pt x="95244" y="1831975"/>
                </a:lnTo>
                <a:cubicBezTo>
                  <a:pt x="42642" y="1831975"/>
                  <a:pt x="0" y="1789333"/>
                  <a:pt x="0" y="173673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124459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466725" y="1244598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1244598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como KPI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7600" y="1562098"/>
            <a:ext cx="4762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Utilizar dashboards de rentabilidad como KPI central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seguimiento comercial y financiero, reemplazando métricas de ventas brutas por indicadores de margen real.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20775" y="2073273"/>
            <a:ext cx="4697413" cy="609600"/>
          </a:xfrm>
          <a:custGeom>
            <a:avLst/>
            <a:gdLst/>
            <a:ahLst/>
            <a:cxnLst/>
            <a:rect l="l" t="t" r="r" b="b"/>
            <a:pathLst>
              <a:path w="4697413" h="609600">
                <a:moveTo>
                  <a:pt x="63502" y="0"/>
                </a:moveTo>
                <a:lnTo>
                  <a:pt x="4633910" y="0"/>
                </a:lnTo>
                <a:cubicBezTo>
                  <a:pt x="4668982" y="0"/>
                  <a:pt x="4697412" y="28431"/>
                  <a:pt x="4697412" y="63502"/>
                </a:cubicBezTo>
                <a:lnTo>
                  <a:pt x="4697413" y="546098"/>
                </a:lnTo>
                <a:cubicBezTo>
                  <a:pt x="4697412" y="581169"/>
                  <a:pt x="4668982" y="609600"/>
                  <a:pt x="4633910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" y="2171697"/>
            <a:ext cx="455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2362197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+15-20% en margen operacional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675" y="3044827"/>
            <a:ext cx="5689600" cy="1831975"/>
          </a:xfrm>
          <a:custGeom>
            <a:avLst/>
            <a:gdLst/>
            <a:ahLst/>
            <a:cxnLst/>
            <a:rect l="l" t="t" r="r" b="b"/>
            <a:pathLst>
              <a:path w="5689600" h="1831975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736731"/>
                </a:lnTo>
                <a:cubicBezTo>
                  <a:pt x="5689600" y="1789333"/>
                  <a:pt x="5646958" y="1831975"/>
                  <a:pt x="5594356" y="1831975"/>
                </a:cubicBezTo>
                <a:lnTo>
                  <a:pt x="95244" y="1831975"/>
                </a:lnTo>
                <a:cubicBezTo>
                  <a:pt x="42642" y="1831975"/>
                  <a:pt x="0" y="1789333"/>
                  <a:pt x="0" y="173673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350" y="3238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466725" y="3238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" y="3238500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Simulación de Escenarios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" y="3556000"/>
            <a:ext cx="4762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Simular escenarios futuros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lanzar promociones o ajustar precios, utilizando el modelo predictivo para evaluar impacto en ventas y márgenes.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20775" y="4067175"/>
            <a:ext cx="4697413" cy="609600"/>
          </a:xfrm>
          <a:custGeom>
            <a:avLst/>
            <a:gdLst/>
            <a:ahLst/>
            <a:cxnLst/>
            <a:rect l="l" t="t" r="r" b="b"/>
            <a:pathLst>
              <a:path w="4697413" h="609600">
                <a:moveTo>
                  <a:pt x="63502" y="0"/>
                </a:moveTo>
                <a:lnTo>
                  <a:pt x="4633910" y="0"/>
                </a:lnTo>
                <a:cubicBezTo>
                  <a:pt x="4668982" y="0"/>
                  <a:pt x="4697412" y="28431"/>
                  <a:pt x="4697412" y="63502"/>
                </a:cubicBezTo>
                <a:lnTo>
                  <a:pt x="4697413" y="546098"/>
                </a:lnTo>
                <a:cubicBezTo>
                  <a:pt x="4697412" y="581169"/>
                  <a:pt x="4668982" y="609600"/>
                  <a:pt x="4633910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9200" y="4165598"/>
            <a:ext cx="455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356098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-30% en riesgo de decisiones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675" y="5038720"/>
            <a:ext cx="5689600" cy="1831975"/>
          </a:xfrm>
          <a:custGeom>
            <a:avLst/>
            <a:gdLst/>
            <a:ahLst/>
            <a:cxnLst/>
            <a:rect l="l" t="t" r="r" b="b"/>
            <a:pathLst>
              <a:path w="5689600" h="1831975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736731"/>
                </a:lnTo>
                <a:cubicBezTo>
                  <a:pt x="5689600" y="1789333"/>
                  <a:pt x="5646958" y="1831975"/>
                  <a:pt x="5594356" y="1831975"/>
                </a:cubicBezTo>
                <a:lnTo>
                  <a:pt x="95244" y="1831975"/>
                </a:lnTo>
                <a:cubicBezTo>
                  <a:pt x="42642" y="1831975"/>
                  <a:pt x="0" y="1789333"/>
                  <a:pt x="0" y="173673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350" y="523240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466725" y="5232402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7600" y="5232402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Priorización por Margen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7600" y="5549902"/>
            <a:ext cx="4762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Priorizar productos y canales según margen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 solo ventas brutas, redirigiendo inversión hacia productos de mayor contribución.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20775" y="6061077"/>
            <a:ext cx="4697413" cy="609600"/>
          </a:xfrm>
          <a:custGeom>
            <a:avLst/>
            <a:gdLst/>
            <a:ahLst/>
            <a:cxnLst/>
            <a:rect l="l" t="t" r="r" b="b"/>
            <a:pathLst>
              <a:path w="4697413" h="609600">
                <a:moveTo>
                  <a:pt x="63502" y="0"/>
                </a:moveTo>
                <a:lnTo>
                  <a:pt x="4633910" y="0"/>
                </a:lnTo>
                <a:cubicBezTo>
                  <a:pt x="4668982" y="0"/>
                  <a:pt x="4697412" y="28431"/>
                  <a:pt x="4697412" y="63502"/>
                </a:cubicBezTo>
                <a:lnTo>
                  <a:pt x="4697413" y="546098"/>
                </a:lnTo>
                <a:cubicBezTo>
                  <a:pt x="4697412" y="581169"/>
                  <a:pt x="4668982" y="609600"/>
                  <a:pt x="4633910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9200" y="6159500"/>
            <a:ext cx="455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9200" y="6350000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+25% en ROI comercial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8550" y="1050925"/>
            <a:ext cx="5689600" cy="1831975"/>
          </a:xfrm>
          <a:custGeom>
            <a:avLst/>
            <a:gdLst/>
            <a:ahLst/>
            <a:cxnLst/>
            <a:rect l="l" t="t" r="r" b="b"/>
            <a:pathLst>
              <a:path w="5689600" h="1831975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1736731"/>
                </a:lnTo>
                <a:cubicBezTo>
                  <a:pt x="5689600" y="1789333"/>
                  <a:pt x="5646958" y="1831975"/>
                  <a:pt x="5594356" y="1831975"/>
                </a:cubicBezTo>
                <a:lnTo>
                  <a:pt x="95244" y="1831975"/>
                </a:lnTo>
                <a:cubicBezTo>
                  <a:pt x="42642" y="1831975"/>
                  <a:pt x="0" y="1789333"/>
                  <a:pt x="0" y="1736731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2225" y="124459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6324600" y="1244598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75475" y="1244598"/>
            <a:ext cx="477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en Planificación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5475" y="1562098"/>
            <a:ext cx="4762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Integrar modelo predictivo en procesos de planificación mensual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anticipar impacto económico de decisiones comerciales y ajustar estrategias proactivamente.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78650" y="2073273"/>
            <a:ext cx="4697413" cy="609600"/>
          </a:xfrm>
          <a:custGeom>
            <a:avLst/>
            <a:gdLst/>
            <a:ahLst/>
            <a:cxnLst/>
            <a:rect l="l" t="t" r="r" b="b"/>
            <a:pathLst>
              <a:path w="4697413" h="609600">
                <a:moveTo>
                  <a:pt x="63502" y="0"/>
                </a:moveTo>
                <a:lnTo>
                  <a:pt x="4633910" y="0"/>
                </a:lnTo>
                <a:cubicBezTo>
                  <a:pt x="4668982" y="0"/>
                  <a:pt x="4697412" y="28431"/>
                  <a:pt x="4697412" y="63502"/>
                </a:cubicBezTo>
                <a:lnTo>
                  <a:pt x="4697413" y="546098"/>
                </a:lnTo>
                <a:cubicBezTo>
                  <a:pt x="4697412" y="581169"/>
                  <a:pt x="4668982" y="609600"/>
                  <a:pt x="4633910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075" y="2171697"/>
            <a:ext cx="455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77075" y="2362197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 en precisión forecast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8550" y="3044827"/>
            <a:ext cx="5689600" cy="1736725"/>
          </a:xfrm>
          <a:custGeom>
            <a:avLst/>
            <a:gdLst/>
            <a:ahLst/>
            <a:cxnLst/>
            <a:rect l="l" t="t" r="r" b="b"/>
            <a:pathLst>
              <a:path w="5689600" h="1736725">
                <a:moveTo>
                  <a:pt x="95242" y="0"/>
                </a:moveTo>
                <a:lnTo>
                  <a:pt x="5594358" y="0"/>
                </a:lnTo>
                <a:cubicBezTo>
                  <a:pt x="5646923" y="0"/>
                  <a:pt x="5689600" y="42677"/>
                  <a:pt x="5689600" y="95242"/>
                </a:cubicBezTo>
                <a:lnTo>
                  <a:pt x="5689600" y="1641483"/>
                </a:lnTo>
                <a:cubicBezTo>
                  <a:pt x="5689600" y="1694084"/>
                  <a:pt x="5646959" y="1736725"/>
                  <a:pt x="5594358" y="1736725"/>
                </a:cubicBezTo>
                <a:lnTo>
                  <a:pt x="95242" y="1736725"/>
                </a:lnTo>
                <a:cubicBezTo>
                  <a:pt x="42677" y="1736725"/>
                  <a:pt x="0" y="1694048"/>
                  <a:pt x="0" y="1641483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1016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2225" y="3238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6324600" y="3238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75475" y="3238500"/>
            <a:ext cx="438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Mejoras Futuras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75475" y="3556000"/>
            <a:ext cx="4365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Considerar implementaciones avanzadas para escalabilidad y mayor precisión: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99287" y="39211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Text 42"/>
          <p:cNvSpPr/>
          <p:nvPr/>
        </p:nvSpPr>
        <p:spPr>
          <a:xfrm>
            <a:off x="7197725" y="3889375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values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interpretabilidad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99287" y="41751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6" name="Text 44"/>
          <p:cNvSpPr/>
          <p:nvPr/>
        </p:nvSpPr>
        <p:spPr>
          <a:xfrm>
            <a:off x="7197725" y="4143375"/>
            <a:ext cx="237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Optimización de márgenes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algoritmos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99287" y="44291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8" name="Text 46"/>
          <p:cNvSpPr/>
          <p:nvPr/>
        </p:nvSpPr>
        <p:spPr>
          <a:xfrm>
            <a:off x="7197725" y="4397375"/>
            <a:ext cx="230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cloud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acceso real-time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8550" y="4946648"/>
            <a:ext cx="5689600" cy="1276350"/>
          </a:xfrm>
          <a:custGeom>
            <a:avLst/>
            <a:gdLst/>
            <a:ahLst/>
            <a:cxnLst/>
            <a:rect l="l" t="t" r="r" b="b"/>
            <a:pathLst>
              <a:path w="5689600" h="1276350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1181096"/>
                </a:lnTo>
                <a:cubicBezTo>
                  <a:pt x="5689600" y="1233703"/>
                  <a:pt x="5646953" y="1276350"/>
                  <a:pt x="5594346" y="1276350"/>
                </a:cubicBezTo>
                <a:lnTo>
                  <a:pt x="95254" y="1276350"/>
                </a:lnTo>
                <a:cubicBezTo>
                  <a:pt x="42647" y="1276350"/>
                  <a:pt x="0" y="1233703"/>
                  <a:pt x="0" y="118109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4A5568">
              <a:alpha val="25098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6037" y="51561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1" name="Text 49"/>
          <p:cNvSpPr/>
          <p:nvPr/>
        </p:nvSpPr>
        <p:spPr>
          <a:xfrm>
            <a:off x="6705600" y="5140322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Hoja de Ruta de Implementación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55346" y="548957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3" name="Text 51"/>
          <p:cNvSpPr/>
          <p:nvPr/>
        </p:nvSpPr>
        <p:spPr>
          <a:xfrm>
            <a:off x="7019627" y="5489572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44444" y="5870572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 operativos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866089" y="548957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6" name="Text 54"/>
          <p:cNvSpPr/>
          <p:nvPr/>
        </p:nvSpPr>
        <p:spPr>
          <a:xfrm>
            <a:off x="8830370" y="5489572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55186" y="5870572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 mensual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676930" y="548957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9" name="Text 57"/>
          <p:cNvSpPr/>
          <p:nvPr/>
        </p:nvSpPr>
        <p:spPr>
          <a:xfrm>
            <a:off x="10641211" y="5489572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66027" y="5870572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Mejoras avanzadas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etondata.com/9f4b1223590e3c2bd8941f3531ef3ead65654fba.webp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976" r="5976" t="0" b="0"/>
          <a:stretch/>
        </p:blipFill>
        <p:spPr>
          <a:xfrm>
            <a:off x="0" y="0"/>
            <a:ext cx="12192000" cy="799180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991807"/>
          </a:xfrm>
          <a:custGeom>
            <a:avLst/>
            <a:gdLst/>
            <a:ahLst/>
            <a:cxnLst/>
            <a:rect l="l" t="t" r="r" b="b"/>
            <a:pathLst>
              <a:path w="12192000" h="7991807">
                <a:moveTo>
                  <a:pt x="0" y="0"/>
                </a:moveTo>
                <a:lnTo>
                  <a:pt x="12192000" y="0"/>
                </a:lnTo>
                <a:lnTo>
                  <a:pt x="12192000" y="7991807"/>
                </a:lnTo>
                <a:lnTo>
                  <a:pt x="0" y="799180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71180" y="84062"/>
            <a:ext cx="1045962" cy="1045962"/>
          </a:xfrm>
          <a:custGeom>
            <a:avLst/>
            <a:gdLst/>
            <a:ahLst/>
            <a:cxnLst/>
            <a:rect l="l" t="t" r="r" b="b"/>
            <a:pathLst>
              <a:path w="1045962" h="1045962">
                <a:moveTo>
                  <a:pt x="522981" y="0"/>
                </a:moveTo>
                <a:lnTo>
                  <a:pt x="522981" y="0"/>
                </a:lnTo>
                <a:cubicBezTo>
                  <a:pt x="811622" y="0"/>
                  <a:pt x="1045962" y="234340"/>
                  <a:pt x="1045962" y="522981"/>
                </a:cubicBezTo>
                <a:lnTo>
                  <a:pt x="1045962" y="522981"/>
                </a:lnTo>
                <a:cubicBezTo>
                  <a:pt x="1045962" y="811622"/>
                  <a:pt x="811622" y="1045962"/>
                  <a:pt x="522981" y="1045962"/>
                </a:cubicBezTo>
                <a:lnTo>
                  <a:pt x="522981" y="1045962"/>
                </a:lnTo>
                <a:cubicBezTo>
                  <a:pt x="234340" y="1045962"/>
                  <a:pt x="0" y="811622"/>
                  <a:pt x="0" y="522981"/>
                </a:cubicBezTo>
                <a:lnTo>
                  <a:pt x="0" y="522981"/>
                </a:lnTo>
                <a:cubicBezTo>
                  <a:pt x="0" y="234340"/>
                  <a:pt x="234340" y="0"/>
                  <a:pt x="522981" y="0"/>
                </a:cubicBezTo>
                <a:close/>
              </a:path>
            </a:pathLst>
          </a:custGeom>
          <a:solidFill>
            <a:srgbClr val="4FD1C5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49014" y="361896"/>
            <a:ext cx="490295" cy="490295"/>
          </a:xfrm>
          <a:custGeom>
            <a:avLst/>
            <a:gdLst/>
            <a:ahLst/>
            <a:cxnLst/>
            <a:rect l="l" t="t" r="r" b="b"/>
            <a:pathLst>
              <a:path w="490295" h="490295">
                <a:moveTo>
                  <a:pt x="63106" y="218813"/>
                </a:moveTo>
                <a:cubicBezTo>
                  <a:pt x="75842" y="129756"/>
                  <a:pt x="152547" y="61287"/>
                  <a:pt x="245147" y="61287"/>
                </a:cubicBezTo>
                <a:cubicBezTo>
                  <a:pt x="295901" y="61287"/>
                  <a:pt x="341866" y="81875"/>
                  <a:pt x="375191" y="115104"/>
                </a:cubicBezTo>
                <a:cubicBezTo>
                  <a:pt x="375382" y="115296"/>
                  <a:pt x="375574" y="115487"/>
                  <a:pt x="375765" y="115679"/>
                </a:cubicBezTo>
                <a:lnTo>
                  <a:pt x="383043" y="122574"/>
                </a:lnTo>
                <a:lnTo>
                  <a:pt x="337174" y="122574"/>
                </a:lnTo>
                <a:cubicBezTo>
                  <a:pt x="320224" y="122574"/>
                  <a:pt x="306530" y="136268"/>
                  <a:pt x="306530" y="153217"/>
                </a:cubicBezTo>
                <a:cubicBezTo>
                  <a:pt x="306530" y="170167"/>
                  <a:pt x="320224" y="183861"/>
                  <a:pt x="337174" y="183861"/>
                </a:cubicBezTo>
                <a:lnTo>
                  <a:pt x="459747" y="183861"/>
                </a:lnTo>
                <a:cubicBezTo>
                  <a:pt x="476697" y="183861"/>
                  <a:pt x="490391" y="170167"/>
                  <a:pt x="490391" y="153217"/>
                </a:cubicBezTo>
                <a:lnTo>
                  <a:pt x="490391" y="30643"/>
                </a:lnTo>
                <a:cubicBezTo>
                  <a:pt x="490391" y="13694"/>
                  <a:pt x="476697" y="0"/>
                  <a:pt x="459747" y="0"/>
                </a:cubicBezTo>
                <a:cubicBezTo>
                  <a:pt x="442798" y="0"/>
                  <a:pt x="429104" y="13694"/>
                  <a:pt x="429104" y="30643"/>
                </a:cubicBezTo>
                <a:lnTo>
                  <a:pt x="429104" y="81780"/>
                </a:lnTo>
                <a:lnTo>
                  <a:pt x="418283" y="71533"/>
                </a:lnTo>
                <a:cubicBezTo>
                  <a:pt x="373946" y="27388"/>
                  <a:pt x="312659" y="0"/>
                  <a:pt x="245147" y="0"/>
                </a:cubicBezTo>
                <a:cubicBezTo>
                  <a:pt x="121616" y="0"/>
                  <a:pt x="19439" y="91356"/>
                  <a:pt x="2490" y="210195"/>
                </a:cubicBezTo>
                <a:cubicBezTo>
                  <a:pt x="96" y="226953"/>
                  <a:pt x="11683" y="242466"/>
                  <a:pt x="28441" y="244860"/>
                </a:cubicBezTo>
                <a:cubicBezTo>
                  <a:pt x="45199" y="247254"/>
                  <a:pt x="60712" y="235571"/>
                  <a:pt x="63106" y="218909"/>
                </a:cubicBezTo>
                <a:close/>
                <a:moveTo>
                  <a:pt x="487805" y="280100"/>
                </a:moveTo>
                <a:cubicBezTo>
                  <a:pt x="490199" y="263342"/>
                  <a:pt x="478516" y="247829"/>
                  <a:pt x="461854" y="245435"/>
                </a:cubicBezTo>
                <a:cubicBezTo>
                  <a:pt x="445192" y="243041"/>
                  <a:pt x="429583" y="254724"/>
                  <a:pt x="427189" y="271386"/>
                </a:cubicBezTo>
                <a:cubicBezTo>
                  <a:pt x="414452" y="360443"/>
                  <a:pt x="337748" y="428912"/>
                  <a:pt x="245147" y="428912"/>
                </a:cubicBezTo>
                <a:cubicBezTo>
                  <a:pt x="194394" y="428912"/>
                  <a:pt x="148429" y="408324"/>
                  <a:pt x="115104" y="375095"/>
                </a:cubicBezTo>
                <a:cubicBezTo>
                  <a:pt x="114913" y="374903"/>
                  <a:pt x="114721" y="374712"/>
                  <a:pt x="114530" y="374520"/>
                </a:cubicBezTo>
                <a:lnTo>
                  <a:pt x="107252" y="367625"/>
                </a:lnTo>
                <a:lnTo>
                  <a:pt x="153121" y="367625"/>
                </a:lnTo>
                <a:cubicBezTo>
                  <a:pt x="170071" y="367625"/>
                  <a:pt x="183765" y="353932"/>
                  <a:pt x="183765" y="336982"/>
                </a:cubicBezTo>
                <a:cubicBezTo>
                  <a:pt x="183765" y="320032"/>
                  <a:pt x="170071" y="306339"/>
                  <a:pt x="153121" y="306339"/>
                </a:cubicBezTo>
                <a:lnTo>
                  <a:pt x="30643" y="306434"/>
                </a:lnTo>
                <a:cubicBezTo>
                  <a:pt x="22504" y="306434"/>
                  <a:pt x="14651" y="309690"/>
                  <a:pt x="8906" y="315532"/>
                </a:cubicBezTo>
                <a:cubicBezTo>
                  <a:pt x="3160" y="321373"/>
                  <a:pt x="-96" y="329130"/>
                  <a:pt x="0" y="337365"/>
                </a:cubicBezTo>
                <a:lnTo>
                  <a:pt x="958" y="458981"/>
                </a:lnTo>
                <a:cubicBezTo>
                  <a:pt x="1053" y="475931"/>
                  <a:pt x="14939" y="489529"/>
                  <a:pt x="31888" y="489337"/>
                </a:cubicBezTo>
                <a:cubicBezTo>
                  <a:pt x="48838" y="489146"/>
                  <a:pt x="62436" y="475356"/>
                  <a:pt x="62244" y="458407"/>
                </a:cubicBezTo>
                <a:lnTo>
                  <a:pt x="61861" y="409090"/>
                </a:lnTo>
                <a:lnTo>
                  <a:pt x="72108" y="418762"/>
                </a:lnTo>
                <a:cubicBezTo>
                  <a:pt x="116445" y="462907"/>
                  <a:pt x="177636" y="490295"/>
                  <a:pt x="245147" y="490295"/>
                </a:cubicBezTo>
                <a:cubicBezTo>
                  <a:pt x="368679" y="490295"/>
                  <a:pt x="470855" y="398939"/>
                  <a:pt x="487805" y="28010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" name="Text 3"/>
          <p:cNvSpPr/>
          <p:nvPr/>
        </p:nvSpPr>
        <p:spPr>
          <a:xfrm>
            <a:off x="3098255" y="1685692"/>
            <a:ext cx="5991812" cy="791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633" b="1" dirty="0">
                <a:solidFill>
                  <a:srgbClr val="F7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24094" y="2421134"/>
            <a:ext cx="2940033" cy="791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633" b="1" dirty="0">
                <a:solidFill>
                  <a:srgbClr val="4FD1C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 Acción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09690" y="3450754"/>
            <a:ext cx="1568944" cy="0"/>
          </a:xfrm>
          <a:custGeom>
            <a:avLst/>
            <a:gdLst/>
            <a:ahLst/>
            <a:cxnLst/>
            <a:rect l="l" t="t" r="r" b="b"/>
            <a:pathLst>
              <a:path w="1568944" h="0">
                <a:moveTo>
                  <a:pt x="0" y="0"/>
                </a:moveTo>
                <a:lnTo>
                  <a:pt x="1568944" y="0"/>
                </a:lnTo>
                <a:lnTo>
                  <a:pt x="1568944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Text 6"/>
          <p:cNvSpPr/>
          <p:nvPr/>
        </p:nvSpPr>
        <p:spPr>
          <a:xfrm>
            <a:off x="4368323" y="3777617"/>
            <a:ext cx="3448408" cy="956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31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Decisión basada en datos,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316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rentabilidad maximizada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83138" y="5129197"/>
            <a:ext cx="1918687" cy="1510108"/>
          </a:xfrm>
          <a:custGeom>
            <a:avLst/>
            <a:gdLst/>
            <a:ahLst/>
            <a:cxnLst/>
            <a:rect l="l" t="t" r="r" b="b"/>
            <a:pathLst>
              <a:path w="1918687" h="1510108">
                <a:moveTo>
                  <a:pt x="130745" y="0"/>
                </a:moveTo>
                <a:lnTo>
                  <a:pt x="1787942" y="0"/>
                </a:lnTo>
                <a:cubicBezTo>
                  <a:pt x="1860151" y="0"/>
                  <a:pt x="1918687" y="58537"/>
                  <a:pt x="1918687" y="130745"/>
                </a:cubicBezTo>
                <a:lnTo>
                  <a:pt x="1918687" y="1379363"/>
                </a:lnTo>
                <a:cubicBezTo>
                  <a:pt x="1918687" y="1451572"/>
                  <a:pt x="1860151" y="1510108"/>
                  <a:pt x="1787942" y="1510108"/>
                </a:cubicBezTo>
                <a:lnTo>
                  <a:pt x="130745" y="1510108"/>
                </a:lnTo>
                <a:cubicBezTo>
                  <a:pt x="58585" y="1510108"/>
                  <a:pt x="0" y="1451523"/>
                  <a:pt x="0" y="1379363"/>
                </a:cubicBezTo>
                <a:lnTo>
                  <a:pt x="0" y="130745"/>
                </a:lnTo>
                <a:cubicBezTo>
                  <a:pt x="0" y="58537"/>
                  <a:pt x="58537" y="0"/>
                  <a:pt x="13074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49839" y="5393954"/>
            <a:ext cx="1585287" cy="39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88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11126" y="5884249"/>
            <a:ext cx="1462713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del Modelo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15211" y="6178426"/>
            <a:ext cx="1454542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 en validación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34920" y="5129197"/>
            <a:ext cx="1918687" cy="1510108"/>
          </a:xfrm>
          <a:custGeom>
            <a:avLst/>
            <a:gdLst/>
            <a:ahLst/>
            <a:cxnLst/>
            <a:rect l="l" t="t" r="r" b="b"/>
            <a:pathLst>
              <a:path w="1918687" h="1510108">
                <a:moveTo>
                  <a:pt x="130745" y="0"/>
                </a:moveTo>
                <a:lnTo>
                  <a:pt x="1787942" y="0"/>
                </a:lnTo>
                <a:cubicBezTo>
                  <a:pt x="1860151" y="0"/>
                  <a:pt x="1918687" y="58537"/>
                  <a:pt x="1918687" y="130745"/>
                </a:cubicBezTo>
                <a:lnTo>
                  <a:pt x="1918687" y="1379363"/>
                </a:lnTo>
                <a:cubicBezTo>
                  <a:pt x="1918687" y="1451572"/>
                  <a:pt x="1860151" y="1510108"/>
                  <a:pt x="1787942" y="1510108"/>
                </a:cubicBezTo>
                <a:lnTo>
                  <a:pt x="130745" y="1510108"/>
                </a:lnTo>
                <a:cubicBezTo>
                  <a:pt x="58585" y="1510108"/>
                  <a:pt x="0" y="1451523"/>
                  <a:pt x="0" y="1379363"/>
                </a:cubicBezTo>
                <a:lnTo>
                  <a:pt x="0" y="130745"/>
                </a:lnTo>
                <a:cubicBezTo>
                  <a:pt x="0" y="58537"/>
                  <a:pt x="58537" y="0"/>
                  <a:pt x="13074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1620" y="5393954"/>
            <a:ext cx="1585287" cy="39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88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62907" y="5884249"/>
            <a:ext cx="1462713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Margen Promedio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66993" y="6178426"/>
            <a:ext cx="1454542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Rentabilidad identificada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86701" y="5129197"/>
            <a:ext cx="1918687" cy="1510108"/>
          </a:xfrm>
          <a:custGeom>
            <a:avLst/>
            <a:gdLst/>
            <a:ahLst/>
            <a:cxnLst/>
            <a:rect l="l" t="t" r="r" b="b"/>
            <a:pathLst>
              <a:path w="1918687" h="1510108">
                <a:moveTo>
                  <a:pt x="130745" y="0"/>
                </a:moveTo>
                <a:lnTo>
                  <a:pt x="1787942" y="0"/>
                </a:lnTo>
                <a:cubicBezTo>
                  <a:pt x="1860151" y="0"/>
                  <a:pt x="1918687" y="58537"/>
                  <a:pt x="1918687" y="130745"/>
                </a:cubicBezTo>
                <a:lnTo>
                  <a:pt x="1918687" y="1379363"/>
                </a:lnTo>
                <a:cubicBezTo>
                  <a:pt x="1918687" y="1451572"/>
                  <a:pt x="1860151" y="1510108"/>
                  <a:pt x="1787942" y="1510108"/>
                </a:cubicBezTo>
                <a:lnTo>
                  <a:pt x="130745" y="1510108"/>
                </a:lnTo>
                <a:cubicBezTo>
                  <a:pt x="58585" y="1510108"/>
                  <a:pt x="0" y="1451523"/>
                  <a:pt x="0" y="1379363"/>
                </a:cubicBezTo>
                <a:lnTo>
                  <a:pt x="0" y="130745"/>
                </a:lnTo>
                <a:cubicBezTo>
                  <a:pt x="0" y="58537"/>
                  <a:pt x="58537" y="0"/>
                  <a:pt x="13074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FD1C5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53402" y="5393954"/>
            <a:ext cx="1585287" cy="39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88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14689" y="5884249"/>
            <a:ext cx="1462713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Etapas Completadas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18775" y="6178426"/>
            <a:ext cx="1454542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end-to-end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919502" y="7034806"/>
            <a:ext cx="6349319" cy="48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completa de datos históricos en </a:t>
            </a:r>
            <a:pPr algn="ctr">
              <a:lnSpc>
                <a:spcPct val="140000"/>
              </a:lnSpc>
            </a:pPr>
            <a:r>
              <a:rPr lang="en-US" sz="1158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accionables</a:t>
            </a:r>
            <a:pPr algn="ctr">
              <a:lnSpc>
                <a:spcPct val="140000"/>
              </a:lnSpc>
            </a:pPr>
            <a:r>
              <a:rPr lang="en-US" sz="115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la toma de decisiones ejecutivas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19602" y="7741648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1"/>
          <p:cNvSpPr/>
          <p:nvPr/>
        </p:nvSpPr>
        <p:spPr>
          <a:xfrm>
            <a:off x="3699377" y="7708962"/>
            <a:ext cx="1233909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Modelado Predictivo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78536" y="7741648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6" name="Text 23"/>
          <p:cNvSpPr/>
          <p:nvPr/>
        </p:nvSpPr>
        <p:spPr>
          <a:xfrm>
            <a:off x="5358311" y="7708962"/>
            <a:ext cx="1495399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Simulación de Escenarios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098959" y="7741648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5"/>
          <p:cNvSpPr/>
          <p:nvPr/>
        </p:nvSpPr>
        <p:spPr>
          <a:xfrm>
            <a:off x="7278734" y="7708962"/>
            <a:ext cx="1438198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 Interactivos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Modelado de Ventas y Rentabilidad</dc:title>
  <dc:subject>Análisis y Modelado de Ventas y Rentabilidad</dc:subject>
  <dc:creator>Kimi</dc:creator>
  <cp:lastModifiedBy>Kimi</cp:lastModifiedBy>
  <cp:revision>1</cp:revision>
  <dcterms:created xsi:type="dcterms:W3CDTF">2026-01-13T03:30:34Z</dcterms:created>
  <dcterms:modified xsi:type="dcterms:W3CDTF">2026-01-13T03:30:34Z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{"Label":"Análisis y Modelado de Ventas y Rentabilidad","ContentProducer":"001191110108MACG2KBH8F10000","ProduceID":"19bb555c-dbf2-8de5-8000-00009de5da63","ReservedCode1":"","ContentPropagator":"001191110108MACG2KBH8F20000","PropagateID":"19bb555c-dbf2-8de5-8000-00009de5da63","ReservedCode2":""}</vt:lpwstr>
  </property>
</Properties>
</file>